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6858000" cx="12192000"/>
  <p:notesSz cx="6858000" cy="9144000"/>
  <p:embeddedFontLst>
    <p:embeddedFont>
      <p:font typeface="Helvetica Neue"/>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3" name="Mark Landry"/>
  <p:cmAuthor clrIdx="1" id="1" initials="" lastIdx="5" name="Diana Wijayanti"/>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HelveticaNeue-bold.fntdata"/><Relationship Id="rId27" Type="http://schemas.openxmlformats.org/officeDocument/2006/relationships/font" Target="fonts/HelveticaNeue-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HelveticaNeue-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HelveticaNeue-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10-09T08:10:10.462">
    <p:pos x="444" y="270"/>
    <p:text>Shall we add a measurable outcome: a short pre/post assessment and a certificate of completion co-issued by MoPH, Google, and WHO. Most civil-service participants will value this, and it gives a baseline for later cohorts.</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 dt="2026-10-07T15:30:12.840">
    <p:pos x="3300" y="1266"/>
    <p:text>I'm not clear on this part</p:text>
  </p:cm>
  <p:cm authorId="1" idx="2" dt="2026-10-07T15:32:30.477">
    <p:pos x="3300" y="3030"/>
    <p:text>We need to allocate one hour on day 1 to ensure that the participants is able to set up the prerequisites or access the environment used for the second day, and resolve any issues that come up so the second day can run smoothly
Which leads to the question, do we have an environment to test all of these?</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3" dt="2026-10-07T15:35:43.192">
    <p:pos x="3300" y="1854"/>
    <p:text>Submit Patient and Immunization resources based on the registry mapping. Fix any issues that arise</p:text>
  </p:cm>
  <p:cm authorId="1" idx="4" dt="2026-10-07T15:46:52.561">
    <p:pos x="3300" y="2442"/>
    <p:text>I'm assuming this means trying out GET and POST vaccination data from FHIR server?</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5" dt="2026-10-07T15:45:25.583">
    <p:pos x="3300" y="1854"/>
    <p:text>This can't be done in 45 mins on second day only without any materials given on the first day. Unless we can omit the trust part because those are not FHIR exclusive, and can be quite complex to illustrate</p:text>
  </p:cm>
  <p:cm authorId="0" idx="2" dt="2026-10-09T08:14:35.311">
    <p:pos x="3300" y="1954"/>
    <p:text>Also, if ICVP runs, perhaps we can show trust verification through GDHCN with Thailand's DHW wallet partners, not only a WHO-ITB pass/fail. Make the ICVP go/no-go call by a named date (about two weeks before), not on the day</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10-09T08:16:09.895">
    <p:pos x="396" y="558"/>
    <p:text>Perhaps add a step 7 "Hand over": mappings, test scripts and environment deposited--explanatory at least</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Prepared for partner discussion using the revised workshop deck and the WHO colleague planning transcript supplied by the user.</a:t>
            </a:r>
            <a:endParaRPr/>
          </a:p>
        </p:txBody>
      </p:sp>
      <p:sp>
        <p:nvSpPr>
          <p:cNvPr id="14" name="Google Shape;1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 name="Google Shape;3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Two-day endpoint: FHIR understanding, legacy-to-FHIR mapping, prepared open tooling and test evidence. Google Open Health Stack learning resources: https://developers.google.com/open-health-stack/learn . WHO-ITB is reserved for an optional ICVP certificate extension: https://github.com/WorldHealthOrganization/WHO-ITB .</a:t>
            </a:r>
            <a:endParaRPr/>
          </a:p>
        </p:txBody>
      </p:sp>
      <p:sp>
        <p:nvSpPr>
          <p:cNvPr id="31" name="Google Shape;31;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 name="Google Shape;51;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 core use case is domestic routine immunization. ICVP, digital yellow card and IPS remain extensions subject to readiness.</a:t>
            </a:r>
            <a:endParaRPr/>
          </a:p>
        </p:txBody>
      </p:sp>
      <p:sp>
        <p:nvSpPr>
          <p:cNvPr id="52" name="Google Shape;52;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 name="Google Shape;85;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 agenda keeps one technical cohort and alternates short briefings with hands-on work.</a:t>
            </a:r>
            <a:endParaRPr/>
          </a:p>
        </p:txBody>
      </p:sp>
      <p:sp>
        <p:nvSpPr>
          <p:cNvPr id="86" name="Google Shape;86;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Day 1 is provisionally 09:00–17:00. The detailed session times and learning evidence are on slides 7–8. OHS demonstrations are subject to a stable partner-confirmed build; the supplied Verifiable AI workshop | OHS SF.pptx showed FHIR Engine exercises and OHS Player work in progress.</a:t>
            </a:r>
            <a:endParaRPr/>
          </a:p>
        </p:txBody>
      </p:sp>
      <p:sp>
        <p:nvSpPr>
          <p:cNvPr id="136" name="Google Shape;136;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Day 2 is provisionally 09:00–17:00. The detailed practicum blocks are on slides 9–10. The workshop uses Projectathon-style methods with fictional data and prepared components. It is not a formal Connectathon.</a:t>
            </a:r>
            <a:endParaRPr/>
          </a:p>
        </p:txBody>
      </p:sp>
      <p:sp>
        <p:nvSpPr>
          <p:cNvPr id="172" name="Google Shape;172;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h7a73ccd1a307357_14_0:notes"/>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h7a73ccd1a307357_14_0:notes"/>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h7a73ccd1a307357_14_0:notes"/>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3" name="Google Shape;213;h7a73ccd1a307357_14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h7a73ccd1a307357_14_0:notes"/>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h7a73ccd1a307357_14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h7a73ccd1a307357_13_0:notes"/>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h7a73ccd1a307357_13_0:notes"/>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h7a73ccd1a307357_13_0:notes"/>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6" name="Google Shape;256;h7a73ccd1a307357_13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h7a73ccd1a307357_13_0:notes"/>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h7a73ccd1a307357_13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h7a73ccd1a307357_12_0:notes"/>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h7a73ccd1a307357_12_0:notes"/>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 name="Google Shape;298;h7a73ccd1a307357_12_0:notes"/>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9" name="Google Shape;299;h7a73ccd1a307357_12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h7a73ccd1a307357_12_0:notes"/>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h7a73ccd1a307357_12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h7a73ccd1a307357_11_0:notes"/>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h7a73ccd1a307357_11_0:notes"/>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h7a73ccd1a307357_11_0:notes"/>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2" name="Google Shape;342;h7a73ccd1a307357_11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 name="Google Shape;343;h7a73ccd1a307357_11_0:notes"/>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h7a73ccd1a307357_11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3" name="Google Shape;383;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Provisional Thailand time blocks, 09:00–17:00. The shared use case, fictional registry and one technical cohort come from the workshop planning material. The prior Open Digital Health Summit program (Current | Open Digital Health Summit conference program.xlsx, 'MOST CURRENT =&gt; v4 |3 day Sched', E10, F13, F16, E22) used FHIR foundations, profiling and non-FHIR-to-FHIR mapping, including façade versus native approaches. Google Open Health Stack learning resources: https://developers.google.com/open-health-stack/learn . SMART ICVP is a continuous build and is illustrative only: https://worldhealthorganization.github.io/smart-icvp/ . Exact profiles, FHIR version and terminology remain partner decisions.</a:t>
            </a:r>
            <a:endParaRPr/>
          </a:p>
        </p:txBody>
      </p:sp>
      <p:sp>
        <p:nvSpPr>
          <p:cNvPr id="384" name="Google Shape;384;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9" name="Google Shape;419;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 prior Open Digital Health Summit program (Current | Open Digital Health Summit conference program.xlsx, 'MOST CURRENT =&gt; v4 |3 day Sched', F13, F16, E20, E22) offered StructureMaps, an Android FHIR SDK and FHIR Engine demonstration, and separate mapping/tooling practice. This Thailand lab adapts that pattern to one prepared immunization journey, without requiring app development. OHS Foundation components are reference tooling within a broader open ecosystem, subject to readiness: https://ohs.foundation/ . Google Open Health Stack tutorials and codelabs: https://developers.google.com/open-health-stack/learn . The supplied Verifiable AI workshop | OHS SF.pptx showed FHIR Engine examples (patient finding, sync and CRUD) and a work-in-progress OHS Player. Partners must confirm a stable demo and fallback. Do not promise CQL-dependent functionality.</a:t>
            </a:r>
            <a:endParaRPr/>
          </a:p>
        </p:txBody>
      </p:sp>
      <p:sp>
        <p:nvSpPr>
          <p:cNvPr id="420" name="Google Shape;420;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5" name="Google Shape;45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This is a Projectathon-style interoperability practicum inspired by Connectathon methods, not a formal Connectathon. It uses fictional patients, pre-built components and a rehearsed endpoint; production systems are out of scope. OHS reference components and codelabs: https://ohs.foundation/ and https://developers.google.com/open-health-stack/learn . The shared patient journey and station design follow the supplied workshop planning material.</a:t>
            </a:r>
            <a:endParaRPr/>
          </a:p>
        </p:txBody>
      </p:sp>
      <p:sp>
        <p:nvSpPr>
          <p:cNvPr id="456" name="Google Shape;456;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1" name="Google Shape;49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 WHO-ITB repository documents a preconfigured testbed and ICVP certificate tests; it should not be described as a mature suite for routine domestic immunization: https://github.com/WorldHealthOrganization/WHO-ITB . The SMART ICVP continuous build is illustrative only and warns against implementation use: https://worldhealthorganization.github.io/smart-icvp/ . The WHO GDHCN concerns verification of provenance and authenticity and does not store individuals' health data: https://www.who.int/initiatives/global-digital-health-certification-network . The optional certificate/IPS path needs WHO confirmation of specs, tests and facilitators before inclusion.</a:t>
            </a:r>
            <a:endParaRPr/>
          </a:p>
        </p:txBody>
      </p:sp>
      <p:sp>
        <p:nvSpPr>
          <p:cNvPr id="492" name="Google Shape;492;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7" name="Google Shape;527;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Advance profiling sets scaffolding and facilitator ratios without splitting participants into fixed beginner and advanced tracks.</a:t>
            </a:r>
            <a:endParaRPr/>
          </a:p>
        </p:txBody>
      </p:sp>
      <p:sp>
        <p:nvSpPr>
          <p:cNvPr id="528" name="Google Shape;528;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5" name="Google Shape;565;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 environment uses prepared fictional data, pre-built components and mature tests. Participants do not need to connect production systems.</a:t>
            </a:r>
            <a:endParaRPr/>
          </a:p>
        </p:txBody>
      </p:sp>
      <p:sp>
        <p:nvSpPr>
          <p:cNvPr id="566" name="Google Shape;566;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9" name="Google Shape;609;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Use a domestic FHIR validator and agreed mature tests for the core workflow. Reserve WHO-ITB ICVP certificate tests for an optional extension: https://github.com/WorldHealthOrganization/WHO-ITB . SMART ICVP continuous build is illustrative and not a production implementation baseline: https://worldhealthorganization.github.io/smart-icvp/ . OHS reference tools: https://ohs.foundation/ and https://developers.google.com/open-health-stack . GDHCN overview: https://www.who.int/initiatives/global-digital-health-certification-network .</a:t>
            </a:r>
            <a:endParaRPr/>
          </a:p>
        </p:txBody>
      </p:sp>
      <p:sp>
        <p:nvSpPr>
          <p:cNvPr id="610" name="Google Shape;610;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5" name="Google Shape;645;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Partner responsibilities remain proposed until each organization confirms an owner, contribution and level of effort.</a:t>
            </a:r>
            <a:endParaRPr/>
          </a:p>
        </p:txBody>
      </p:sp>
      <p:sp>
        <p:nvSpPr>
          <p:cNvPr id="646" name="Google Shape;646;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6" name="Google Shape;676;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 preparation package should be complete and tested before travel. A full technical rehearsal is required.</a:t>
            </a:r>
            <a:endParaRPr/>
          </a:p>
        </p:txBody>
      </p:sp>
      <p:sp>
        <p:nvSpPr>
          <p:cNvPr id="677" name="Google Shape;677;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0" name="Google Shape;710;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 final item links optional GDHF clinics to a sustained regional interoperability capacity proposal for the Day 3 policy discussion.</a:t>
            </a:r>
            <a:endParaRPr/>
          </a:p>
        </p:txBody>
      </p:sp>
      <p:sp>
        <p:nvSpPr>
          <p:cNvPr id="711" name="Google Shape;711;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h27ca30956735863f_2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739" name="Google Shape;739;h27ca30956735863f_2_0: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0" name="Google Shape;740;h27ca30956735863f_2_0: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comments" Target="../comments/commen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comments" Target="../comments/commen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comments" Target="../comments/commen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comments" Target="../comments/commen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comments" Target="../comments/commen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304A"/>
        </a:solidFill>
      </p:bgPr>
    </p:bg>
    <p:spTree>
      <p:nvGrpSpPr>
        <p:cNvPr id="15" name="Shape 15"/>
        <p:cNvGrpSpPr/>
        <p:nvPr/>
      </p:nvGrpSpPr>
      <p:grpSpPr>
        <a:xfrm>
          <a:off x="0" y="0"/>
          <a:ext cx="0" cy="0"/>
          <a:chOff x="0" y="0"/>
          <a:chExt cx="0" cy="0"/>
        </a:xfrm>
      </p:grpSpPr>
      <p:sp>
        <p:nvSpPr>
          <p:cNvPr id="16" name="Google Shape;16;p3"/>
          <p:cNvSpPr/>
          <p:nvPr/>
        </p:nvSpPr>
        <p:spPr>
          <a:xfrm>
            <a:off x="0" y="0"/>
            <a:ext cx="12192000" cy="6858000"/>
          </a:xfrm>
          <a:prstGeom prst="rect">
            <a:avLst/>
          </a:prstGeom>
          <a:solidFill>
            <a:srgbClr val="1230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7" name="Google Shape;17;p3"/>
          <p:cNvSpPr/>
          <p:nvPr/>
        </p:nvSpPr>
        <p:spPr>
          <a:xfrm>
            <a:off x="0" y="0"/>
            <a:ext cx="171450" cy="6858000"/>
          </a:xfrm>
          <a:prstGeom prst="rect">
            <a:avLst/>
          </a:prstGeom>
          <a:solidFill>
            <a:srgbClr val="008C9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8" name="Google Shape;18;p3"/>
          <p:cNvSpPr/>
          <p:nvPr/>
        </p:nvSpPr>
        <p:spPr>
          <a:xfrm>
            <a:off x="8572500" y="0"/>
            <a:ext cx="3619500" cy="6858000"/>
          </a:xfrm>
          <a:prstGeom prst="rect">
            <a:avLst/>
          </a:prstGeom>
          <a:solidFill>
            <a:srgbClr val="173B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9" name="Google Shape;19;p3"/>
          <p:cNvSpPr/>
          <p:nvPr/>
        </p:nvSpPr>
        <p:spPr>
          <a:xfrm>
            <a:off x="9163050" y="933450"/>
            <a:ext cx="2000250" cy="2000250"/>
          </a:xfrm>
          <a:prstGeom prst="roundRect">
            <a:avLst>
              <a:gd fmla="val 50000" name="adj"/>
            </a:avLst>
          </a:prstGeom>
          <a:solidFill>
            <a:srgbClr val="008C9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20" name="Google Shape;20;p3"/>
          <p:cNvSpPr/>
          <p:nvPr/>
        </p:nvSpPr>
        <p:spPr>
          <a:xfrm>
            <a:off x="9696450" y="1466850"/>
            <a:ext cx="933450" cy="933450"/>
          </a:xfrm>
          <a:prstGeom prst="roundRect">
            <a:avLst>
              <a:gd fmla="val 50000" name="adj"/>
            </a:avLst>
          </a:prstGeom>
          <a:solidFill>
            <a:srgbClr val="E78A4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21" name="Google Shape;21;p3"/>
          <p:cNvSpPr/>
          <p:nvPr/>
        </p:nvSpPr>
        <p:spPr>
          <a:xfrm>
            <a:off x="666750" y="666750"/>
            <a:ext cx="657225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6C7C5"/>
              </a:buClr>
              <a:buSzPts val="1125"/>
              <a:buFont typeface="Helvetica Neue"/>
              <a:buNone/>
            </a:pPr>
            <a:r>
              <a:rPr b="1" lang="en-US" sz="1125">
                <a:solidFill>
                  <a:srgbClr val="66C7C5"/>
                </a:solidFill>
                <a:latin typeface="Helvetica Neue"/>
                <a:ea typeface="Helvetica Neue"/>
                <a:cs typeface="Helvetica Neue"/>
                <a:sym typeface="Helvetica Neue"/>
              </a:rPr>
              <a:t>THAILAND DIGITAL IMMUNIZATION WORKSHOP</a:t>
            </a:r>
            <a:endParaRPr/>
          </a:p>
        </p:txBody>
      </p:sp>
      <p:sp>
        <p:nvSpPr>
          <p:cNvPr id="22" name="Google Shape;22;p3"/>
          <p:cNvSpPr/>
          <p:nvPr/>
        </p:nvSpPr>
        <p:spPr>
          <a:xfrm>
            <a:off x="666750" y="1257300"/>
            <a:ext cx="7239000" cy="1619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3600"/>
              <a:buFont typeface="Helvetica Neue"/>
              <a:buNone/>
            </a:pPr>
            <a:r>
              <a:rPr b="1" lang="en-US" sz="3600">
                <a:solidFill>
                  <a:srgbClr val="FFFFFF"/>
                </a:solidFill>
                <a:latin typeface="Helvetica Neue"/>
                <a:ea typeface="Helvetica Neue"/>
                <a:cs typeface="Helvetica Neue"/>
                <a:sym typeface="Helvetica Neue"/>
              </a:rPr>
              <a:t>Technologist workstream</a:t>
            </a:r>
            <a:endParaRPr/>
          </a:p>
          <a:p>
            <a:pPr indent="0" lvl="0" marL="0" marR="0" rtl="0" algn="l">
              <a:spcBef>
                <a:spcPts val="0"/>
              </a:spcBef>
              <a:spcAft>
                <a:spcPts val="0"/>
              </a:spcAft>
              <a:buClr>
                <a:srgbClr val="FFFFFF"/>
              </a:buClr>
              <a:buSzPts val="3600"/>
              <a:buFont typeface="Helvetica Neue"/>
              <a:buNone/>
            </a:pPr>
            <a:r>
              <a:rPr b="1" lang="en-US" sz="3600">
                <a:solidFill>
                  <a:srgbClr val="FFFFFF"/>
                </a:solidFill>
                <a:latin typeface="Helvetica Neue"/>
                <a:ea typeface="Helvetica Neue"/>
                <a:cs typeface="Helvetica Neue"/>
                <a:sym typeface="Helvetica Neue"/>
              </a:rPr>
              <a:t>partner preparation</a:t>
            </a:r>
            <a:endParaRPr/>
          </a:p>
        </p:txBody>
      </p:sp>
      <p:sp>
        <p:nvSpPr>
          <p:cNvPr id="23" name="Google Shape;23;p3"/>
          <p:cNvSpPr/>
          <p:nvPr/>
        </p:nvSpPr>
        <p:spPr>
          <a:xfrm>
            <a:off x="685800" y="3219450"/>
            <a:ext cx="6667500" cy="60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DCE9EF"/>
              </a:buClr>
              <a:buSzPts val="1725"/>
              <a:buFont typeface="Helvetica Neue"/>
              <a:buNone/>
            </a:pPr>
            <a:r>
              <a:rPr b="0" lang="en-US" sz="1725">
                <a:solidFill>
                  <a:srgbClr val="DCE9EF"/>
                </a:solidFill>
                <a:latin typeface="Helvetica Neue"/>
                <a:ea typeface="Helvetica Neue"/>
                <a:cs typeface="Helvetica Neue"/>
                <a:sym typeface="Helvetica Neue"/>
              </a:rPr>
              <a:t>A two-day applied programme on FHIR, mapping and interoperability testing</a:t>
            </a:r>
            <a:endParaRPr/>
          </a:p>
        </p:txBody>
      </p:sp>
      <p:cxnSp>
        <p:nvCxnSpPr>
          <p:cNvPr id="24" name="Google Shape;24;p3"/>
          <p:cNvCxnSpPr/>
          <p:nvPr/>
        </p:nvCxnSpPr>
        <p:spPr>
          <a:xfrm>
            <a:off x="685800" y="4229100"/>
            <a:ext cx="6648450" cy="0"/>
          </a:xfrm>
          <a:prstGeom prst="straightConnector1">
            <a:avLst/>
          </a:prstGeom>
          <a:noFill/>
          <a:ln cap="flat" cmpd="sng" w="28575">
            <a:solidFill>
              <a:srgbClr val="66C7C5"/>
            </a:solidFill>
            <a:prstDash val="solid"/>
            <a:round/>
            <a:headEnd len="sm" w="sm" type="none"/>
            <a:tailEnd len="sm" w="sm" type="none"/>
          </a:ln>
        </p:spPr>
      </p:cxnSp>
      <p:sp>
        <p:nvSpPr>
          <p:cNvPr id="25" name="Google Shape;25;p3"/>
          <p:cNvSpPr/>
          <p:nvPr/>
        </p:nvSpPr>
        <p:spPr>
          <a:xfrm>
            <a:off x="685800" y="4495800"/>
            <a:ext cx="400050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350"/>
              <a:buFont typeface="Helvetica Neue"/>
              <a:buNone/>
            </a:pPr>
            <a:r>
              <a:rPr b="1" lang="en-US" sz="1350">
                <a:solidFill>
                  <a:srgbClr val="FFFFFF"/>
                </a:solidFill>
                <a:latin typeface="Helvetica Neue"/>
                <a:ea typeface="Helvetica Neue"/>
                <a:cs typeface="Helvetica Neue"/>
                <a:sym typeface="Helvetica Neue"/>
              </a:rPr>
              <a:t>Discussion deck for Google, Open Health Stack and WHO technical partners</a:t>
            </a:r>
            <a:endParaRPr/>
          </a:p>
        </p:txBody>
      </p:sp>
      <p:sp>
        <p:nvSpPr>
          <p:cNvPr id="26" name="Google Shape;26;p3"/>
          <p:cNvSpPr/>
          <p:nvPr/>
        </p:nvSpPr>
        <p:spPr>
          <a:xfrm>
            <a:off x="685800" y="4953000"/>
            <a:ext cx="7048500" cy="476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9DCE6"/>
              </a:buClr>
              <a:buSzPts val="1275"/>
              <a:buFont typeface="Helvetica Neue"/>
              <a:buNone/>
            </a:pPr>
            <a:r>
              <a:rPr b="0" lang="en-US" sz="1275">
                <a:solidFill>
                  <a:srgbClr val="C9DCE6"/>
                </a:solidFill>
                <a:latin typeface="Helvetica Neue"/>
                <a:ea typeface="Helvetica Neue"/>
                <a:cs typeface="Helvetica Neue"/>
                <a:sym typeface="Helvetica Neue"/>
              </a:rPr>
              <a:t>Common foundations, lab choices, prepared practicum and shared demonstration</a:t>
            </a:r>
            <a:endParaRPr/>
          </a:p>
        </p:txBody>
      </p:sp>
      <p:sp>
        <p:nvSpPr>
          <p:cNvPr id="27" name="Google Shape;27;p3"/>
          <p:cNvSpPr/>
          <p:nvPr/>
        </p:nvSpPr>
        <p:spPr>
          <a:xfrm>
            <a:off x="685800" y="5962650"/>
            <a:ext cx="723900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6C7C5"/>
              </a:buClr>
              <a:buSzPts val="1125"/>
              <a:buFont typeface="Helvetica Neue"/>
              <a:buNone/>
            </a:pPr>
            <a:r>
              <a:rPr b="1" lang="en-US" sz="1125">
                <a:solidFill>
                  <a:srgbClr val="66C7C5"/>
                </a:solidFill>
                <a:latin typeface="Helvetica Neue"/>
                <a:ea typeface="Helvetica Neue"/>
                <a:cs typeface="Helvetica Neue"/>
                <a:sym typeface="Helvetica Neue"/>
              </a:rPr>
              <a:t>Draft for partner preparation. Scope and owners remain to be confirmed.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 name="Shape 32"/>
        <p:cNvGrpSpPr/>
        <p:nvPr/>
      </p:nvGrpSpPr>
      <p:grpSpPr>
        <a:xfrm>
          <a:off x="0" y="0"/>
          <a:ext cx="0" cy="0"/>
          <a:chOff x="0" y="0"/>
          <a:chExt cx="0" cy="0"/>
        </a:xfrm>
      </p:grpSpPr>
      <p:sp>
        <p:nvSpPr>
          <p:cNvPr id="33" name="Google Shape;33;p4"/>
          <p:cNvSpPr/>
          <p:nvPr/>
        </p:nvSpPr>
        <p:spPr>
          <a:xfrm>
            <a:off x="609600" y="361950"/>
            <a:ext cx="10382250" cy="495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2550"/>
              <a:buFont typeface="Helvetica Neue"/>
              <a:buNone/>
            </a:pPr>
            <a:r>
              <a:rPr b="1" lang="en-US" sz="2550">
                <a:solidFill>
                  <a:srgbClr val="12304A"/>
                </a:solidFill>
                <a:latin typeface="Helvetica Neue"/>
                <a:ea typeface="Helvetica Neue"/>
                <a:cs typeface="Helvetica Neue"/>
                <a:sym typeface="Helvetica Neue"/>
              </a:rPr>
              <a:t>Learning objectives</a:t>
            </a:r>
            <a:endParaRPr/>
          </a:p>
        </p:txBody>
      </p:sp>
      <p:sp>
        <p:nvSpPr>
          <p:cNvPr id="34" name="Google Shape;34;p4"/>
          <p:cNvSpPr/>
          <p:nvPr/>
        </p:nvSpPr>
        <p:spPr>
          <a:xfrm>
            <a:off x="628650" y="885825"/>
            <a:ext cx="1038225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6D7A"/>
              </a:buClr>
              <a:buSzPts val="1350"/>
              <a:buFont typeface="Helvetica Neue"/>
              <a:buNone/>
            </a:pPr>
            <a:r>
              <a:rPr b="0" lang="en-US" sz="1350">
                <a:solidFill>
                  <a:srgbClr val="5A6D7A"/>
                </a:solidFill>
                <a:latin typeface="Helvetica Neue"/>
                <a:ea typeface="Helvetica Neue"/>
                <a:cs typeface="Helvetica Neue"/>
                <a:sym typeface="Helvetica Neue"/>
              </a:rPr>
              <a:t>What technical participants should be able to do after two days</a:t>
            </a:r>
            <a:endParaRPr/>
          </a:p>
        </p:txBody>
      </p:sp>
      <p:sp>
        <p:nvSpPr>
          <p:cNvPr id="35" name="Google Shape;35;p4"/>
          <p:cNvSpPr/>
          <p:nvPr/>
        </p:nvSpPr>
        <p:spPr>
          <a:xfrm>
            <a:off x="609600" y="1257300"/>
            <a:ext cx="876300" cy="47625"/>
          </a:xfrm>
          <a:prstGeom prst="rect">
            <a:avLst/>
          </a:prstGeom>
          <a:solidFill>
            <a:srgbClr val="008C9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36" name="Google Shape;36;p4"/>
          <p:cNvSpPr/>
          <p:nvPr/>
        </p:nvSpPr>
        <p:spPr>
          <a:xfrm>
            <a:off x="11201400" y="457200"/>
            <a:ext cx="4572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8C95"/>
              </a:buClr>
              <a:buSzPts val="1050"/>
              <a:buFont typeface="Helvetica Neue"/>
              <a:buNone/>
            </a:pPr>
            <a:r>
              <a:rPr b="1" lang="en-US" sz="1050">
                <a:solidFill>
                  <a:srgbClr val="008C95"/>
                </a:solidFill>
                <a:latin typeface="Helvetica Neue"/>
                <a:ea typeface="Helvetica Neue"/>
                <a:cs typeface="Helvetica Neue"/>
                <a:sym typeface="Helvetica Neue"/>
              </a:rPr>
              <a:t>02</a:t>
            </a:r>
            <a:endParaRPr/>
          </a:p>
        </p:txBody>
      </p:sp>
      <p:sp>
        <p:nvSpPr>
          <p:cNvPr id="37" name="Google Shape;37;p4"/>
          <p:cNvSpPr/>
          <p:nvPr/>
        </p:nvSpPr>
        <p:spPr>
          <a:xfrm>
            <a:off x="704850" y="1600200"/>
            <a:ext cx="495300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8C95"/>
              </a:buClr>
              <a:buSzPts val="1200"/>
              <a:buFont typeface="Helvetica Neue"/>
              <a:buNone/>
            </a:pPr>
            <a:r>
              <a:rPr b="1" lang="en-US" sz="1200">
                <a:solidFill>
                  <a:srgbClr val="008C95"/>
                </a:solidFill>
                <a:latin typeface="Helvetica Neue"/>
                <a:ea typeface="Helvetica Neue"/>
                <a:cs typeface="Helvetica Neue"/>
                <a:sym typeface="Helvetica Neue"/>
              </a:rPr>
              <a:t>CORE CAPABILITIES</a:t>
            </a:r>
            <a:endParaRPr/>
          </a:p>
        </p:txBody>
      </p:sp>
      <p:sp>
        <p:nvSpPr>
          <p:cNvPr id="38" name="Google Shape;38;p4"/>
          <p:cNvSpPr/>
          <p:nvPr/>
        </p:nvSpPr>
        <p:spPr>
          <a:xfrm>
            <a:off x="704850" y="2019300"/>
            <a:ext cx="4953000" cy="2000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725"/>
              <a:buFont typeface="Helvetica Neue"/>
              <a:buNone/>
            </a:pPr>
            <a:r>
              <a:rPr b="1" lang="en-US" sz="1725">
                <a:solidFill>
                  <a:srgbClr val="12304A"/>
                </a:solidFill>
                <a:latin typeface="Helvetica Neue"/>
                <a:ea typeface="Helvetica Neue"/>
                <a:cs typeface="Helvetica Neue"/>
                <a:sym typeface="Helvetica Neue"/>
              </a:rPr>
              <a:t>Explain how FHIR resources, profiles, terminology and implementation guides support routine immunization.</a:t>
            </a:r>
            <a:endParaRPr/>
          </a:p>
          <a:p>
            <a:pPr indent="0" lvl="0" marL="0" marR="0" rtl="0" algn="l">
              <a:spcBef>
                <a:spcPts val="0"/>
              </a:spcBef>
              <a:spcAft>
                <a:spcPts val="0"/>
              </a:spcAft>
              <a:buClr>
                <a:srgbClr val="12304A"/>
              </a:buClr>
              <a:buSzPts val="1725"/>
              <a:buFont typeface="Helvetica Neue"/>
              <a:buNone/>
            </a:pPr>
            <a:r>
              <a:t/>
            </a:r>
            <a:endParaRPr b="1" sz="1725">
              <a:solidFill>
                <a:srgbClr val="12304A"/>
              </a:solidFill>
              <a:latin typeface="Helvetica Neue"/>
              <a:ea typeface="Helvetica Neue"/>
              <a:cs typeface="Helvetica Neue"/>
              <a:sym typeface="Helvetica Neue"/>
            </a:endParaRPr>
          </a:p>
          <a:p>
            <a:pPr indent="0" lvl="0" marL="0" marR="0" rtl="0" algn="l">
              <a:spcBef>
                <a:spcPts val="0"/>
              </a:spcBef>
              <a:spcAft>
                <a:spcPts val="0"/>
              </a:spcAft>
              <a:buClr>
                <a:srgbClr val="12304A"/>
              </a:buClr>
              <a:buSzPts val="1725"/>
              <a:buFont typeface="Helvetica Neue"/>
              <a:buNone/>
            </a:pPr>
            <a:r>
              <a:rPr b="1" lang="en-US" sz="1725">
                <a:solidFill>
                  <a:srgbClr val="12304A"/>
                </a:solidFill>
                <a:latin typeface="Helvetica Neue"/>
                <a:ea typeface="Helvetica Neue"/>
                <a:cs typeface="Helvetica Neue"/>
                <a:sym typeface="Helvetica Neue"/>
              </a:rPr>
              <a:t>Map a prepared non-FHIR registry record to the agreed FHIR representation.</a:t>
            </a:r>
            <a:endParaRPr/>
          </a:p>
          <a:p>
            <a:pPr indent="0" lvl="0" marL="0" marR="0" rtl="0" algn="l">
              <a:spcBef>
                <a:spcPts val="0"/>
              </a:spcBef>
              <a:spcAft>
                <a:spcPts val="0"/>
              </a:spcAft>
              <a:buClr>
                <a:srgbClr val="12304A"/>
              </a:buClr>
              <a:buSzPts val="1725"/>
              <a:buFont typeface="Helvetica Neue"/>
              <a:buNone/>
            </a:pPr>
            <a:r>
              <a:t/>
            </a:r>
            <a:endParaRPr b="1" sz="1725">
              <a:solidFill>
                <a:srgbClr val="12304A"/>
              </a:solidFill>
              <a:latin typeface="Helvetica Neue"/>
              <a:ea typeface="Helvetica Neue"/>
              <a:cs typeface="Helvetica Neue"/>
              <a:sym typeface="Helvetica Neue"/>
            </a:endParaRPr>
          </a:p>
          <a:p>
            <a:pPr indent="0" lvl="0" marL="0" marR="0" rtl="0" algn="l">
              <a:spcBef>
                <a:spcPts val="0"/>
              </a:spcBef>
              <a:spcAft>
                <a:spcPts val="0"/>
              </a:spcAft>
              <a:buClr>
                <a:srgbClr val="12304A"/>
              </a:buClr>
              <a:buSzPts val="1725"/>
              <a:buFont typeface="Helvetica Neue"/>
              <a:buNone/>
            </a:pPr>
            <a:r>
              <a:rPr b="1" lang="en-US" sz="1725">
                <a:solidFill>
                  <a:srgbClr val="12304A"/>
                </a:solidFill>
                <a:latin typeface="Helvetica Neue"/>
                <a:ea typeface="Helvetica Neue"/>
                <a:cs typeface="Helvetica Neue"/>
                <a:sym typeface="Helvetica Neue"/>
              </a:rPr>
              <a:t>Validate examples and interpret test results.</a:t>
            </a:r>
            <a:endParaRPr/>
          </a:p>
        </p:txBody>
      </p:sp>
      <p:sp>
        <p:nvSpPr>
          <p:cNvPr id="39" name="Google Shape;39;p4"/>
          <p:cNvSpPr/>
          <p:nvPr/>
        </p:nvSpPr>
        <p:spPr>
          <a:xfrm>
            <a:off x="704850" y="4229100"/>
            <a:ext cx="4953000" cy="781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6D7A"/>
              </a:buClr>
              <a:buSzPts val="1350"/>
              <a:buFont typeface="Helvetica Neue"/>
              <a:buNone/>
            </a:pPr>
            <a:r>
              <a:rPr b="0" lang="en-US" sz="1350">
                <a:solidFill>
                  <a:srgbClr val="5A6D7A"/>
                </a:solidFill>
                <a:latin typeface="Helvetica Neue"/>
                <a:ea typeface="Helvetica Neue"/>
                <a:cs typeface="Helvetica Neue"/>
                <a:sym typeface="Helvetica Neue"/>
              </a:rPr>
              <a:t>One cohort receives common foundations, with scaffolding set by an advance readiness profile.</a:t>
            </a:r>
            <a:endParaRPr/>
          </a:p>
        </p:txBody>
      </p:sp>
      <p:cxnSp>
        <p:nvCxnSpPr>
          <p:cNvPr id="40" name="Google Shape;40;p4"/>
          <p:cNvCxnSpPr/>
          <p:nvPr/>
        </p:nvCxnSpPr>
        <p:spPr>
          <a:xfrm>
            <a:off x="6038850" y="1600200"/>
            <a:ext cx="0" cy="4210050"/>
          </a:xfrm>
          <a:prstGeom prst="straightConnector1">
            <a:avLst/>
          </a:prstGeom>
          <a:noFill/>
          <a:ln cap="flat" cmpd="sng" w="19050">
            <a:solidFill>
              <a:srgbClr val="C7D2D9"/>
            </a:solidFill>
            <a:prstDash val="solid"/>
            <a:round/>
            <a:headEnd len="sm" w="sm" type="none"/>
            <a:tailEnd len="sm" w="sm" type="none"/>
          </a:ln>
        </p:spPr>
      </p:cxnSp>
      <p:sp>
        <p:nvSpPr>
          <p:cNvPr id="41" name="Google Shape;41;p4"/>
          <p:cNvSpPr/>
          <p:nvPr/>
        </p:nvSpPr>
        <p:spPr>
          <a:xfrm>
            <a:off x="6553200" y="1600200"/>
            <a:ext cx="476250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78A42"/>
              </a:buClr>
              <a:buSzPts val="1200"/>
              <a:buFont typeface="Helvetica Neue"/>
              <a:buNone/>
            </a:pPr>
            <a:r>
              <a:rPr b="1" lang="en-US" sz="1200">
                <a:solidFill>
                  <a:srgbClr val="E78A42"/>
                </a:solidFill>
                <a:latin typeface="Helvetica Neue"/>
                <a:ea typeface="Helvetica Neue"/>
                <a:cs typeface="Helvetica Neue"/>
                <a:sym typeface="Helvetica Neue"/>
              </a:rPr>
              <a:t>APPLIED OUTCOME</a:t>
            </a:r>
            <a:endParaRPr/>
          </a:p>
        </p:txBody>
      </p:sp>
      <p:sp>
        <p:nvSpPr>
          <p:cNvPr id="42" name="Google Shape;42;p4"/>
          <p:cNvSpPr/>
          <p:nvPr/>
        </p:nvSpPr>
        <p:spPr>
          <a:xfrm>
            <a:off x="6553200" y="2019300"/>
            <a:ext cx="4762500" cy="2000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725"/>
              <a:buFont typeface="Helvetica Neue"/>
              <a:buNone/>
            </a:pPr>
            <a:r>
              <a:rPr b="1" lang="en-US" sz="1725">
                <a:solidFill>
                  <a:srgbClr val="12304A"/>
                </a:solidFill>
                <a:latin typeface="Helvetica Neue"/>
                <a:ea typeface="Helvetica Neue"/>
                <a:cs typeface="Helvetica Neue"/>
                <a:sym typeface="Helvetica Neue"/>
              </a:rPr>
              <a:t>Use OHS components and other open reference tools in a prepared environment.</a:t>
            </a:r>
            <a:endParaRPr/>
          </a:p>
          <a:p>
            <a:pPr indent="0" lvl="0" marL="0" marR="0" rtl="0" algn="l">
              <a:spcBef>
                <a:spcPts val="0"/>
              </a:spcBef>
              <a:spcAft>
                <a:spcPts val="0"/>
              </a:spcAft>
              <a:buClr>
                <a:srgbClr val="12304A"/>
              </a:buClr>
              <a:buSzPts val="1725"/>
              <a:buFont typeface="Helvetica Neue"/>
              <a:buNone/>
            </a:pPr>
            <a:r>
              <a:t/>
            </a:r>
            <a:endParaRPr b="1" sz="1725">
              <a:solidFill>
                <a:srgbClr val="12304A"/>
              </a:solidFill>
              <a:latin typeface="Helvetica Neue"/>
              <a:ea typeface="Helvetica Neue"/>
              <a:cs typeface="Helvetica Neue"/>
              <a:sym typeface="Helvetica Neue"/>
            </a:endParaRPr>
          </a:p>
          <a:p>
            <a:pPr indent="0" lvl="0" marL="0" marR="0" rtl="0" algn="l">
              <a:spcBef>
                <a:spcPts val="0"/>
              </a:spcBef>
              <a:spcAft>
                <a:spcPts val="0"/>
              </a:spcAft>
              <a:buClr>
                <a:srgbClr val="12304A"/>
              </a:buClr>
              <a:buSzPts val="1725"/>
              <a:buFont typeface="Helvetica Neue"/>
              <a:buNone/>
            </a:pPr>
            <a:r>
              <a:rPr b="1" lang="en-US" sz="1725">
                <a:solidFill>
                  <a:srgbClr val="12304A"/>
                </a:solidFill>
                <a:latin typeface="Helvetica Neue"/>
                <a:ea typeface="Helvetica Neue"/>
                <a:cs typeface="Helvetica Neue"/>
                <a:sym typeface="Helvetica Neue"/>
              </a:rPr>
              <a:t>Run domestic FHIR checks and interpret selected interoperability tests.</a:t>
            </a:r>
            <a:endParaRPr/>
          </a:p>
          <a:p>
            <a:pPr indent="0" lvl="0" marL="0" marR="0" rtl="0" algn="l">
              <a:spcBef>
                <a:spcPts val="0"/>
              </a:spcBef>
              <a:spcAft>
                <a:spcPts val="0"/>
              </a:spcAft>
              <a:buClr>
                <a:srgbClr val="12304A"/>
              </a:buClr>
              <a:buSzPts val="1725"/>
              <a:buFont typeface="Helvetica Neue"/>
              <a:buNone/>
            </a:pPr>
            <a:r>
              <a:t/>
            </a:r>
            <a:endParaRPr b="1" sz="1725">
              <a:solidFill>
                <a:srgbClr val="12304A"/>
              </a:solidFill>
              <a:latin typeface="Helvetica Neue"/>
              <a:ea typeface="Helvetica Neue"/>
              <a:cs typeface="Helvetica Neue"/>
              <a:sym typeface="Helvetica Neue"/>
            </a:endParaRPr>
          </a:p>
          <a:p>
            <a:pPr indent="0" lvl="0" marL="0" marR="0" rtl="0" algn="l">
              <a:spcBef>
                <a:spcPts val="0"/>
              </a:spcBef>
              <a:spcAft>
                <a:spcPts val="0"/>
              </a:spcAft>
              <a:buClr>
                <a:srgbClr val="12304A"/>
              </a:buClr>
              <a:buSzPts val="1725"/>
              <a:buFont typeface="Helvetica Neue"/>
              <a:buNone/>
            </a:pPr>
            <a:r>
              <a:rPr b="1" lang="en-US" sz="1725">
                <a:solidFill>
                  <a:srgbClr val="12304A"/>
                </a:solidFill>
                <a:latin typeface="Helvetica Neue"/>
                <a:ea typeface="Helvetica Neue"/>
                <a:cs typeface="Helvetica Neue"/>
                <a:sym typeface="Helvetica Neue"/>
              </a:rPr>
              <a:t>Explain how the flow could extend to ICVP or IPS when ready.</a:t>
            </a:r>
            <a:endParaRPr/>
          </a:p>
        </p:txBody>
      </p:sp>
      <p:sp>
        <p:nvSpPr>
          <p:cNvPr id="43" name="Google Shape;43;p4"/>
          <p:cNvSpPr/>
          <p:nvPr/>
        </p:nvSpPr>
        <p:spPr>
          <a:xfrm>
            <a:off x="6553200" y="4229100"/>
            <a:ext cx="4762500" cy="781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6D7A"/>
              </a:buClr>
              <a:buSzPts val="1350"/>
              <a:buFont typeface="Helvetica Neue"/>
              <a:buNone/>
            </a:pPr>
            <a:r>
              <a:rPr b="0" lang="en-US" sz="1350">
                <a:solidFill>
                  <a:srgbClr val="5A6D7A"/>
                </a:solidFill>
                <a:latin typeface="Helvetica Neue"/>
                <a:ea typeface="Helvetica Neue"/>
                <a:cs typeface="Helvetica Neue"/>
                <a:sym typeface="Helvetica Neue"/>
              </a:rPr>
              <a:t>Participants leave with reusable mappings, validated examples, test evidence and an issue log.</a:t>
            </a:r>
            <a:endParaRPr/>
          </a:p>
        </p:txBody>
      </p:sp>
      <p:sp>
        <p:nvSpPr>
          <p:cNvPr id="44" name="Google Shape;44;p4"/>
          <p:cNvSpPr/>
          <p:nvPr/>
        </p:nvSpPr>
        <p:spPr>
          <a:xfrm>
            <a:off x="704850" y="5219700"/>
            <a:ext cx="10610850" cy="666750"/>
          </a:xfrm>
          <a:prstGeom prst="roundRect">
            <a:avLst>
              <a:gd fmla="val 14286" name="adj"/>
            </a:avLst>
          </a:prstGeom>
          <a:solidFill>
            <a:srgbClr val="EAF5F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45" name="Google Shape;45;p4"/>
          <p:cNvSpPr/>
          <p:nvPr/>
        </p:nvSpPr>
        <p:spPr>
          <a:xfrm>
            <a:off x="895350" y="5391150"/>
            <a:ext cx="11430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8C95"/>
              </a:buClr>
              <a:buSzPts val="1125"/>
              <a:buFont typeface="Helvetica Neue"/>
              <a:buNone/>
            </a:pPr>
            <a:r>
              <a:rPr b="1" lang="en-US" sz="1125">
                <a:solidFill>
                  <a:srgbClr val="008C95"/>
                </a:solidFill>
                <a:latin typeface="Helvetica Neue"/>
                <a:ea typeface="Helvetica Neue"/>
                <a:cs typeface="Helvetica Neue"/>
                <a:sym typeface="Helvetica Neue"/>
              </a:rPr>
              <a:t>Shared link</a:t>
            </a:r>
            <a:endParaRPr/>
          </a:p>
        </p:txBody>
      </p:sp>
      <p:sp>
        <p:nvSpPr>
          <p:cNvPr id="46" name="Google Shape;46;p4"/>
          <p:cNvSpPr/>
          <p:nvPr/>
        </p:nvSpPr>
        <p:spPr>
          <a:xfrm>
            <a:off x="2124075" y="5279508"/>
            <a:ext cx="8858250" cy="361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575"/>
              <a:buFont typeface="Helvetica Neue"/>
              <a:buNone/>
            </a:pPr>
            <a:r>
              <a:rPr b="1" lang="en-US" sz="1575">
                <a:solidFill>
                  <a:srgbClr val="12304A"/>
                </a:solidFill>
                <a:latin typeface="Helvetica Neue"/>
                <a:ea typeface="Helvetica Neue"/>
                <a:cs typeface="Helvetica Neue"/>
                <a:sym typeface="Helvetica Neue"/>
              </a:rPr>
              <a:t>Technical evidence connects to the same patient journey used by the planner workstream.</a:t>
            </a:r>
            <a:endParaRPr/>
          </a:p>
        </p:txBody>
      </p:sp>
      <p:cxnSp>
        <p:nvCxnSpPr>
          <p:cNvPr id="47" name="Google Shape;47;p4"/>
          <p:cNvCxnSpPr/>
          <p:nvPr/>
        </p:nvCxnSpPr>
        <p:spPr>
          <a:xfrm>
            <a:off x="609600" y="6477000"/>
            <a:ext cx="10972800" cy="0"/>
          </a:xfrm>
          <a:prstGeom prst="straightConnector1">
            <a:avLst/>
          </a:prstGeom>
          <a:noFill/>
          <a:ln cap="flat" cmpd="sng" w="9525">
            <a:solidFill>
              <a:srgbClr val="C7D2D9"/>
            </a:solidFill>
            <a:prstDash val="solid"/>
            <a:round/>
            <a:headEnd len="sm" w="sm" type="none"/>
            <a:tailEnd len="sm" w="sm" type="none"/>
          </a:ln>
        </p:spPr>
      </p:cxnSp>
      <p:sp>
        <p:nvSpPr>
          <p:cNvPr id="48" name="Google Shape;48;p4"/>
          <p:cNvSpPr/>
          <p:nvPr/>
        </p:nvSpPr>
        <p:spPr>
          <a:xfrm>
            <a:off x="609600" y="6553200"/>
            <a:ext cx="8572500" cy="190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6D7A"/>
              </a:buClr>
              <a:buSzPts val="900"/>
              <a:buFont typeface="Helvetica Neue"/>
              <a:buNone/>
            </a:pPr>
            <a:r>
              <a:rPr b="0" lang="en-US" sz="900">
                <a:solidFill>
                  <a:srgbClr val="5A6D7A"/>
                </a:solidFill>
                <a:latin typeface="Helvetica Neue"/>
                <a:ea typeface="Helvetica Neue"/>
                <a:cs typeface="Helvetica Neue"/>
                <a:sym typeface="Helvetica Neue"/>
              </a:rPr>
              <a:t>Thailand technologist workstream, partner preparation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1E8"/>
        </a:solidFill>
      </p:bgPr>
    </p:bg>
    <p:spTree>
      <p:nvGrpSpPr>
        <p:cNvPr id="53" name="Shape 53"/>
        <p:cNvGrpSpPr/>
        <p:nvPr/>
      </p:nvGrpSpPr>
      <p:grpSpPr>
        <a:xfrm>
          <a:off x="0" y="0"/>
          <a:ext cx="0" cy="0"/>
          <a:chOff x="0" y="0"/>
          <a:chExt cx="0" cy="0"/>
        </a:xfrm>
      </p:grpSpPr>
      <p:sp>
        <p:nvSpPr>
          <p:cNvPr id="54" name="Google Shape;54;p5"/>
          <p:cNvSpPr/>
          <p:nvPr/>
        </p:nvSpPr>
        <p:spPr>
          <a:xfrm>
            <a:off x="609600" y="361950"/>
            <a:ext cx="10382250" cy="495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2550"/>
              <a:buFont typeface="Helvetica Neue"/>
              <a:buNone/>
            </a:pPr>
            <a:r>
              <a:rPr b="1" lang="en-US" sz="2550">
                <a:solidFill>
                  <a:srgbClr val="12304A"/>
                </a:solidFill>
                <a:latin typeface="Helvetica Neue"/>
                <a:ea typeface="Helvetica Neue"/>
                <a:cs typeface="Helvetica Neue"/>
                <a:sym typeface="Helvetica Neue"/>
              </a:rPr>
              <a:t>Technical scope and storyline</a:t>
            </a:r>
            <a:endParaRPr/>
          </a:p>
        </p:txBody>
      </p:sp>
      <p:sp>
        <p:nvSpPr>
          <p:cNvPr id="55" name="Google Shape;55;p5"/>
          <p:cNvSpPr/>
          <p:nvPr/>
        </p:nvSpPr>
        <p:spPr>
          <a:xfrm>
            <a:off x="628650" y="885825"/>
            <a:ext cx="1038225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6D7A"/>
              </a:buClr>
              <a:buSzPts val="1350"/>
              <a:buFont typeface="Helvetica Neue"/>
              <a:buNone/>
            </a:pPr>
            <a:r>
              <a:rPr b="0" lang="en-US" sz="1350">
                <a:solidFill>
                  <a:srgbClr val="5A6D7A"/>
                </a:solidFill>
                <a:latin typeface="Helvetica Neue"/>
                <a:ea typeface="Helvetica Neue"/>
                <a:cs typeface="Helvetica Neue"/>
                <a:sym typeface="Helvetica Neue"/>
              </a:rPr>
              <a:t>Routine immunization provides the manageable core; cross-border exchange remains optional</a:t>
            </a:r>
            <a:endParaRPr/>
          </a:p>
        </p:txBody>
      </p:sp>
      <p:sp>
        <p:nvSpPr>
          <p:cNvPr id="56" name="Google Shape;56;p5"/>
          <p:cNvSpPr/>
          <p:nvPr/>
        </p:nvSpPr>
        <p:spPr>
          <a:xfrm>
            <a:off x="609600" y="1257300"/>
            <a:ext cx="876300" cy="47625"/>
          </a:xfrm>
          <a:prstGeom prst="rect">
            <a:avLst/>
          </a:prstGeom>
          <a:solidFill>
            <a:srgbClr val="008C9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57" name="Google Shape;57;p5"/>
          <p:cNvSpPr/>
          <p:nvPr/>
        </p:nvSpPr>
        <p:spPr>
          <a:xfrm>
            <a:off x="11201400" y="457200"/>
            <a:ext cx="4572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8C95"/>
              </a:buClr>
              <a:buSzPts val="1050"/>
              <a:buFont typeface="Helvetica Neue"/>
              <a:buNone/>
            </a:pPr>
            <a:r>
              <a:rPr b="1" lang="en-US" sz="1050">
                <a:solidFill>
                  <a:srgbClr val="008C95"/>
                </a:solidFill>
                <a:latin typeface="Helvetica Neue"/>
                <a:ea typeface="Helvetica Neue"/>
                <a:cs typeface="Helvetica Neue"/>
                <a:sym typeface="Helvetica Neue"/>
              </a:rPr>
              <a:t>03</a:t>
            </a:r>
            <a:endParaRPr/>
          </a:p>
        </p:txBody>
      </p:sp>
      <p:sp>
        <p:nvSpPr>
          <p:cNvPr id="58" name="Google Shape;58;p5"/>
          <p:cNvSpPr/>
          <p:nvPr/>
        </p:nvSpPr>
        <p:spPr>
          <a:xfrm>
            <a:off x="781050" y="1581150"/>
            <a:ext cx="2000250" cy="285750"/>
          </a:xfrm>
          <a:prstGeom prst="roundRect">
            <a:avLst>
              <a:gd fmla="val 50000" name="adj"/>
            </a:avLst>
          </a:prstGeom>
          <a:solidFill>
            <a:srgbClr val="1230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59" name="Google Shape;59;p5"/>
          <p:cNvSpPr/>
          <p:nvPr/>
        </p:nvSpPr>
        <p:spPr>
          <a:xfrm>
            <a:off x="895350" y="1628775"/>
            <a:ext cx="1771650" cy="1809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975"/>
              <a:buFont typeface="Helvetica Neue"/>
              <a:buNone/>
            </a:pPr>
            <a:r>
              <a:rPr b="1" lang="en-US" sz="975">
                <a:solidFill>
                  <a:srgbClr val="FFFFFF"/>
                </a:solidFill>
                <a:latin typeface="Helvetica Neue"/>
                <a:ea typeface="Helvetica Neue"/>
                <a:cs typeface="Helvetica Neue"/>
                <a:sym typeface="Helvetica Neue"/>
              </a:rPr>
              <a:t>STARTING POINT</a:t>
            </a:r>
            <a:endParaRPr/>
          </a:p>
        </p:txBody>
      </p:sp>
      <p:sp>
        <p:nvSpPr>
          <p:cNvPr id="60" name="Google Shape;60;p5"/>
          <p:cNvSpPr/>
          <p:nvPr/>
        </p:nvSpPr>
        <p:spPr>
          <a:xfrm>
            <a:off x="800100" y="1981200"/>
            <a:ext cx="2381250" cy="5143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500"/>
              <a:buFont typeface="Helvetica Neue"/>
              <a:buNone/>
            </a:pPr>
            <a:r>
              <a:rPr b="1" lang="en-US" sz="1500">
                <a:solidFill>
                  <a:srgbClr val="12304A"/>
                </a:solidFill>
                <a:latin typeface="Helvetica Neue"/>
                <a:ea typeface="Helvetica Neue"/>
                <a:cs typeface="Helvetica Neue"/>
                <a:sym typeface="Helvetica Neue"/>
              </a:rPr>
              <a:t>A fictional immunization registry</a:t>
            </a:r>
            <a:endParaRPr/>
          </a:p>
        </p:txBody>
      </p:sp>
      <p:sp>
        <p:nvSpPr>
          <p:cNvPr id="61" name="Google Shape;61;p5"/>
          <p:cNvSpPr/>
          <p:nvPr/>
        </p:nvSpPr>
        <p:spPr>
          <a:xfrm>
            <a:off x="800100" y="2571750"/>
            <a:ext cx="2381250" cy="5143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6D7A"/>
              </a:buClr>
              <a:buSzPts val="1275"/>
              <a:buFont typeface="Helvetica Neue"/>
              <a:buNone/>
            </a:pPr>
            <a:r>
              <a:rPr b="0" lang="en-US" sz="1275">
                <a:solidFill>
                  <a:srgbClr val="5A6D7A"/>
                </a:solidFill>
                <a:latin typeface="Helvetica Neue"/>
                <a:ea typeface="Helvetica Neue"/>
                <a:cs typeface="Helvetica Neue"/>
                <a:sym typeface="Helvetica Neue"/>
              </a:rPr>
              <a:t>One patient journey and agreed minimum data</a:t>
            </a:r>
            <a:endParaRPr/>
          </a:p>
        </p:txBody>
      </p:sp>
      <p:cxnSp>
        <p:nvCxnSpPr>
          <p:cNvPr id="62" name="Google Shape;62;p5"/>
          <p:cNvCxnSpPr/>
          <p:nvPr/>
        </p:nvCxnSpPr>
        <p:spPr>
          <a:xfrm>
            <a:off x="3314700" y="2143125"/>
            <a:ext cx="666750" cy="0"/>
          </a:xfrm>
          <a:prstGeom prst="straightConnector1">
            <a:avLst/>
          </a:prstGeom>
          <a:noFill/>
          <a:ln cap="flat" cmpd="sng" w="38100">
            <a:solidFill>
              <a:srgbClr val="008C95"/>
            </a:solidFill>
            <a:prstDash val="solid"/>
            <a:round/>
            <a:headEnd len="sm" w="sm" type="none"/>
            <a:tailEnd len="sm" w="sm" type="none"/>
          </a:ln>
        </p:spPr>
      </p:cxnSp>
      <p:sp>
        <p:nvSpPr>
          <p:cNvPr id="63" name="Google Shape;63;p5"/>
          <p:cNvSpPr/>
          <p:nvPr/>
        </p:nvSpPr>
        <p:spPr>
          <a:xfrm>
            <a:off x="3981450" y="1466850"/>
            <a:ext cx="3000375" cy="1952625"/>
          </a:xfrm>
          <a:prstGeom prst="roundRect">
            <a:avLst>
              <a:gd fmla="val 5854" name="adj"/>
            </a:avLst>
          </a:prstGeom>
          <a:solidFill>
            <a:srgbClr val="FFFFFF"/>
          </a:solidFill>
          <a:ln cap="flat" cmpd="sng" w="9525">
            <a:solidFill>
              <a:srgbClr val="C7D2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64" name="Google Shape;64;p5"/>
          <p:cNvSpPr/>
          <p:nvPr/>
        </p:nvSpPr>
        <p:spPr>
          <a:xfrm>
            <a:off x="3981450" y="1466850"/>
            <a:ext cx="66675" cy="1952625"/>
          </a:xfrm>
          <a:prstGeom prst="roundRect">
            <a:avLst>
              <a:gd fmla="val 50000" name="adj"/>
            </a:avLst>
          </a:prstGeom>
          <a:solidFill>
            <a:srgbClr val="008C9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65" name="Google Shape;65;p5"/>
          <p:cNvSpPr/>
          <p:nvPr/>
        </p:nvSpPr>
        <p:spPr>
          <a:xfrm>
            <a:off x="4210050" y="1638300"/>
            <a:ext cx="2600325" cy="60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575"/>
              <a:buFont typeface="Helvetica Neue"/>
              <a:buNone/>
            </a:pPr>
            <a:r>
              <a:rPr b="1" lang="en-US" sz="1575">
                <a:solidFill>
                  <a:srgbClr val="12304A"/>
                </a:solidFill>
                <a:latin typeface="Helvetica Neue"/>
                <a:ea typeface="Helvetica Neue"/>
                <a:cs typeface="Helvetica Neue"/>
                <a:sym typeface="Helvetica Neue"/>
              </a:rPr>
              <a:t>Core workflow</a:t>
            </a:r>
            <a:endParaRPr/>
          </a:p>
          <a:p>
            <a:pPr indent="0" lvl="0" marL="0" marR="0" rtl="0" algn="l">
              <a:spcBef>
                <a:spcPts val="0"/>
              </a:spcBef>
              <a:spcAft>
                <a:spcPts val="0"/>
              </a:spcAft>
              <a:buClr>
                <a:srgbClr val="12304A"/>
              </a:buClr>
              <a:buSzPts val="1575"/>
              <a:buFont typeface="Helvetica Neue"/>
              <a:buNone/>
            </a:pPr>
            <a:r>
              <a:rPr b="1" lang="en-US" sz="1575">
                <a:solidFill>
                  <a:srgbClr val="12304A"/>
                </a:solidFill>
                <a:latin typeface="Helvetica Neue"/>
                <a:ea typeface="Helvetica Neue"/>
                <a:cs typeface="Helvetica Neue"/>
                <a:sym typeface="Helvetica Neue"/>
              </a:rPr>
              <a:t>Routine immunization</a:t>
            </a:r>
            <a:endParaRPr/>
          </a:p>
        </p:txBody>
      </p:sp>
      <p:sp>
        <p:nvSpPr>
          <p:cNvPr id="66" name="Google Shape;66;p5"/>
          <p:cNvSpPr/>
          <p:nvPr/>
        </p:nvSpPr>
        <p:spPr>
          <a:xfrm>
            <a:off x="4210050" y="2286000"/>
            <a:ext cx="2600325" cy="10382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275"/>
              <a:buFont typeface="Helvetica Neue"/>
              <a:buNone/>
            </a:pPr>
            <a:r>
              <a:rPr b="0" lang="en-US" sz="1275">
                <a:solidFill>
                  <a:srgbClr val="193044"/>
                </a:solidFill>
                <a:latin typeface="Helvetica Neue"/>
                <a:ea typeface="Helvetica Neue"/>
                <a:cs typeface="Helvetica Neue"/>
                <a:sym typeface="Helvetica Neue"/>
              </a:rPr>
              <a:t>Map source data</a:t>
            </a:r>
            <a:endParaRPr/>
          </a:p>
          <a:p>
            <a:pPr indent="0" lvl="0" marL="0" marR="0" rtl="0" algn="l">
              <a:spcBef>
                <a:spcPts val="0"/>
              </a:spcBef>
              <a:spcAft>
                <a:spcPts val="0"/>
              </a:spcAft>
              <a:buNone/>
            </a:pPr>
            <a:r>
              <a:t/>
            </a:r>
            <a:endParaRPr b="0" sz="1275">
              <a:solidFill>
                <a:srgbClr val="193044"/>
              </a:solidFill>
              <a:latin typeface="Helvetica Neue"/>
              <a:ea typeface="Helvetica Neue"/>
              <a:cs typeface="Helvetica Neue"/>
              <a:sym typeface="Helvetica Neue"/>
            </a:endParaRPr>
          </a:p>
          <a:p>
            <a:pPr indent="0" lvl="0" marL="0" marR="0" rtl="0" algn="l">
              <a:spcBef>
                <a:spcPts val="0"/>
              </a:spcBef>
              <a:spcAft>
                <a:spcPts val="0"/>
              </a:spcAft>
              <a:buClr>
                <a:srgbClr val="193044"/>
              </a:buClr>
              <a:buSzPts val="1275"/>
              <a:buFont typeface="Helvetica Neue"/>
              <a:buNone/>
            </a:pPr>
            <a:r>
              <a:rPr b="0" lang="en-US" sz="1275">
                <a:solidFill>
                  <a:srgbClr val="193044"/>
                </a:solidFill>
                <a:latin typeface="Helvetica Neue"/>
                <a:ea typeface="Helvetica Neue"/>
                <a:cs typeface="Helvetica Neue"/>
                <a:sym typeface="Helvetica Neue"/>
              </a:rPr>
              <a:t>Create and validate FHIR</a:t>
            </a:r>
            <a:endParaRPr/>
          </a:p>
          <a:p>
            <a:pPr indent="0" lvl="0" marL="0" marR="0" rtl="0" algn="l">
              <a:spcBef>
                <a:spcPts val="0"/>
              </a:spcBef>
              <a:spcAft>
                <a:spcPts val="0"/>
              </a:spcAft>
              <a:buClr>
                <a:srgbClr val="193044"/>
              </a:buClr>
              <a:buSzPts val="1275"/>
              <a:buFont typeface="Helvetica Neue"/>
              <a:buNone/>
            </a:pPr>
            <a:r>
              <a:t/>
            </a:r>
            <a:endParaRPr b="0" sz="1275">
              <a:solidFill>
                <a:srgbClr val="193044"/>
              </a:solidFill>
              <a:latin typeface="Helvetica Neue"/>
              <a:ea typeface="Helvetica Neue"/>
              <a:cs typeface="Helvetica Neue"/>
              <a:sym typeface="Helvetica Neue"/>
            </a:endParaRPr>
          </a:p>
          <a:p>
            <a:pPr indent="0" lvl="0" marL="0" marR="0" rtl="0" algn="l">
              <a:spcBef>
                <a:spcPts val="0"/>
              </a:spcBef>
              <a:spcAft>
                <a:spcPts val="0"/>
              </a:spcAft>
              <a:buClr>
                <a:srgbClr val="193044"/>
              </a:buClr>
              <a:buSzPts val="1275"/>
              <a:buFont typeface="Helvetica Neue"/>
              <a:buNone/>
            </a:pPr>
            <a:r>
              <a:rPr b="0" lang="en-US" sz="1275">
                <a:solidFill>
                  <a:srgbClr val="193044"/>
                </a:solidFill>
                <a:latin typeface="Helvetica Neue"/>
                <a:ea typeface="Helvetica Neue"/>
                <a:cs typeface="Helvetica Neue"/>
                <a:sym typeface="Helvetica Neue"/>
              </a:rPr>
              <a:t>Use open components</a:t>
            </a:r>
            <a:endParaRPr/>
          </a:p>
        </p:txBody>
      </p:sp>
      <p:sp>
        <p:nvSpPr>
          <p:cNvPr id="67" name="Google Shape;67;p5"/>
          <p:cNvSpPr/>
          <p:nvPr/>
        </p:nvSpPr>
        <p:spPr>
          <a:xfrm>
            <a:off x="3981450" y="3695700"/>
            <a:ext cx="3000375" cy="1952625"/>
          </a:xfrm>
          <a:prstGeom prst="roundRect">
            <a:avLst>
              <a:gd fmla="val 5854" name="adj"/>
            </a:avLst>
          </a:prstGeom>
          <a:solidFill>
            <a:srgbClr val="FFFFFF"/>
          </a:solidFill>
          <a:ln cap="flat" cmpd="sng" w="9525">
            <a:solidFill>
              <a:srgbClr val="C7D2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68" name="Google Shape;68;p5"/>
          <p:cNvSpPr/>
          <p:nvPr/>
        </p:nvSpPr>
        <p:spPr>
          <a:xfrm>
            <a:off x="3981450" y="3695700"/>
            <a:ext cx="66675" cy="1952625"/>
          </a:xfrm>
          <a:prstGeom prst="roundRect">
            <a:avLst>
              <a:gd fmla="val 50000" name="adj"/>
            </a:avLst>
          </a:prstGeom>
          <a:solidFill>
            <a:srgbClr val="E78A4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69" name="Google Shape;69;p5"/>
          <p:cNvSpPr/>
          <p:nvPr/>
        </p:nvSpPr>
        <p:spPr>
          <a:xfrm>
            <a:off x="4210050" y="3867150"/>
            <a:ext cx="3000375" cy="60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575"/>
              <a:buFont typeface="Helvetica Neue"/>
              <a:buNone/>
            </a:pPr>
            <a:r>
              <a:rPr b="1" lang="en-US" sz="1575">
                <a:solidFill>
                  <a:srgbClr val="12304A"/>
                </a:solidFill>
                <a:latin typeface="Helvetica Neue"/>
                <a:ea typeface="Helvetica Neue"/>
                <a:cs typeface="Helvetica Neue"/>
                <a:sym typeface="Helvetica Neue"/>
              </a:rPr>
              <a:t>Optional extension</a:t>
            </a:r>
            <a:endParaRPr/>
          </a:p>
          <a:p>
            <a:pPr indent="0" lvl="0" marL="0" marR="0" rtl="0" algn="l">
              <a:spcBef>
                <a:spcPts val="0"/>
              </a:spcBef>
              <a:spcAft>
                <a:spcPts val="0"/>
              </a:spcAft>
              <a:buClr>
                <a:srgbClr val="12304A"/>
              </a:buClr>
              <a:buSzPts val="1575"/>
              <a:buFont typeface="Helvetica Neue"/>
              <a:buNone/>
            </a:pPr>
            <a:r>
              <a:rPr b="1" lang="en-US" sz="1575">
                <a:solidFill>
                  <a:srgbClr val="12304A"/>
                </a:solidFill>
                <a:latin typeface="Helvetica Neue"/>
                <a:ea typeface="Helvetica Neue"/>
                <a:cs typeface="Helvetica Neue"/>
                <a:sym typeface="Helvetica Neue"/>
              </a:rPr>
              <a:t>ICVP or IPS</a:t>
            </a:r>
            <a:endParaRPr/>
          </a:p>
        </p:txBody>
      </p:sp>
      <p:sp>
        <p:nvSpPr>
          <p:cNvPr id="70" name="Google Shape;70;p5"/>
          <p:cNvSpPr/>
          <p:nvPr/>
        </p:nvSpPr>
        <p:spPr>
          <a:xfrm>
            <a:off x="4210050" y="4514850"/>
            <a:ext cx="2600325" cy="10382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275"/>
              <a:buFont typeface="Helvetica Neue"/>
              <a:buNone/>
            </a:pPr>
            <a:r>
              <a:rPr b="0" lang="en-US" sz="1275">
                <a:solidFill>
                  <a:srgbClr val="193044"/>
                </a:solidFill>
                <a:latin typeface="Helvetica Neue"/>
                <a:ea typeface="Helvetica Neue"/>
                <a:cs typeface="Helvetica Neue"/>
                <a:sym typeface="Helvetica Neue"/>
              </a:rPr>
              <a:t>Issue, exchange or verify only when specifications, tests and facilitators are ready</a:t>
            </a:r>
            <a:endParaRPr/>
          </a:p>
        </p:txBody>
      </p:sp>
      <p:cxnSp>
        <p:nvCxnSpPr>
          <p:cNvPr id="71" name="Google Shape;71;p5"/>
          <p:cNvCxnSpPr/>
          <p:nvPr/>
        </p:nvCxnSpPr>
        <p:spPr>
          <a:xfrm>
            <a:off x="7086600" y="2447925"/>
            <a:ext cx="704850" cy="0"/>
          </a:xfrm>
          <a:prstGeom prst="straightConnector1">
            <a:avLst/>
          </a:prstGeom>
          <a:noFill/>
          <a:ln cap="flat" cmpd="sng" w="38100">
            <a:solidFill>
              <a:srgbClr val="008C95"/>
            </a:solidFill>
            <a:prstDash val="solid"/>
            <a:round/>
            <a:headEnd len="sm" w="sm" type="none"/>
            <a:tailEnd len="sm" w="sm" type="none"/>
          </a:ln>
        </p:spPr>
      </p:cxnSp>
      <p:cxnSp>
        <p:nvCxnSpPr>
          <p:cNvPr id="72" name="Google Shape;72;p5"/>
          <p:cNvCxnSpPr/>
          <p:nvPr/>
        </p:nvCxnSpPr>
        <p:spPr>
          <a:xfrm>
            <a:off x="7086600" y="4667250"/>
            <a:ext cx="704850" cy="0"/>
          </a:xfrm>
          <a:prstGeom prst="straightConnector1">
            <a:avLst/>
          </a:prstGeom>
          <a:noFill/>
          <a:ln cap="flat" cmpd="sng" w="38100">
            <a:solidFill>
              <a:srgbClr val="E78A42"/>
            </a:solidFill>
            <a:prstDash val="solid"/>
            <a:round/>
            <a:headEnd len="sm" w="sm" type="none"/>
            <a:tailEnd len="sm" w="sm" type="none"/>
          </a:ln>
        </p:spPr>
      </p:cxnSp>
      <p:sp>
        <p:nvSpPr>
          <p:cNvPr id="73" name="Google Shape;73;p5"/>
          <p:cNvSpPr/>
          <p:nvPr/>
        </p:nvSpPr>
        <p:spPr>
          <a:xfrm>
            <a:off x="7924800" y="1581150"/>
            <a:ext cx="1790700" cy="285750"/>
          </a:xfrm>
          <a:prstGeom prst="roundRect">
            <a:avLst>
              <a:gd fmla="val 50000" name="adj"/>
            </a:avLst>
          </a:prstGeom>
          <a:solidFill>
            <a:srgbClr val="1230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74" name="Google Shape;74;p5"/>
          <p:cNvSpPr/>
          <p:nvPr/>
        </p:nvSpPr>
        <p:spPr>
          <a:xfrm>
            <a:off x="8039100" y="1628775"/>
            <a:ext cx="1562100" cy="1809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975"/>
              <a:buFont typeface="Helvetica Neue"/>
              <a:buNone/>
            </a:pPr>
            <a:r>
              <a:rPr b="1" lang="en-US" sz="975">
                <a:solidFill>
                  <a:srgbClr val="FFFFFF"/>
                </a:solidFill>
                <a:latin typeface="Helvetica Neue"/>
                <a:ea typeface="Helvetica Neue"/>
                <a:cs typeface="Helvetica Neue"/>
                <a:sym typeface="Helvetica Neue"/>
              </a:rPr>
              <a:t>ENDPOINT</a:t>
            </a:r>
            <a:endParaRPr/>
          </a:p>
        </p:txBody>
      </p:sp>
      <p:sp>
        <p:nvSpPr>
          <p:cNvPr id="75" name="Google Shape;75;p5"/>
          <p:cNvSpPr/>
          <p:nvPr/>
        </p:nvSpPr>
        <p:spPr>
          <a:xfrm>
            <a:off x="7943850" y="2038350"/>
            <a:ext cx="276225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500"/>
              <a:buFont typeface="Helvetica Neue"/>
              <a:buNone/>
            </a:pPr>
            <a:r>
              <a:rPr b="1" lang="en-US" sz="1500">
                <a:solidFill>
                  <a:srgbClr val="12304A"/>
                </a:solidFill>
                <a:latin typeface="Helvetica Neue"/>
                <a:ea typeface="Helvetica Neue"/>
                <a:cs typeface="Helvetica Neue"/>
                <a:sym typeface="Helvetica Neue"/>
              </a:rPr>
              <a:t>Validated examples</a:t>
            </a:r>
            <a:endParaRPr/>
          </a:p>
        </p:txBody>
      </p:sp>
      <p:sp>
        <p:nvSpPr>
          <p:cNvPr id="76" name="Google Shape;76;p5"/>
          <p:cNvSpPr/>
          <p:nvPr/>
        </p:nvSpPr>
        <p:spPr>
          <a:xfrm>
            <a:off x="7943850" y="2609850"/>
            <a:ext cx="276225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500"/>
              <a:buFont typeface="Helvetica Neue"/>
              <a:buNone/>
            </a:pPr>
            <a:r>
              <a:rPr b="1" lang="en-US" sz="1500">
                <a:solidFill>
                  <a:srgbClr val="12304A"/>
                </a:solidFill>
                <a:latin typeface="Helvetica Neue"/>
                <a:ea typeface="Helvetica Neue"/>
                <a:cs typeface="Helvetica Neue"/>
                <a:sym typeface="Helvetica Neue"/>
              </a:rPr>
              <a:t>Test evidence and issue log</a:t>
            </a:r>
            <a:endParaRPr/>
          </a:p>
        </p:txBody>
      </p:sp>
      <p:sp>
        <p:nvSpPr>
          <p:cNvPr id="77" name="Google Shape;77;p5"/>
          <p:cNvSpPr/>
          <p:nvPr/>
        </p:nvSpPr>
        <p:spPr>
          <a:xfrm>
            <a:off x="7943850" y="3181350"/>
            <a:ext cx="276225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500"/>
              <a:buFont typeface="Helvetica Neue"/>
              <a:buNone/>
            </a:pPr>
            <a:r>
              <a:rPr b="1" lang="en-US" sz="1500">
                <a:solidFill>
                  <a:srgbClr val="12304A"/>
                </a:solidFill>
                <a:latin typeface="Helvetica Neue"/>
                <a:ea typeface="Helvetica Neue"/>
                <a:cs typeface="Helvetica Neue"/>
                <a:sym typeface="Helvetica Neue"/>
              </a:rPr>
              <a:t>Modular demonstration</a:t>
            </a:r>
            <a:endParaRPr/>
          </a:p>
        </p:txBody>
      </p:sp>
      <p:sp>
        <p:nvSpPr>
          <p:cNvPr id="78" name="Google Shape;78;p5"/>
          <p:cNvSpPr/>
          <p:nvPr/>
        </p:nvSpPr>
        <p:spPr>
          <a:xfrm>
            <a:off x="7924800" y="3905250"/>
            <a:ext cx="3143250" cy="1409700"/>
          </a:xfrm>
          <a:prstGeom prst="roundRect">
            <a:avLst>
              <a:gd fmla="val 8108" name="adj"/>
            </a:avLst>
          </a:prstGeom>
          <a:solidFill>
            <a:srgbClr val="ECF2F8"/>
          </a:solidFill>
          <a:ln cap="flat" cmpd="sng" w="9525">
            <a:solidFill>
              <a:srgbClr val="C7D2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79" name="Google Shape;79;p5"/>
          <p:cNvSpPr/>
          <p:nvPr/>
        </p:nvSpPr>
        <p:spPr>
          <a:xfrm>
            <a:off x="8134350" y="4114800"/>
            <a:ext cx="2714625"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B78A6"/>
              </a:buClr>
              <a:buSzPts val="1125"/>
              <a:buFont typeface="Helvetica Neue"/>
              <a:buNone/>
            </a:pPr>
            <a:r>
              <a:rPr b="1" lang="en-US" sz="1125">
                <a:solidFill>
                  <a:srgbClr val="4B78A6"/>
                </a:solidFill>
                <a:latin typeface="Helvetica Neue"/>
                <a:ea typeface="Helvetica Neue"/>
                <a:cs typeface="Helvetica Neue"/>
                <a:sym typeface="Helvetica Neue"/>
              </a:rPr>
              <a:t>NO PRODUCTION CONNECTIONS</a:t>
            </a:r>
            <a:endParaRPr/>
          </a:p>
        </p:txBody>
      </p:sp>
      <p:sp>
        <p:nvSpPr>
          <p:cNvPr id="80" name="Google Shape;80;p5"/>
          <p:cNvSpPr/>
          <p:nvPr/>
        </p:nvSpPr>
        <p:spPr>
          <a:xfrm>
            <a:off x="8134350" y="4495800"/>
            <a:ext cx="2667000" cy="571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500"/>
              <a:buFont typeface="Helvetica Neue"/>
              <a:buNone/>
            </a:pPr>
            <a:r>
              <a:rPr b="1" lang="en-US" sz="1500">
                <a:solidFill>
                  <a:srgbClr val="12304A"/>
                </a:solidFill>
                <a:latin typeface="Helvetica Neue"/>
                <a:ea typeface="Helvetica Neue"/>
                <a:cs typeface="Helvetica Neue"/>
                <a:sym typeface="Helvetica Neue"/>
              </a:rPr>
              <a:t>Country systems may join only through an optional, pre-rehearsed test.</a:t>
            </a:r>
            <a:endParaRPr/>
          </a:p>
        </p:txBody>
      </p:sp>
      <p:cxnSp>
        <p:nvCxnSpPr>
          <p:cNvPr id="81" name="Google Shape;81;p5"/>
          <p:cNvCxnSpPr/>
          <p:nvPr/>
        </p:nvCxnSpPr>
        <p:spPr>
          <a:xfrm>
            <a:off x="609600" y="6477000"/>
            <a:ext cx="10972800" cy="0"/>
          </a:xfrm>
          <a:prstGeom prst="straightConnector1">
            <a:avLst/>
          </a:prstGeom>
          <a:noFill/>
          <a:ln cap="flat" cmpd="sng" w="9525">
            <a:solidFill>
              <a:srgbClr val="C7D2D9"/>
            </a:solidFill>
            <a:prstDash val="solid"/>
            <a:round/>
            <a:headEnd len="sm" w="sm" type="none"/>
            <a:tailEnd len="sm" w="sm" type="none"/>
          </a:ln>
        </p:spPr>
      </p:cxnSp>
      <p:sp>
        <p:nvSpPr>
          <p:cNvPr id="82" name="Google Shape;82;p5"/>
          <p:cNvSpPr/>
          <p:nvPr/>
        </p:nvSpPr>
        <p:spPr>
          <a:xfrm>
            <a:off x="609600" y="6553200"/>
            <a:ext cx="8572500" cy="190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6D7A"/>
              </a:buClr>
              <a:buSzPts val="900"/>
              <a:buFont typeface="Helvetica Neue"/>
              <a:buNone/>
            </a:pPr>
            <a:r>
              <a:rPr b="0" lang="en-US" sz="900">
                <a:solidFill>
                  <a:srgbClr val="5A6D7A"/>
                </a:solidFill>
                <a:latin typeface="Helvetica Neue"/>
                <a:ea typeface="Helvetica Neue"/>
                <a:cs typeface="Helvetica Neue"/>
                <a:sym typeface="Helvetica Neue"/>
              </a:rPr>
              <a:t>Thailand technologist workstream, partner preparation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1E8"/>
        </a:solidFill>
      </p:bgPr>
    </p:bg>
    <p:spTree>
      <p:nvGrpSpPr>
        <p:cNvPr id="87" name="Shape 87"/>
        <p:cNvGrpSpPr/>
        <p:nvPr/>
      </p:nvGrpSpPr>
      <p:grpSpPr>
        <a:xfrm>
          <a:off x="0" y="0"/>
          <a:ext cx="0" cy="0"/>
          <a:chOff x="0" y="0"/>
          <a:chExt cx="0" cy="0"/>
        </a:xfrm>
      </p:grpSpPr>
      <p:sp>
        <p:nvSpPr>
          <p:cNvPr id="88" name="Google Shape;88;p6"/>
          <p:cNvSpPr/>
          <p:nvPr/>
        </p:nvSpPr>
        <p:spPr>
          <a:xfrm>
            <a:off x="609600" y="361950"/>
            <a:ext cx="10382250" cy="495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2550"/>
              <a:buFont typeface="Helvetica Neue"/>
              <a:buNone/>
            </a:pPr>
            <a:r>
              <a:rPr b="1" lang="en-US" sz="2550">
                <a:solidFill>
                  <a:srgbClr val="12304A"/>
                </a:solidFill>
                <a:latin typeface="Helvetica Neue"/>
                <a:ea typeface="Helvetica Neue"/>
                <a:cs typeface="Helvetica Neue"/>
                <a:sym typeface="Helvetica Neue"/>
              </a:rPr>
              <a:t>Agenda at a glance</a:t>
            </a:r>
            <a:endParaRPr/>
          </a:p>
        </p:txBody>
      </p:sp>
      <p:sp>
        <p:nvSpPr>
          <p:cNvPr id="89" name="Google Shape;89;p6"/>
          <p:cNvSpPr/>
          <p:nvPr/>
        </p:nvSpPr>
        <p:spPr>
          <a:xfrm>
            <a:off x="628650" y="885825"/>
            <a:ext cx="1038225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6D7A"/>
              </a:buClr>
              <a:buSzPts val="1350"/>
              <a:buFont typeface="Helvetica Neue"/>
              <a:buNone/>
            </a:pPr>
            <a:r>
              <a:rPr b="0" lang="en-US" sz="1350">
                <a:solidFill>
                  <a:srgbClr val="5A6D7A"/>
                </a:solidFill>
                <a:latin typeface="Helvetica Neue"/>
                <a:ea typeface="Helvetica Neue"/>
                <a:cs typeface="Helvetica Neue"/>
                <a:sym typeface="Helvetica Neue"/>
              </a:rPr>
              <a:t>Five stages move the cohort from shared foundations to one connected demonstration</a:t>
            </a:r>
            <a:endParaRPr/>
          </a:p>
        </p:txBody>
      </p:sp>
      <p:sp>
        <p:nvSpPr>
          <p:cNvPr id="90" name="Google Shape;90;p6"/>
          <p:cNvSpPr/>
          <p:nvPr/>
        </p:nvSpPr>
        <p:spPr>
          <a:xfrm>
            <a:off x="609600" y="1257300"/>
            <a:ext cx="876300" cy="47625"/>
          </a:xfrm>
          <a:prstGeom prst="rect">
            <a:avLst/>
          </a:prstGeom>
          <a:solidFill>
            <a:srgbClr val="008C9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91" name="Google Shape;91;p6"/>
          <p:cNvSpPr/>
          <p:nvPr/>
        </p:nvSpPr>
        <p:spPr>
          <a:xfrm>
            <a:off x="11201400" y="457200"/>
            <a:ext cx="4572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8C95"/>
              </a:buClr>
              <a:buSzPts val="1050"/>
              <a:buFont typeface="Helvetica Neue"/>
              <a:buNone/>
            </a:pPr>
            <a:r>
              <a:rPr b="1" lang="en-US" sz="1050">
                <a:solidFill>
                  <a:srgbClr val="008C95"/>
                </a:solidFill>
                <a:latin typeface="Helvetica Neue"/>
                <a:ea typeface="Helvetica Neue"/>
                <a:cs typeface="Helvetica Neue"/>
                <a:sym typeface="Helvetica Neue"/>
              </a:rPr>
              <a:t>04</a:t>
            </a:r>
            <a:endParaRPr/>
          </a:p>
        </p:txBody>
      </p:sp>
      <p:sp>
        <p:nvSpPr>
          <p:cNvPr id="92" name="Google Shape;92;p6"/>
          <p:cNvSpPr/>
          <p:nvPr/>
        </p:nvSpPr>
        <p:spPr>
          <a:xfrm>
            <a:off x="742950" y="1771650"/>
            <a:ext cx="1714500" cy="2857500"/>
          </a:xfrm>
          <a:prstGeom prst="roundRect">
            <a:avLst>
              <a:gd fmla="val 6667" name="adj"/>
            </a:avLst>
          </a:prstGeom>
          <a:solidFill>
            <a:srgbClr val="ECF2F8"/>
          </a:solidFill>
          <a:ln cap="flat" cmpd="sng" w="9525">
            <a:solidFill>
              <a:srgbClr val="C7D2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93" name="Google Shape;93;p6"/>
          <p:cNvSpPr/>
          <p:nvPr/>
        </p:nvSpPr>
        <p:spPr>
          <a:xfrm>
            <a:off x="742950" y="1771650"/>
            <a:ext cx="1714500" cy="95250"/>
          </a:xfrm>
          <a:prstGeom prst="roundRect">
            <a:avLst>
              <a:gd fmla="val 50000" name="adj"/>
            </a:avLst>
          </a:prstGeom>
          <a:solidFill>
            <a:srgbClr val="008C9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94" name="Google Shape;94;p6"/>
          <p:cNvSpPr/>
          <p:nvPr/>
        </p:nvSpPr>
        <p:spPr>
          <a:xfrm>
            <a:off x="895350" y="2019300"/>
            <a:ext cx="361950" cy="38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8C95"/>
              </a:buClr>
              <a:buSzPts val="2100"/>
              <a:buFont typeface="Helvetica Neue"/>
              <a:buNone/>
            </a:pPr>
            <a:r>
              <a:rPr b="1" lang="en-US" sz="2100">
                <a:solidFill>
                  <a:srgbClr val="008C95"/>
                </a:solidFill>
                <a:latin typeface="Helvetica Neue"/>
                <a:ea typeface="Helvetica Neue"/>
                <a:cs typeface="Helvetica Neue"/>
                <a:sym typeface="Helvetica Neue"/>
              </a:rPr>
              <a:t>1</a:t>
            </a:r>
            <a:endParaRPr/>
          </a:p>
        </p:txBody>
      </p:sp>
      <p:sp>
        <p:nvSpPr>
          <p:cNvPr id="95" name="Google Shape;95;p6"/>
          <p:cNvSpPr/>
          <p:nvPr/>
        </p:nvSpPr>
        <p:spPr>
          <a:xfrm>
            <a:off x="895350" y="2533650"/>
            <a:ext cx="1428750" cy="552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500"/>
              <a:buFont typeface="Helvetica Neue"/>
              <a:buNone/>
            </a:pPr>
            <a:r>
              <a:rPr b="1" lang="en-US" sz="1500">
                <a:solidFill>
                  <a:srgbClr val="12304A"/>
                </a:solidFill>
                <a:latin typeface="Helvetica Neue"/>
                <a:ea typeface="Helvetica Neue"/>
                <a:cs typeface="Helvetica Neue"/>
                <a:sym typeface="Helvetica Neue"/>
              </a:rPr>
              <a:t>Framing</a:t>
            </a:r>
            <a:endParaRPr/>
          </a:p>
        </p:txBody>
      </p:sp>
      <p:sp>
        <p:nvSpPr>
          <p:cNvPr id="96" name="Google Shape;96;p6"/>
          <p:cNvSpPr/>
          <p:nvPr/>
        </p:nvSpPr>
        <p:spPr>
          <a:xfrm>
            <a:off x="895350" y="3219450"/>
            <a:ext cx="1428750" cy="1123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200"/>
              <a:buFont typeface="Helvetica Neue"/>
              <a:buNone/>
            </a:pPr>
            <a:r>
              <a:rPr b="0" lang="en-US" sz="1200">
                <a:solidFill>
                  <a:srgbClr val="193044"/>
                </a:solidFill>
                <a:latin typeface="Helvetica Neue"/>
                <a:ea typeface="Helvetica Neue"/>
                <a:cs typeface="Helvetica Neue"/>
                <a:sym typeface="Helvetica Neue"/>
              </a:rPr>
              <a:t>Use case</a:t>
            </a:r>
            <a:endParaRPr/>
          </a:p>
          <a:p>
            <a:pPr indent="0" lvl="0" marL="0" marR="0" rtl="0" algn="l">
              <a:spcBef>
                <a:spcPts val="0"/>
              </a:spcBef>
              <a:spcAft>
                <a:spcPts val="0"/>
              </a:spcAft>
              <a:buClr>
                <a:srgbClr val="193044"/>
              </a:buClr>
              <a:buSzPts val="1200"/>
              <a:buFont typeface="Helvetica Neue"/>
              <a:buNone/>
            </a:pPr>
            <a:r>
              <a:rPr b="0" lang="en-US" sz="1200">
                <a:solidFill>
                  <a:srgbClr val="193044"/>
                </a:solidFill>
                <a:latin typeface="Helvetica Neue"/>
                <a:ea typeface="Helvetica Neue"/>
                <a:cs typeface="Helvetica Neue"/>
                <a:sym typeface="Helvetica Neue"/>
              </a:rPr>
              <a:t>FHIR in architecture</a:t>
            </a:r>
            <a:endParaRPr/>
          </a:p>
          <a:p>
            <a:pPr indent="0" lvl="0" marL="0" marR="0" rtl="0" algn="l">
              <a:spcBef>
                <a:spcPts val="0"/>
              </a:spcBef>
              <a:spcAft>
                <a:spcPts val="0"/>
              </a:spcAft>
              <a:buClr>
                <a:srgbClr val="193044"/>
              </a:buClr>
              <a:buSzPts val="1200"/>
              <a:buFont typeface="Helvetica Neue"/>
              <a:buNone/>
            </a:pPr>
            <a:r>
              <a:rPr b="0" lang="en-US" sz="1200">
                <a:solidFill>
                  <a:srgbClr val="193044"/>
                </a:solidFill>
                <a:latin typeface="Helvetica Neue"/>
                <a:ea typeface="Helvetica Neue"/>
                <a:cs typeface="Helvetica Neue"/>
                <a:sym typeface="Helvetica Neue"/>
              </a:rPr>
              <a:t>IG governance</a:t>
            </a:r>
            <a:endParaRPr/>
          </a:p>
        </p:txBody>
      </p:sp>
      <p:cxnSp>
        <p:nvCxnSpPr>
          <p:cNvPr id="97" name="Google Shape;97;p6"/>
          <p:cNvCxnSpPr/>
          <p:nvPr/>
        </p:nvCxnSpPr>
        <p:spPr>
          <a:xfrm>
            <a:off x="2457450" y="3200400"/>
            <a:ext cx="266700" cy="0"/>
          </a:xfrm>
          <a:prstGeom prst="straightConnector1">
            <a:avLst/>
          </a:prstGeom>
          <a:noFill/>
          <a:ln cap="flat" cmpd="sng" w="28575">
            <a:solidFill>
              <a:srgbClr val="C7D2D9"/>
            </a:solidFill>
            <a:prstDash val="solid"/>
            <a:round/>
            <a:headEnd len="sm" w="sm" type="none"/>
            <a:tailEnd len="sm" w="sm" type="none"/>
          </a:ln>
        </p:spPr>
      </p:cxnSp>
      <p:sp>
        <p:nvSpPr>
          <p:cNvPr id="98" name="Google Shape;98;p6"/>
          <p:cNvSpPr/>
          <p:nvPr/>
        </p:nvSpPr>
        <p:spPr>
          <a:xfrm>
            <a:off x="2724150" y="1771650"/>
            <a:ext cx="1714500" cy="2857500"/>
          </a:xfrm>
          <a:prstGeom prst="roundRect">
            <a:avLst>
              <a:gd fmla="val 6667" name="adj"/>
            </a:avLst>
          </a:prstGeom>
          <a:solidFill>
            <a:srgbClr val="FFFFFF"/>
          </a:solidFill>
          <a:ln cap="flat" cmpd="sng" w="9525">
            <a:solidFill>
              <a:srgbClr val="C7D2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99" name="Google Shape;99;p6"/>
          <p:cNvSpPr/>
          <p:nvPr/>
        </p:nvSpPr>
        <p:spPr>
          <a:xfrm>
            <a:off x="2724150" y="1771650"/>
            <a:ext cx="1714500" cy="95250"/>
          </a:xfrm>
          <a:prstGeom prst="roundRect">
            <a:avLst>
              <a:gd fmla="val 50000" name="adj"/>
            </a:avLst>
          </a:prstGeom>
          <a:solidFill>
            <a:srgbClr val="008C9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00" name="Google Shape;100;p6"/>
          <p:cNvSpPr/>
          <p:nvPr/>
        </p:nvSpPr>
        <p:spPr>
          <a:xfrm>
            <a:off x="2876550" y="2019300"/>
            <a:ext cx="361950" cy="38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8C95"/>
              </a:buClr>
              <a:buSzPts val="2100"/>
              <a:buFont typeface="Helvetica Neue"/>
              <a:buNone/>
            </a:pPr>
            <a:r>
              <a:rPr b="1" lang="en-US" sz="2100">
                <a:solidFill>
                  <a:srgbClr val="008C95"/>
                </a:solidFill>
                <a:latin typeface="Helvetica Neue"/>
                <a:ea typeface="Helvetica Neue"/>
                <a:cs typeface="Helvetica Neue"/>
                <a:sym typeface="Helvetica Neue"/>
              </a:rPr>
              <a:t>2</a:t>
            </a:r>
            <a:endParaRPr/>
          </a:p>
        </p:txBody>
      </p:sp>
      <p:sp>
        <p:nvSpPr>
          <p:cNvPr id="101" name="Google Shape;101;p6"/>
          <p:cNvSpPr/>
          <p:nvPr/>
        </p:nvSpPr>
        <p:spPr>
          <a:xfrm>
            <a:off x="2876550" y="2533650"/>
            <a:ext cx="1428750" cy="552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500"/>
              <a:buFont typeface="Helvetica Neue"/>
              <a:buNone/>
            </a:pPr>
            <a:r>
              <a:rPr b="1" lang="en-US" sz="1500">
                <a:solidFill>
                  <a:srgbClr val="12304A"/>
                </a:solidFill>
                <a:latin typeface="Helvetica Neue"/>
                <a:ea typeface="Helvetica Neue"/>
                <a:cs typeface="Helvetica Neue"/>
                <a:sym typeface="Helvetica Neue"/>
              </a:rPr>
              <a:t>Foundations</a:t>
            </a:r>
            <a:endParaRPr/>
          </a:p>
        </p:txBody>
      </p:sp>
      <p:sp>
        <p:nvSpPr>
          <p:cNvPr id="102" name="Google Shape;102;p6"/>
          <p:cNvSpPr/>
          <p:nvPr/>
        </p:nvSpPr>
        <p:spPr>
          <a:xfrm>
            <a:off x="2876550" y="3219450"/>
            <a:ext cx="1428750" cy="1123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200"/>
              <a:buFont typeface="Helvetica Neue"/>
              <a:buNone/>
            </a:pPr>
            <a:r>
              <a:rPr b="0" lang="en-US" sz="1200">
                <a:solidFill>
                  <a:srgbClr val="193044"/>
                </a:solidFill>
                <a:latin typeface="Helvetica Neue"/>
                <a:ea typeface="Helvetica Neue"/>
                <a:cs typeface="Helvetica Neue"/>
                <a:sym typeface="Helvetica Neue"/>
              </a:rPr>
              <a:t>Resources and profiles</a:t>
            </a:r>
            <a:endParaRPr/>
          </a:p>
          <a:p>
            <a:pPr indent="0" lvl="0" marL="0" marR="0" rtl="0" algn="l">
              <a:spcBef>
                <a:spcPts val="0"/>
              </a:spcBef>
              <a:spcAft>
                <a:spcPts val="0"/>
              </a:spcAft>
              <a:buClr>
                <a:srgbClr val="193044"/>
              </a:buClr>
              <a:buSzPts val="1200"/>
              <a:buFont typeface="Helvetica Neue"/>
              <a:buNone/>
            </a:pPr>
            <a:r>
              <a:rPr b="0" lang="en-US" sz="1200">
                <a:solidFill>
                  <a:srgbClr val="193044"/>
                </a:solidFill>
                <a:latin typeface="Helvetica Neue"/>
                <a:ea typeface="Helvetica Neue"/>
                <a:cs typeface="Helvetica Neue"/>
                <a:sym typeface="Helvetica Neue"/>
              </a:rPr>
              <a:t>Terminology</a:t>
            </a:r>
            <a:endParaRPr/>
          </a:p>
          <a:p>
            <a:pPr indent="0" lvl="0" marL="0" marR="0" rtl="0" algn="l">
              <a:spcBef>
                <a:spcPts val="0"/>
              </a:spcBef>
              <a:spcAft>
                <a:spcPts val="0"/>
              </a:spcAft>
              <a:buClr>
                <a:srgbClr val="193044"/>
              </a:buClr>
              <a:buSzPts val="1200"/>
              <a:buFont typeface="Helvetica Neue"/>
              <a:buNone/>
            </a:pPr>
            <a:r>
              <a:rPr b="0" lang="en-US" sz="1200">
                <a:solidFill>
                  <a:srgbClr val="193044"/>
                </a:solidFill>
                <a:latin typeface="Helvetica Neue"/>
                <a:ea typeface="Helvetica Neue"/>
                <a:cs typeface="Helvetica Neue"/>
                <a:sym typeface="Helvetica Neue"/>
              </a:rPr>
              <a:t>Validation</a:t>
            </a:r>
            <a:endParaRPr/>
          </a:p>
        </p:txBody>
      </p:sp>
      <p:cxnSp>
        <p:nvCxnSpPr>
          <p:cNvPr id="103" name="Google Shape;103;p6"/>
          <p:cNvCxnSpPr/>
          <p:nvPr/>
        </p:nvCxnSpPr>
        <p:spPr>
          <a:xfrm>
            <a:off x="4438650" y="3200400"/>
            <a:ext cx="266700" cy="0"/>
          </a:xfrm>
          <a:prstGeom prst="straightConnector1">
            <a:avLst/>
          </a:prstGeom>
          <a:noFill/>
          <a:ln cap="flat" cmpd="sng" w="28575">
            <a:solidFill>
              <a:srgbClr val="C7D2D9"/>
            </a:solidFill>
            <a:prstDash val="solid"/>
            <a:round/>
            <a:headEnd len="sm" w="sm" type="none"/>
            <a:tailEnd len="sm" w="sm" type="none"/>
          </a:ln>
        </p:spPr>
      </p:cxnSp>
      <p:sp>
        <p:nvSpPr>
          <p:cNvPr id="104" name="Google Shape;104;p6"/>
          <p:cNvSpPr/>
          <p:nvPr/>
        </p:nvSpPr>
        <p:spPr>
          <a:xfrm>
            <a:off x="4705350" y="1771650"/>
            <a:ext cx="1714500" cy="2857500"/>
          </a:xfrm>
          <a:prstGeom prst="roundRect">
            <a:avLst>
              <a:gd fmla="val 6667" name="adj"/>
            </a:avLst>
          </a:prstGeom>
          <a:solidFill>
            <a:srgbClr val="ECF2F8"/>
          </a:solidFill>
          <a:ln cap="flat" cmpd="sng" w="9525">
            <a:solidFill>
              <a:srgbClr val="C7D2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05" name="Google Shape;105;p6"/>
          <p:cNvSpPr/>
          <p:nvPr/>
        </p:nvSpPr>
        <p:spPr>
          <a:xfrm>
            <a:off x="4705350" y="1771650"/>
            <a:ext cx="1714500" cy="95250"/>
          </a:xfrm>
          <a:prstGeom prst="roundRect">
            <a:avLst>
              <a:gd fmla="val 50000" name="adj"/>
            </a:avLst>
          </a:prstGeom>
          <a:solidFill>
            <a:srgbClr val="4B78A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06" name="Google Shape;106;p6"/>
          <p:cNvSpPr/>
          <p:nvPr/>
        </p:nvSpPr>
        <p:spPr>
          <a:xfrm>
            <a:off x="4857750" y="2019300"/>
            <a:ext cx="361950" cy="38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B78A6"/>
              </a:buClr>
              <a:buSzPts val="2100"/>
              <a:buFont typeface="Helvetica Neue"/>
              <a:buNone/>
            </a:pPr>
            <a:r>
              <a:rPr b="1" lang="en-US" sz="2100">
                <a:solidFill>
                  <a:srgbClr val="4B78A6"/>
                </a:solidFill>
                <a:latin typeface="Helvetica Neue"/>
                <a:ea typeface="Helvetica Neue"/>
                <a:cs typeface="Helvetica Neue"/>
                <a:sym typeface="Helvetica Neue"/>
              </a:rPr>
              <a:t>3</a:t>
            </a:r>
            <a:endParaRPr/>
          </a:p>
        </p:txBody>
      </p:sp>
      <p:sp>
        <p:nvSpPr>
          <p:cNvPr id="107" name="Google Shape;107;p6"/>
          <p:cNvSpPr/>
          <p:nvPr/>
        </p:nvSpPr>
        <p:spPr>
          <a:xfrm>
            <a:off x="4857750" y="2533650"/>
            <a:ext cx="1428750" cy="552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500"/>
              <a:buFont typeface="Helvetica Neue"/>
              <a:buNone/>
            </a:pPr>
            <a:r>
              <a:rPr b="1" lang="en-US" sz="1500">
                <a:solidFill>
                  <a:srgbClr val="12304A"/>
                </a:solidFill>
                <a:latin typeface="Helvetica Neue"/>
                <a:ea typeface="Helvetica Neue"/>
                <a:cs typeface="Helvetica Neue"/>
                <a:sym typeface="Helvetica Neue"/>
              </a:rPr>
              <a:t>Mapping</a:t>
            </a:r>
            <a:endParaRPr/>
          </a:p>
        </p:txBody>
      </p:sp>
      <p:sp>
        <p:nvSpPr>
          <p:cNvPr id="108" name="Google Shape;108;p6"/>
          <p:cNvSpPr/>
          <p:nvPr/>
        </p:nvSpPr>
        <p:spPr>
          <a:xfrm>
            <a:off x="4857750" y="3219450"/>
            <a:ext cx="1428750" cy="1123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200"/>
              <a:buFont typeface="Helvetica Neue"/>
              <a:buNone/>
            </a:pPr>
            <a:r>
              <a:rPr b="0" lang="en-US" sz="1200">
                <a:solidFill>
                  <a:srgbClr val="193044"/>
                </a:solidFill>
                <a:latin typeface="Helvetica Neue"/>
                <a:ea typeface="Helvetica Neue"/>
                <a:cs typeface="Helvetica Neue"/>
                <a:sym typeface="Helvetica Neue"/>
              </a:rPr>
              <a:t>Source schema</a:t>
            </a:r>
            <a:endParaRPr/>
          </a:p>
          <a:p>
            <a:pPr indent="0" lvl="0" marL="0" marR="0" rtl="0" algn="l">
              <a:spcBef>
                <a:spcPts val="0"/>
              </a:spcBef>
              <a:spcAft>
                <a:spcPts val="0"/>
              </a:spcAft>
              <a:buClr>
                <a:srgbClr val="193044"/>
              </a:buClr>
              <a:buSzPts val="1200"/>
              <a:buFont typeface="Helvetica Neue"/>
              <a:buNone/>
            </a:pPr>
            <a:r>
              <a:rPr b="0" lang="en-US" sz="1200">
                <a:solidFill>
                  <a:srgbClr val="193044"/>
                </a:solidFill>
                <a:latin typeface="Helvetica Neue"/>
                <a:ea typeface="Helvetica Neue"/>
                <a:cs typeface="Helvetica Neue"/>
                <a:sym typeface="Helvetica Neue"/>
              </a:rPr>
              <a:t>Transformations</a:t>
            </a:r>
            <a:endParaRPr/>
          </a:p>
          <a:p>
            <a:pPr indent="0" lvl="0" marL="0" marR="0" rtl="0" algn="l">
              <a:spcBef>
                <a:spcPts val="0"/>
              </a:spcBef>
              <a:spcAft>
                <a:spcPts val="0"/>
              </a:spcAft>
              <a:buClr>
                <a:srgbClr val="193044"/>
              </a:buClr>
              <a:buSzPts val="1200"/>
              <a:buFont typeface="Helvetica Neue"/>
              <a:buNone/>
            </a:pPr>
            <a:r>
              <a:rPr b="0" lang="en-US" sz="1200">
                <a:solidFill>
                  <a:srgbClr val="193044"/>
                </a:solidFill>
                <a:latin typeface="Helvetica Neue"/>
                <a:ea typeface="Helvetica Neue"/>
                <a:cs typeface="Helvetica Neue"/>
                <a:sym typeface="Helvetica Neue"/>
              </a:rPr>
              <a:t>Expected outputs</a:t>
            </a:r>
            <a:endParaRPr/>
          </a:p>
        </p:txBody>
      </p:sp>
      <p:cxnSp>
        <p:nvCxnSpPr>
          <p:cNvPr id="109" name="Google Shape;109;p6"/>
          <p:cNvCxnSpPr/>
          <p:nvPr/>
        </p:nvCxnSpPr>
        <p:spPr>
          <a:xfrm>
            <a:off x="6419850" y="3200400"/>
            <a:ext cx="266700" cy="0"/>
          </a:xfrm>
          <a:prstGeom prst="straightConnector1">
            <a:avLst/>
          </a:prstGeom>
          <a:noFill/>
          <a:ln cap="flat" cmpd="sng" w="28575">
            <a:solidFill>
              <a:srgbClr val="C7D2D9"/>
            </a:solidFill>
            <a:prstDash val="solid"/>
            <a:round/>
            <a:headEnd len="sm" w="sm" type="none"/>
            <a:tailEnd len="sm" w="sm" type="none"/>
          </a:ln>
        </p:spPr>
      </p:cxnSp>
      <p:sp>
        <p:nvSpPr>
          <p:cNvPr id="110" name="Google Shape;110;p6"/>
          <p:cNvSpPr/>
          <p:nvPr/>
        </p:nvSpPr>
        <p:spPr>
          <a:xfrm>
            <a:off x="6686550" y="1771650"/>
            <a:ext cx="1714500" cy="2857500"/>
          </a:xfrm>
          <a:prstGeom prst="roundRect">
            <a:avLst>
              <a:gd fmla="val 6667" name="adj"/>
            </a:avLst>
          </a:prstGeom>
          <a:solidFill>
            <a:srgbClr val="FFFFFF"/>
          </a:solidFill>
          <a:ln cap="flat" cmpd="sng" w="9525">
            <a:solidFill>
              <a:srgbClr val="C7D2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11" name="Google Shape;111;p6"/>
          <p:cNvSpPr/>
          <p:nvPr/>
        </p:nvSpPr>
        <p:spPr>
          <a:xfrm>
            <a:off x="6686550" y="1771650"/>
            <a:ext cx="1714500" cy="95250"/>
          </a:xfrm>
          <a:prstGeom prst="roundRect">
            <a:avLst>
              <a:gd fmla="val 50000" name="adj"/>
            </a:avLst>
          </a:prstGeom>
          <a:solidFill>
            <a:srgbClr val="4B78A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12" name="Google Shape;112;p6"/>
          <p:cNvSpPr/>
          <p:nvPr/>
        </p:nvSpPr>
        <p:spPr>
          <a:xfrm>
            <a:off x="6838950" y="2019300"/>
            <a:ext cx="361950" cy="38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B78A6"/>
              </a:buClr>
              <a:buSzPts val="2100"/>
              <a:buFont typeface="Helvetica Neue"/>
              <a:buNone/>
            </a:pPr>
            <a:r>
              <a:rPr b="1" lang="en-US" sz="2100">
                <a:solidFill>
                  <a:srgbClr val="4B78A6"/>
                </a:solidFill>
                <a:latin typeface="Helvetica Neue"/>
                <a:ea typeface="Helvetica Neue"/>
                <a:cs typeface="Helvetica Neue"/>
                <a:sym typeface="Helvetica Neue"/>
              </a:rPr>
              <a:t>4</a:t>
            </a:r>
            <a:endParaRPr/>
          </a:p>
        </p:txBody>
      </p:sp>
      <p:sp>
        <p:nvSpPr>
          <p:cNvPr id="113" name="Google Shape;113;p6"/>
          <p:cNvSpPr/>
          <p:nvPr/>
        </p:nvSpPr>
        <p:spPr>
          <a:xfrm>
            <a:off x="6838950" y="2533650"/>
            <a:ext cx="1428750" cy="552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500"/>
              <a:buFont typeface="Helvetica Neue"/>
              <a:buNone/>
            </a:pPr>
            <a:r>
              <a:rPr b="1" lang="en-US" sz="1500">
                <a:solidFill>
                  <a:srgbClr val="12304A"/>
                </a:solidFill>
                <a:latin typeface="Helvetica Neue"/>
                <a:ea typeface="Helvetica Neue"/>
                <a:cs typeface="Helvetica Neue"/>
                <a:sym typeface="Helvetica Neue"/>
              </a:rPr>
              <a:t>Practicum</a:t>
            </a:r>
            <a:endParaRPr/>
          </a:p>
        </p:txBody>
      </p:sp>
      <p:sp>
        <p:nvSpPr>
          <p:cNvPr id="114" name="Google Shape;114;p6"/>
          <p:cNvSpPr/>
          <p:nvPr/>
        </p:nvSpPr>
        <p:spPr>
          <a:xfrm>
            <a:off x="6838950" y="3219450"/>
            <a:ext cx="1428750" cy="1123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200"/>
              <a:buFont typeface="Helvetica Neue"/>
              <a:buNone/>
            </a:pPr>
            <a:r>
              <a:rPr b="0" lang="en-US" sz="1200">
                <a:solidFill>
                  <a:srgbClr val="193044"/>
                </a:solidFill>
                <a:latin typeface="Helvetica Neue"/>
                <a:ea typeface="Helvetica Neue"/>
                <a:cs typeface="Helvetica Neue"/>
                <a:sym typeface="Helvetica Neue"/>
              </a:rPr>
              <a:t>Open components</a:t>
            </a:r>
            <a:endParaRPr/>
          </a:p>
          <a:p>
            <a:pPr indent="0" lvl="0" marL="0" marR="0" rtl="0" algn="l">
              <a:spcBef>
                <a:spcPts val="0"/>
              </a:spcBef>
              <a:spcAft>
                <a:spcPts val="0"/>
              </a:spcAft>
              <a:buClr>
                <a:srgbClr val="193044"/>
              </a:buClr>
              <a:buSzPts val="1200"/>
              <a:buFont typeface="Helvetica Neue"/>
              <a:buNone/>
            </a:pPr>
            <a:r>
              <a:rPr b="0" lang="en-US" sz="1200">
                <a:solidFill>
                  <a:srgbClr val="193044"/>
                </a:solidFill>
                <a:latin typeface="Helvetica Neue"/>
                <a:ea typeface="Helvetica Neue"/>
                <a:cs typeface="Helvetica Neue"/>
                <a:sym typeface="Helvetica Neue"/>
              </a:rPr>
              <a:t>FHIR tests</a:t>
            </a:r>
            <a:endParaRPr/>
          </a:p>
          <a:p>
            <a:pPr indent="0" lvl="0" marL="0" marR="0" rtl="0" algn="l">
              <a:spcBef>
                <a:spcPts val="0"/>
              </a:spcBef>
              <a:spcAft>
                <a:spcPts val="0"/>
              </a:spcAft>
              <a:buClr>
                <a:srgbClr val="193044"/>
              </a:buClr>
              <a:buSzPts val="1200"/>
              <a:buFont typeface="Helvetica Neue"/>
              <a:buNone/>
            </a:pPr>
            <a:r>
              <a:rPr b="0" lang="en-US" sz="1200">
                <a:solidFill>
                  <a:srgbClr val="193044"/>
                </a:solidFill>
                <a:latin typeface="Helvetica Neue"/>
                <a:ea typeface="Helvetica Neue"/>
                <a:cs typeface="Helvetica Neue"/>
                <a:sym typeface="Helvetica Neue"/>
              </a:rPr>
              <a:t>Troubleshooting</a:t>
            </a:r>
            <a:endParaRPr/>
          </a:p>
        </p:txBody>
      </p:sp>
      <p:cxnSp>
        <p:nvCxnSpPr>
          <p:cNvPr id="115" name="Google Shape;115;p6"/>
          <p:cNvCxnSpPr/>
          <p:nvPr/>
        </p:nvCxnSpPr>
        <p:spPr>
          <a:xfrm>
            <a:off x="8401050" y="3200400"/>
            <a:ext cx="266700" cy="0"/>
          </a:xfrm>
          <a:prstGeom prst="straightConnector1">
            <a:avLst/>
          </a:prstGeom>
          <a:noFill/>
          <a:ln cap="flat" cmpd="sng" w="28575">
            <a:solidFill>
              <a:srgbClr val="C7D2D9"/>
            </a:solidFill>
            <a:prstDash val="solid"/>
            <a:round/>
            <a:headEnd len="sm" w="sm" type="none"/>
            <a:tailEnd len="sm" w="sm" type="none"/>
          </a:ln>
        </p:spPr>
      </p:cxnSp>
      <p:sp>
        <p:nvSpPr>
          <p:cNvPr id="116" name="Google Shape;116;p6"/>
          <p:cNvSpPr/>
          <p:nvPr/>
        </p:nvSpPr>
        <p:spPr>
          <a:xfrm>
            <a:off x="8667750" y="1771650"/>
            <a:ext cx="1714500" cy="2857500"/>
          </a:xfrm>
          <a:prstGeom prst="roundRect">
            <a:avLst>
              <a:gd fmla="val 6667" name="adj"/>
            </a:avLst>
          </a:prstGeom>
          <a:solidFill>
            <a:srgbClr val="ECF2F8"/>
          </a:solidFill>
          <a:ln cap="flat" cmpd="sng" w="9525">
            <a:solidFill>
              <a:srgbClr val="C7D2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17" name="Google Shape;117;p6"/>
          <p:cNvSpPr/>
          <p:nvPr/>
        </p:nvSpPr>
        <p:spPr>
          <a:xfrm>
            <a:off x="8667750" y="1771650"/>
            <a:ext cx="1714500" cy="95250"/>
          </a:xfrm>
          <a:prstGeom prst="roundRect">
            <a:avLst>
              <a:gd fmla="val 50000" name="adj"/>
            </a:avLst>
          </a:prstGeom>
          <a:solidFill>
            <a:srgbClr val="E78A4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18" name="Google Shape;118;p6"/>
          <p:cNvSpPr/>
          <p:nvPr/>
        </p:nvSpPr>
        <p:spPr>
          <a:xfrm>
            <a:off x="8820150" y="2019300"/>
            <a:ext cx="361950" cy="38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78A42"/>
              </a:buClr>
              <a:buSzPts val="2100"/>
              <a:buFont typeface="Helvetica Neue"/>
              <a:buNone/>
            </a:pPr>
            <a:r>
              <a:rPr b="1" lang="en-US" sz="2100">
                <a:solidFill>
                  <a:srgbClr val="E78A42"/>
                </a:solidFill>
                <a:latin typeface="Helvetica Neue"/>
                <a:ea typeface="Helvetica Neue"/>
                <a:cs typeface="Helvetica Neue"/>
                <a:sym typeface="Helvetica Neue"/>
              </a:rPr>
              <a:t>5</a:t>
            </a:r>
            <a:endParaRPr/>
          </a:p>
        </p:txBody>
      </p:sp>
      <p:sp>
        <p:nvSpPr>
          <p:cNvPr id="119" name="Google Shape;119;p6"/>
          <p:cNvSpPr/>
          <p:nvPr/>
        </p:nvSpPr>
        <p:spPr>
          <a:xfrm>
            <a:off x="8820150" y="2533650"/>
            <a:ext cx="1428750" cy="552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500"/>
              <a:buFont typeface="Helvetica Neue"/>
              <a:buNone/>
            </a:pPr>
            <a:r>
              <a:rPr b="1" lang="en-US" sz="1500">
                <a:solidFill>
                  <a:srgbClr val="12304A"/>
                </a:solidFill>
                <a:latin typeface="Helvetica Neue"/>
                <a:ea typeface="Helvetica Neue"/>
                <a:cs typeface="Helvetica Neue"/>
                <a:sym typeface="Helvetica Neue"/>
              </a:rPr>
              <a:t>Demo</a:t>
            </a:r>
            <a:endParaRPr/>
          </a:p>
        </p:txBody>
      </p:sp>
      <p:sp>
        <p:nvSpPr>
          <p:cNvPr id="120" name="Google Shape;120;p6"/>
          <p:cNvSpPr/>
          <p:nvPr/>
        </p:nvSpPr>
        <p:spPr>
          <a:xfrm>
            <a:off x="8820150" y="3219450"/>
            <a:ext cx="1428750" cy="1123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200"/>
              <a:buFont typeface="Helvetica Neue"/>
              <a:buNone/>
            </a:pPr>
            <a:r>
              <a:rPr b="0" lang="en-US" sz="1200">
                <a:solidFill>
                  <a:srgbClr val="193044"/>
                </a:solidFill>
                <a:latin typeface="Helvetica Neue"/>
                <a:ea typeface="Helvetica Neue"/>
                <a:cs typeface="Helvetica Neue"/>
                <a:sym typeface="Helvetica Neue"/>
              </a:rPr>
              <a:t>One connected flow</a:t>
            </a:r>
            <a:endParaRPr/>
          </a:p>
          <a:p>
            <a:pPr indent="0" lvl="0" marL="0" marR="0" rtl="0" algn="l">
              <a:spcBef>
                <a:spcPts val="0"/>
              </a:spcBef>
              <a:spcAft>
                <a:spcPts val="0"/>
              </a:spcAft>
              <a:buClr>
                <a:srgbClr val="193044"/>
              </a:buClr>
              <a:buSzPts val="1200"/>
              <a:buFont typeface="Helvetica Neue"/>
              <a:buNone/>
            </a:pPr>
            <a:r>
              <a:rPr b="0" lang="en-US" sz="1200">
                <a:solidFill>
                  <a:srgbClr val="193044"/>
                </a:solidFill>
                <a:latin typeface="Helvetica Neue"/>
                <a:ea typeface="Helvetica Neue"/>
                <a:cs typeface="Helvetica Neue"/>
                <a:sym typeface="Helvetica Neue"/>
              </a:rPr>
              <a:t>Evidence review</a:t>
            </a:r>
            <a:endParaRPr/>
          </a:p>
          <a:p>
            <a:pPr indent="0" lvl="0" marL="0" marR="0" rtl="0" algn="l">
              <a:spcBef>
                <a:spcPts val="0"/>
              </a:spcBef>
              <a:spcAft>
                <a:spcPts val="0"/>
              </a:spcAft>
              <a:buClr>
                <a:srgbClr val="193044"/>
              </a:buClr>
              <a:buSzPts val="1200"/>
              <a:buFont typeface="Helvetica Neue"/>
              <a:buNone/>
            </a:pPr>
            <a:r>
              <a:rPr b="0" lang="en-US" sz="1200">
                <a:solidFill>
                  <a:srgbClr val="193044"/>
                </a:solidFill>
                <a:latin typeface="Helvetica Neue"/>
                <a:ea typeface="Helvetica Neue"/>
                <a:cs typeface="Helvetica Neue"/>
                <a:sym typeface="Helvetica Neue"/>
              </a:rPr>
              <a:t>Next steps</a:t>
            </a:r>
            <a:endParaRPr/>
          </a:p>
        </p:txBody>
      </p:sp>
      <p:sp>
        <p:nvSpPr>
          <p:cNvPr id="121" name="Google Shape;121;p6"/>
          <p:cNvSpPr/>
          <p:nvPr/>
        </p:nvSpPr>
        <p:spPr>
          <a:xfrm>
            <a:off x="742950" y="4953000"/>
            <a:ext cx="1809750" cy="285750"/>
          </a:xfrm>
          <a:prstGeom prst="roundRect">
            <a:avLst>
              <a:gd fmla="val 50000" name="adj"/>
            </a:avLst>
          </a:prstGeom>
          <a:solidFill>
            <a:srgbClr val="008C9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22" name="Google Shape;122;p6"/>
          <p:cNvSpPr/>
          <p:nvPr/>
        </p:nvSpPr>
        <p:spPr>
          <a:xfrm>
            <a:off x="857250" y="5000625"/>
            <a:ext cx="1581150" cy="1809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975"/>
              <a:buFont typeface="Helvetica Neue"/>
              <a:buNone/>
            </a:pPr>
            <a:r>
              <a:rPr b="1" lang="en-US" sz="975">
                <a:solidFill>
                  <a:srgbClr val="FFFFFF"/>
                </a:solidFill>
                <a:latin typeface="Helvetica Neue"/>
                <a:ea typeface="Helvetica Neue"/>
                <a:cs typeface="Helvetica Neue"/>
                <a:sym typeface="Helvetica Neue"/>
              </a:rPr>
              <a:t>DAY 1</a:t>
            </a:r>
            <a:endParaRPr/>
          </a:p>
        </p:txBody>
      </p:sp>
      <p:sp>
        <p:nvSpPr>
          <p:cNvPr id="123" name="Google Shape;123;p6"/>
          <p:cNvSpPr/>
          <p:nvPr/>
        </p:nvSpPr>
        <p:spPr>
          <a:xfrm>
            <a:off x="2724150" y="4981575"/>
            <a:ext cx="40005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350"/>
              <a:buFont typeface="Helvetica Neue"/>
              <a:buNone/>
            </a:pPr>
            <a:r>
              <a:rPr b="1" lang="en-US" sz="1350">
                <a:solidFill>
                  <a:srgbClr val="12304A"/>
                </a:solidFill>
                <a:latin typeface="Helvetica Neue"/>
                <a:ea typeface="Helvetica Neue"/>
                <a:cs typeface="Helvetica Neue"/>
                <a:sym typeface="Helvetica Neue"/>
              </a:rPr>
              <a:t>09:00–17:00  FHIR, mapping and validation</a:t>
            </a:r>
            <a:endParaRPr/>
          </a:p>
        </p:txBody>
      </p:sp>
      <p:sp>
        <p:nvSpPr>
          <p:cNvPr id="124" name="Google Shape;124;p6"/>
          <p:cNvSpPr/>
          <p:nvPr/>
        </p:nvSpPr>
        <p:spPr>
          <a:xfrm>
            <a:off x="742950" y="5391150"/>
            <a:ext cx="1809750" cy="285750"/>
          </a:xfrm>
          <a:prstGeom prst="roundRect">
            <a:avLst>
              <a:gd fmla="val 50000" name="adj"/>
            </a:avLst>
          </a:prstGeom>
          <a:solidFill>
            <a:srgbClr val="4B78A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25" name="Google Shape;125;p6"/>
          <p:cNvSpPr/>
          <p:nvPr/>
        </p:nvSpPr>
        <p:spPr>
          <a:xfrm>
            <a:off x="857250" y="5438775"/>
            <a:ext cx="1581150" cy="1809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975"/>
              <a:buFont typeface="Helvetica Neue"/>
              <a:buNone/>
            </a:pPr>
            <a:r>
              <a:rPr b="1" lang="en-US" sz="975">
                <a:solidFill>
                  <a:srgbClr val="FFFFFF"/>
                </a:solidFill>
                <a:latin typeface="Helvetica Neue"/>
                <a:ea typeface="Helvetica Neue"/>
                <a:cs typeface="Helvetica Neue"/>
                <a:sym typeface="Helvetica Neue"/>
              </a:rPr>
              <a:t>DAY 2</a:t>
            </a:r>
            <a:endParaRPr/>
          </a:p>
        </p:txBody>
      </p:sp>
      <p:sp>
        <p:nvSpPr>
          <p:cNvPr id="126" name="Google Shape;126;p6"/>
          <p:cNvSpPr/>
          <p:nvPr/>
        </p:nvSpPr>
        <p:spPr>
          <a:xfrm>
            <a:off x="2724150" y="5419725"/>
            <a:ext cx="40005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350"/>
              <a:buFont typeface="Helvetica Neue"/>
              <a:buNone/>
            </a:pPr>
            <a:r>
              <a:rPr b="1" lang="en-US" sz="1350">
                <a:solidFill>
                  <a:srgbClr val="12304A"/>
                </a:solidFill>
                <a:latin typeface="Helvetica Neue"/>
                <a:ea typeface="Helvetica Neue"/>
                <a:cs typeface="Helvetica Neue"/>
                <a:sym typeface="Helvetica Neue"/>
              </a:rPr>
              <a:t>09:00–17:00  Interoperability practicum</a:t>
            </a:r>
            <a:endParaRPr/>
          </a:p>
        </p:txBody>
      </p:sp>
      <p:sp>
        <p:nvSpPr>
          <p:cNvPr id="127" name="Google Shape;127;p6"/>
          <p:cNvSpPr/>
          <p:nvPr/>
        </p:nvSpPr>
        <p:spPr>
          <a:xfrm>
            <a:off x="8858250" y="4953000"/>
            <a:ext cx="914400" cy="361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8C95"/>
              </a:buClr>
              <a:buSzPts val="2100"/>
              <a:buFont typeface="Helvetica Neue"/>
              <a:buNone/>
            </a:pPr>
            <a:r>
              <a:rPr b="1" lang="en-US" sz="2100">
                <a:solidFill>
                  <a:srgbClr val="008C95"/>
                </a:solidFill>
                <a:latin typeface="Helvetica Neue"/>
                <a:ea typeface="Helvetica Neue"/>
                <a:cs typeface="Helvetica Neue"/>
                <a:sym typeface="Helvetica Neue"/>
              </a:rPr>
              <a:t>ONE</a:t>
            </a:r>
            <a:endParaRPr/>
          </a:p>
        </p:txBody>
      </p:sp>
      <p:sp>
        <p:nvSpPr>
          <p:cNvPr id="128" name="Google Shape;128;p6"/>
          <p:cNvSpPr/>
          <p:nvPr/>
        </p:nvSpPr>
        <p:spPr>
          <a:xfrm>
            <a:off x="9848850" y="5029200"/>
            <a:ext cx="123825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6D7A"/>
              </a:buClr>
              <a:buSzPts val="1125"/>
              <a:buFont typeface="Helvetica Neue"/>
              <a:buNone/>
            </a:pPr>
            <a:r>
              <a:rPr b="0" lang="en-US" sz="1125">
                <a:solidFill>
                  <a:srgbClr val="5A6D7A"/>
                </a:solidFill>
                <a:latin typeface="Helvetica Neue"/>
                <a:ea typeface="Helvetica Neue"/>
                <a:cs typeface="Helvetica Neue"/>
                <a:sym typeface="Helvetica Neue"/>
              </a:rPr>
              <a:t>technical cohort</a:t>
            </a:r>
            <a:endParaRPr/>
          </a:p>
        </p:txBody>
      </p:sp>
      <p:sp>
        <p:nvSpPr>
          <p:cNvPr id="129" name="Google Shape;129;p6"/>
          <p:cNvSpPr/>
          <p:nvPr/>
        </p:nvSpPr>
        <p:spPr>
          <a:xfrm>
            <a:off x="8858250" y="5391150"/>
            <a:ext cx="914400" cy="361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B78A6"/>
              </a:buClr>
              <a:buSzPts val="2100"/>
              <a:buFont typeface="Helvetica Neue"/>
              <a:buNone/>
            </a:pPr>
            <a:r>
              <a:rPr b="1" lang="en-US" sz="2100">
                <a:solidFill>
                  <a:srgbClr val="4B78A6"/>
                </a:solidFill>
                <a:latin typeface="Helvetica Neue"/>
                <a:ea typeface="Helvetica Neue"/>
                <a:cs typeface="Helvetica Neue"/>
                <a:sym typeface="Helvetica Neue"/>
              </a:rPr>
              <a:t>TWO</a:t>
            </a:r>
            <a:endParaRPr/>
          </a:p>
        </p:txBody>
      </p:sp>
      <p:sp>
        <p:nvSpPr>
          <p:cNvPr id="130" name="Google Shape;130;p6"/>
          <p:cNvSpPr/>
          <p:nvPr/>
        </p:nvSpPr>
        <p:spPr>
          <a:xfrm>
            <a:off x="9848850" y="5467350"/>
            <a:ext cx="123825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6D7A"/>
              </a:buClr>
              <a:buSzPts val="1125"/>
              <a:buFont typeface="Helvetica Neue"/>
              <a:buNone/>
            </a:pPr>
            <a:r>
              <a:rPr b="0" lang="en-US" sz="1125">
                <a:solidFill>
                  <a:srgbClr val="5A6D7A"/>
                </a:solidFill>
                <a:latin typeface="Helvetica Neue"/>
                <a:ea typeface="Helvetica Neue"/>
                <a:cs typeface="Helvetica Neue"/>
                <a:sym typeface="Helvetica Neue"/>
              </a:rPr>
              <a:t>days of applied learning</a:t>
            </a:r>
            <a:endParaRPr/>
          </a:p>
        </p:txBody>
      </p:sp>
      <p:cxnSp>
        <p:nvCxnSpPr>
          <p:cNvPr id="131" name="Google Shape;131;p6"/>
          <p:cNvCxnSpPr/>
          <p:nvPr/>
        </p:nvCxnSpPr>
        <p:spPr>
          <a:xfrm>
            <a:off x="609600" y="6477000"/>
            <a:ext cx="10972800" cy="0"/>
          </a:xfrm>
          <a:prstGeom prst="straightConnector1">
            <a:avLst/>
          </a:prstGeom>
          <a:noFill/>
          <a:ln cap="flat" cmpd="sng" w="9525">
            <a:solidFill>
              <a:srgbClr val="C7D2D9"/>
            </a:solidFill>
            <a:prstDash val="solid"/>
            <a:round/>
            <a:headEnd len="sm" w="sm" type="none"/>
            <a:tailEnd len="sm" w="sm" type="none"/>
          </a:ln>
        </p:spPr>
      </p:cxnSp>
      <p:sp>
        <p:nvSpPr>
          <p:cNvPr id="132" name="Google Shape;132;p6"/>
          <p:cNvSpPr/>
          <p:nvPr/>
        </p:nvSpPr>
        <p:spPr>
          <a:xfrm>
            <a:off x="609600" y="6553200"/>
            <a:ext cx="8572500" cy="190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6D7A"/>
              </a:buClr>
              <a:buSzPts val="900"/>
              <a:buFont typeface="Helvetica Neue"/>
              <a:buNone/>
            </a:pPr>
            <a:r>
              <a:rPr b="0" lang="en-US" sz="900">
                <a:solidFill>
                  <a:srgbClr val="5A6D7A"/>
                </a:solidFill>
                <a:latin typeface="Helvetica Neue"/>
                <a:ea typeface="Helvetica Neue"/>
                <a:cs typeface="Helvetica Neue"/>
                <a:sym typeface="Helvetica Neue"/>
              </a:rPr>
              <a:t>Thailand technologist workstream, partner preparation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 name="Shape 137"/>
        <p:cNvGrpSpPr/>
        <p:nvPr/>
      </p:nvGrpSpPr>
      <p:grpSpPr>
        <a:xfrm>
          <a:off x="0" y="0"/>
          <a:ext cx="0" cy="0"/>
          <a:chOff x="0" y="0"/>
          <a:chExt cx="0" cy="0"/>
        </a:xfrm>
      </p:grpSpPr>
      <p:sp>
        <p:nvSpPr>
          <p:cNvPr id="138" name="Google Shape;138;p7"/>
          <p:cNvSpPr/>
          <p:nvPr/>
        </p:nvSpPr>
        <p:spPr>
          <a:xfrm>
            <a:off x="609600" y="361950"/>
            <a:ext cx="10382250" cy="495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2550"/>
              <a:buFont typeface="Helvetica Neue"/>
              <a:buNone/>
            </a:pPr>
            <a:r>
              <a:rPr b="1" lang="en-US" sz="2550">
                <a:solidFill>
                  <a:srgbClr val="12304A"/>
                </a:solidFill>
                <a:latin typeface="Helvetica Neue"/>
                <a:ea typeface="Helvetica Neue"/>
                <a:cs typeface="Helvetica Neue"/>
                <a:sym typeface="Helvetica Neue"/>
              </a:rPr>
              <a:t>Day 1 agenda</a:t>
            </a:r>
            <a:endParaRPr/>
          </a:p>
        </p:txBody>
      </p:sp>
      <p:sp>
        <p:nvSpPr>
          <p:cNvPr id="139" name="Google Shape;139;p7"/>
          <p:cNvSpPr/>
          <p:nvPr/>
        </p:nvSpPr>
        <p:spPr>
          <a:xfrm>
            <a:off x="628650" y="885825"/>
            <a:ext cx="1038225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6D7A"/>
              </a:buClr>
              <a:buSzPts val="1350"/>
              <a:buFont typeface="Helvetica Neue"/>
              <a:buNone/>
            </a:pPr>
            <a:r>
              <a:rPr b="0" lang="en-US" sz="1350">
                <a:solidFill>
                  <a:srgbClr val="5A6D7A"/>
                </a:solidFill>
                <a:latin typeface="Helvetica Neue"/>
                <a:ea typeface="Helvetica Neue"/>
                <a:cs typeface="Helvetica Neue"/>
                <a:sym typeface="Helvetica Neue"/>
              </a:rPr>
              <a:t>Provisional 09:00–17:00 schedule. Session objectives and evidence follow.</a:t>
            </a:r>
            <a:endParaRPr/>
          </a:p>
        </p:txBody>
      </p:sp>
      <p:sp>
        <p:nvSpPr>
          <p:cNvPr id="140" name="Google Shape;140;p7"/>
          <p:cNvSpPr/>
          <p:nvPr/>
        </p:nvSpPr>
        <p:spPr>
          <a:xfrm>
            <a:off x="609600" y="1257300"/>
            <a:ext cx="876300" cy="47625"/>
          </a:xfrm>
          <a:prstGeom prst="rect">
            <a:avLst/>
          </a:prstGeom>
          <a:solidFill>
            <a:srgbClr val="008C9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41" name="Google Shape;141;p7"/>
          <p:cNvSpPr/>
          <p:nvPr/>
        </p:nvSpPr>
        <p:spPr>
          <a:xfrm>
            <a:off x="11201400" y="457200"/>
            <a:ext cx="4572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8C95"/>
              </a:buClr>
              <a:buSzPts val="1050"/>
              <a:buFont typeface="Helvetica Neue"/>
              <a:buNone/>
            </a:pPr>
            <a:r>
              <a:rPr b="1" lang="en-US" sz="1050">
                <a:solidFill>
                  <a:srgbClr val="008C95"/>
                </a:solidFill>
                <a:latin typeface="Helvetica Neue"/>
                <a:ea typeface="Helvetica Neue"/>
                <a:cs typeface="Helvetica Neue"/>
                <a:sym typeface="Helvetica Neue"/>
              </a:rPr>
              <a:t>05</a:t>
            </a:r>
            <a:endParaRPr/>
          </a:p>
        </p:txBody>
      </p:sp>
      <p:sp>
        <p:nvSpPr>
          <p:cNvPr id="142" name="Google Shape;142;p7"/>
          <p:cNvSpPr/>
          <p:nvPr/>
        </p:nvSpPr>
        <p:spPr>
          <a:xfrm>
            <a:off x="723900" y="1504950"/>
            <a:ext cx="1428750" cy="285750"/>
          </a:xfrm>
          <a:prstGeom prst="roundRect">
            <a:avLst>
              <a:gd fmla="val 50000" name="adj"/>
            </a:avLst>
          </a:prstGeom>
          <a:solidFill>
            <a:srgbClr val="1230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43" name="Google Shape;143;p7"/>
          <p:cNvSpPr/>
          <p:nvPr/>
        </p:nvSpPr>
        <p:spPr>
          <a:xfrm>
            <a:off x="838200" y="1552575"/>
            <a:ext cx="1200150" cy="1809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975"/>
              <a:buFont typeface="Helvetica Neue"/>
              <a:buNone/>
            </a:pPr>
            <a:r>
              <a:rPr b="1" lang="en-US" sz="975">
                <a:solidFill>
                  <a:srgbClr val="FFFFFF"/>
                </a:solidFill>
                <a:latin typeface="Helvetica Neue"/>
                <a:ea typeface="Helvetica Neue"/>
                <a:cs typeface="Helvetica Neue"/>
                <a:sym typeface="Helvetica Neue"/>
              </a:rPr>
              <a:t>OPENING</a:t>
            </a:r>
            <a:endParaRPr/>
          </a:p>
        </p:txBody>
      </p:sp>
      <p:sp>
        <p:nvSpPr>
          <p:cNvPr id="144" name="Google Shape;144;p7"/>
          <p:cNvSpPr/>
          <p:nvPr/>
        </p:nvSpPr>
        <p:spPr>
          <a:xfrm>
            <a:off x="2324100" y="1524000"/>
            <a:ext cx="781050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650"/>
              <a:buFont typeface="Helvetica Neue"/>
              <a:buNone/>
            </a:pPr>
            <a:r>
              <a:rPr b="1" lang="en-US" sz="1650">
                <a:solidFill>
                  <a:srgbClr val="12304A"/>
                </a:solidFill>
                <a:latin typeface="Helvetica Neue"/>
                <a:ea typeface="Helvetica Neue"/>
                <a:cs typeface="Helvetica Neue"/>
                <a:sym typeface="Helvetica Neue"/>
              </a:rPr>
              <a:t>Use case, environment and readiness check</a:t>
            </a:r>
            <a:endParaRPr/>
          </a:p>
        </p:txBody>
      </p:sp>
      <p:sp>
        <p:nvSpPr>
          <p:cNvPr id="145" name="Google Shape;145;p7"/>
          <p:cNvSpPr/>
          <p:nvPr/>
        </p:nvSpPr>
        <p:spPr>
          <a:xfrm>
            <a:off x="2324100" y="1885950"/>
            <a:ext cx="847725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6D7A"/>
              </a:buClr>
              <a:buSzPts val="1200"/>
              <a:buFont typeface="Helvetica Neue"/>
              <a:buNone/>
            </a:pPr>
            <a:r>
              <a:rPr b="0" lang="en-US" sz="1200">
                <a:solidFill>
                  <a:srgbClr val="5A6D7A"/>
                </a:solidFill>
                <a:latin typeface="Helvetica Neue"/>
                <a:ea typeface="Helvetica Neue"/>
                <a:cs typeface="Helvetica Neue"/>
                <a:sym typeface="Helvetica Neue"/>
              </a:rPr>
              <a:t>Patient journey, participant profile, technical scope and expected outputs</a:t>
            </a:r>
            <a:endParaRPr/>
          </a:p>
        </p:txBody>
      </p:sp>
      <p:cxnSp>
        <p:nvCxnSpPr>
          <p:cNvPr id="146" name="Google Shape;146;p7"/>
          <p:cNvCxnSpPr/>
          <p:nvPr/>
        </p:nvCxnSpPr>
        <p:spPr>
          <a:xfrm>
            <a:off x="1428750" y="2266950"/>
            <a:ext cx="0" cy="3657600"/>
          </a:xfrm>
          <a:prstGeom prst="straightConnector1">
            <a:avLst/>
          </a:prstGeom>
          <a:noFill/>
          <a:ln cap="flat" cmpd="sng" w="28575">
            <a:solidFill>
              <a:srgbClr val="C7D2D9"/>
            </a:solidFill>
            <a:prstDash val="solid"/>
            <a:round/>
            <a:headEnd len="sm" w="sm" type="none"/>
            <a:tailEnd len="sm" w="sm" type="none"/>
          </a:ln>
        </p:spPr>
      </p:cxnSp>
      <p:sp>
        <p:nvSpPr>
          <p:cNvPr id="147" name="Google Shape;147;p7"/>
          <p:cNvSpPr/>
          <p:nvPr/>
        </p:nvSpPr>
        <p:spPr>
          <a:xfrm>
            <a:off x="723900" y="2571750"/>
            <a:ext cx="1428750" cy="285750"/>
          </a:xfrm>
          <a:prstGeom prst="roundRect">
            <a:avLst>
              <a:gd fmla="val 50000" name="adj"/>
            </a:avLst>
          </a:prstGeom>
          <a:solidFill>
            <a:srgbClr val="008C9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48" name="Google Shape;148;p7"/>
          <p:cNvSpPr/>
          <p:nvPr/>
        </p:nvSpPr>
        <p:spPr>
          <a:xfrm>
            <a:off x="838200" y="2619375"/>
            <a:ext cx="1200150" cy="1809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975"/>
              <a:buFont typeface="Helvetica Neue"/>
              <a:buNone/>
            </a:pPr>
            <a:r>
              <a:rPr b="1" lang="en-US" sz="975">
                <a:solidFill>
                  <a:srgbClr val="FFFFFF"/>
                </a:solidFill>
                <a:latin typeface="Helvetica Neue"/>
                <a:ea typeface="Helvetica Neue"/>
                <a:cs typeface="Helvetica Neue"/>
                <a:sym typeface="Helvetica Neue"/>
              </a:rPr>
              <a:t>CORE</a:t>
            </a:r>
            <a:endParaRPr/>
          </a:p>
        </p:txBody>
      </p:sp>
      <p:sp>
        <p:nvSpPr>
          <p:cNvPr id="149" name="Google Shape;149;p7"/>
          <p:cNvSpPr/>
          <p:nvPr/>
        </p:nvSpPr>
        <p:spPr>
          <a:xfrm>
            <a:off x="2324100" y="2400300"/>
            <a:ext cx="3962400" cy="1524000"/>
          </a:xfrm>
          <a:prstGeom prst="roundRect">
            <a:avLst>
              <a:gd fmla="val 7500" name="adj"/>
            </a:avLst>
          </a:prstGeom>
          <a:solidFill>
            <a:srgbClr val="EAF5F4"/>
          </a:solidFill>
          <a:ln cap="flat" cmpd="sng" w="9525">
            <a:solidFill>
              <a:srgbClr val="C7D2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50" name="Google Shape;150;p7"/>
          <p:cNvSpPr/>
          <p:nvPr/>
        </p:nvSpPr>
        <p:spPr>
          <a:xfrm>
            <a:off x="2324100" y="2400300"/>
            <a:ext cx="66675" cy="1524000"/>
          </a:xfrm>
          <a:prstGeom prst="roundRect">
            <a:avLst>
              <a:gd fmla="val 50000" name="adj"/>
            </a:avLst>
          </a:prstGeom>
          <a:solidFill>
            <a:srgbClr val="008C9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51" name="Google Shape;151;p7"/>
          <p:cNvSpPr/>
          <p:nvPr/>
        </p:nvSpPr>
        <p:spPr>
          <a:xfrm>
            <a:off x="2552700" y="2571750"/>
            <a:ext cx="356235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575"/>
              <a:buFont typeface="Helvetica Neue"/>
              <a:buNone/>
            </a:pPr>
            <a:r>
              <a:rPr b="1" lang="en-US" sz="1575">
                <a:solidFill>
                  <a:srgbClr val="12304A"/>
                </a:solidFill>
                <a:latin typeface="Helvetica Neue"/>
                <a:ea typeface="Helvetica Neue"/>
                <a:cs typeface="Helvetica Neue"/>
                <a:sym typeface="Helvetica Neue"/>
              </a:rPr>
              <a:t>FHIR foundations</a:t>
            </a:r>
            <a:endParaRPr/>
          </a:p>
        </p:txBody>
      </p:sp>
      <p:sp>
        <p:nvSpPr>
          <p:cNvPr id="152" name="Google Shape;152;p7"/>
          <p:cNvSpPr/>
          <p:nvPr/>
        </p:nvSpPr>
        <p:spPr>
          <a:xfrm>
            <a:off x="2552700" y="3009900"/>
            <a:ext cx="3562350" cy="781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275"/>
              <a:buFont typeface="Helvetica Neue"/>
              <a:buNone/>
            </a:pPr>
            <a:r>
              <a:rPr b="0" lang="en-US" sz="1275">
                <a:solidFill>
                  <a:srgbClr val="193044"/>
                </a:solidFill>
                <a:latin typeface="Helvetica Neue"/>
                <a:ea typeface="Helvetica Neue"/>
                <a:cs typeface="Helvetica Neue"/>
                <a:sym typeface="Helvetica Neue"/>
              </a:rPr>
              <a:t>Resources and profiles</a:t>
            </a:r>
            <a:endParaRPr/>
          </a:p>
          <a:p>
            <a:pPr indent="0" lvl="0" marL="0" marR="0" rtl="0" algn="l">
              <a:spcBef>
                <a:spcPts val="0"/>
              </a:spcBef>
              <a:spcAft>
                <a:spcPts val="0"/>
              </a:spcAft>
              <a:buClr>
                <a:srgbClr val="193044"/>
              </a:buClr>
              <a:buSzPts val="1275"/>
              <a:buFont typeface="Helvetica Neue"/>
              <a:buNone/>
            </a:pPr>
            <a:r>
              <a:rPr b="0" lang="en-US" sz="1275">
                <a:solidFill>
                  <a:srgbClr val="193044"/>
                </a:solidFill>
                <a:latin typeface="Helvetica Neue"/>
                <a:ea typeface="Helvetica Neue"/>
                <a:cs typeface="Helvetica Neue"/>
                <a:sym typeface="Helvetica Neue"/>
              </a:rPr>
              <a:t>Implementation guides and governance</a:t>
            </a:r>
            <a:endParaRPr/>
          </a:p>
          <a:p>
            <a:pPr indent="0" lvl="0" marL="0" marR="0" rtl="0" algn="l">
              <a:spcBef>
                <a:spcPts val="0"/>
              </a:spcBef>
              <a:spcAft>
                <a:spcPts val="0"/>
              </a:spcAft>
              <a:buClr>
                <a:srgbClr val="193044"/>
              </a:buClr>
              <a:buSzPts val="1275"/>
              <a:buFont typeface="Helvetica Neue"/>
              <a:buNone/>
            </a:pPr>
            <a:r>
              <a:rPr b="0" lang="en-US" sz="1275">
                <a:solidFill>
                  <a:srgbClr val="193044"/>
                </a:solidFill>
                <a:latin typeface="Helvetica Neue"/>
                <a:ea typeface="Helvetica Neue"/>
                <a:cs typeface="Helvetica Neue"/>
                <a:sym typeface="Helvetica Neue"/>
              </a:rPr>
              <a:t>Terminology and value sets</a:t>
            </a:r>
            <a:endParaRPr/>
          </a:p>
        </p:txBody>
      </p:sp>
      <p:sp>
        <p:nvSpPr>
          <p:cNvPr id="153" name="Google Shape;153;p7"/>
          <p:cNvSpPr/>
          <p:nvPr/>
        </p:nvSpPr>
        <p:spPr>
          <a:xfrm>
            <a:off x="6515100" y="2400300"/>
            <a:ext cx="4457700" cy="1524000"/>
          </a:xfrm>
          <a:prstGeom prst="roundRect">
            <a:avLst>
              <a:gd fmla="val 7500" name="adj"/>
            </a:avLst>
          </a:prstGeom>
          <a:solidFill>
            <a:srgbClr val="EAF5F4"/>
          </a:solidFill>
          <a:ln cap="flat" cmpd="sng" w="9525">
            <a:solidFill>
              <a:srgbClr val="C7D2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54" name="Google Shape;154;p7"/>
          <p:cNvSpPr/>
          <p:nvPr/>
        </p:nvSpPr>
        <p:spPr>
          <a:xfrm>
            <a:off x="6515100" y="2400300"/>
            <a:ext cx="66675" cy="1524000"/>
          </a:xfrm>
          <a:prstGeom prst="roundRect">
            <a:avLst>
              <a:gd fmla="val 50000" name="adj"/>
            </a:avLst>
          </a:prstGeom>
          <a:solidFill>
            <a:srgbClr val="008C9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55" name="Google Shape;155;p7"/>
          <p:cNvSpPr/>
          <p:nvPr/>
        </p:nvSpPr>
        <p:spPr>
          <a:xfrm>
            <a:off x="6743700" y="2571750"/>
            <a:ext cx="405765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575"/>
              <a:buFont typeface="Helvetica Neue"/>
              <a:buNone/>
            </a:pPr>
            <a:r>
              <a:rPr b="1" lang="en-US" sz="1575">
                <a:solidFill>
                  <a:srgbClr val="12304A"/>
                </a:solidFill>
                <a:latin typeface="Helvetica Neue"/>
                <a:ea typeface="Helvetica Neue"/>
                <a:cs typeface="Helvetica Neue"/>
                <a:sym typeface="Helvetica Neue"/>
              </a:rPr>
              <a:t>Existing systems to FHIR</a:t>
            </a:r>
            <a:endParaRPr/>
          </a:p>
        </p:txBody>
      </p:sp>
      <p:sp>
        <p:nvSpPr>
          <p:cNvPr id="156" name="Google Shape;156;p7"/>
          <p:cNvSpPr/>
          <p:nvPr/>
        </p:nvSpPr>
        <p:spPr>
          <a:xfrm>
            <a:off x="6743700" y="3009900"/>
            <a:ext cx="4057650" cy="781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275"/>
              <a:buFont typeface="Helvetica Neue"/>
              <a:buNone/>
            </a:pPr>
            <a:r>
              <a:rPr b="0" lang="en-US" sz="1275">
                <a:solidFill>
                  <a:srgbClr val="193044"/>
                </a:solidFill>
                <a:latin typeface="Helvetica Neue"/>
                <a:ea typeface="Helvetica Neue"/>
                <a:cs typeface="Helvetica Neue"/>
                <a:sym typeface="Helvetica Neue"/>
              </a:rPr>
              <a:t>Source schema review</a:t>
            </a:r>
            <a:endParaRPr/>
          </a:p>
          <a:p>
            <a:pPr indent="0" lvl="0" marL="0" marR="0" rtl="0" algn="l">
              <a:spcBef>
                <a:spcPts val="0"/>
              </a:spcBef>
              <a:spcAft>
                <a:spcPts val="0"/>
              </a:spcAft>
              <a:buClr>
                <a:srgbClr val="193044"/>
              </a:buClr>
              <a:buSzPts val="1275"/>
              <a:buFont typeface="Helvetica Neue"/>
              <a:buNone/>
            </a:pPr>
            <a:r>
              <a:rPr b="0" lang="en-US" sz="1275">
                <a:solidFill>
                  <a:srgbClr val="193044"/>
                </a:solidFill>
                <a:latin typeface="Helvetica Neue"/>
                <a:ea typeface="Helvetica Neue"/>
                <a:cs typeface="Helvetica Neue"/>
                <a:sym typeface="Helvetica Neue"/>
              </a:rPr>
              <a:t>Mapping and transformation</a:t>
            </a:r>
            <a:endParaRPr/>
          </a:p>
          <a:p>
            <a:pPr indent="0" lvl="0" marL="0" marR="0" rtl="0" algn="l">
              <a:spcBef>
                <a:spcPts val="0"/>
              </a:spcBef>
              <a:spcAft>
                <a:spcPts val="0"/>
              </a:spcAft>
              <a:buClr>
                <a:srgbClr val="193044"/>
              </a:buClr>
              <a:buSzPts val="1275"/>
              <a:buFont typeface="Helvetica Neue"/>
              <a:buNone/>
            </a:pPr>
            <a:r>
              <a:rPr b="0" lang="en-US" sz="1275">
                <a:solidFill>
                  <a:srgbClr val="193044"/>
                </a:solidFill>
                <a:latin typeface="Helvetica Neue"/>
                <a:ea typeface="Helvetica Neue"/>
                <a:cs typeface="Helvetica Neue"/>
                <a:sym typeface="Helvetica Neue"/>
              </a:rPr>
              <a:t>Validation and issue logging</a:t>
            </a:r>
            <a:endParaRPr/>
          </a:p>
        </p:txBody>
      </p:sp>
      <p:sp>
        <p:nvSpPr>
          <p:cNvPr id="157" name="Google Shape;157;p7"/>
          <p:cNvSpPr/>
          <p:nvPr/>
        </p:nvSpPr>
        <p:spPr>
          <a:xfrm>
            <a:off x="723900" y="4324350"/>
            <a:ext cx="1428750" cy="285750"/>
          </a:xfrm>
          <a:prstGeom prst="roundRect">
            <a:avLst>
              <a:gd fmla="val 50000" name="adj"/>
            </a:avLst>
          </a:prstGeom>
          <a:solidFill>
            <a:srgbClr val="E78A4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58" name="Google Shape;158;p7"/>
          <p:cNvSpPr/>
          <p:nvPr/>
        </p:nvSpPr>
        <p:spPr>
          <a:xfrm>
            <a:off x="838200" y="4371975"/>
            <a:ext cx="1200150" cy="1809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975"/>
              <a:buFont typeface="Helvetica Neue"/>
              <a:buNone/>
            </a:pPr>
            <a:r>
              <a:rPr b="1" lang="en-US" sz="975">
                <a:solidFill>
                  <a:srgbClr val="FFFFFF"/>
                </a:solidFill>
                <a:latin typeface="Helvetica Neue"/>
                <a:ea typeface="Helvetica Neue"/>
                <a:cs typeface="Helvetica Neue"/>
                <a:sym typeface="Helvetica Neue"/>
              </a:rPr>
              <a:t>APPLY</a:t>
            </a:r>
            <a:endParaRPr/>
          </a:p>
        </p:txBody>
      </p:sp>
      <p:sp>
        <p:nvSpPr>
          <p:cNvPr id="159" name="Google Shape;159;p7"/>
          <p:cNvSpPr/>
          <p:nvPr/>
        </p:nvSpPr>
        <p:spPr>
          <a:xfrm>
            <a:off x="2324100" y="4152900"/>
            <a:ext cx="3962400" cy="1600200"/>
          </a:xfrm>
          <a:prstGeom prst="roundRect">
            <a:avLst>
              <a:gd fmla="val 7143" name="adj"/>
            </a:avLst>
          </a:prstGeom>
          <a:solidFill>
            <a:srgbClr val="FCF0E5"/>
          </a:solidFill>
          <a:ln cap="flat" cmpd="sng" w="9525">
            <a:solidFill>
              <a:srgbClr val="C7D2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60" name="Google Shape;160;p7"/>
          <p:cNvSpPr/>
          <p:nvPr/>
        </p:nvSpPr>
        <p:spPr>
          <a:xfrm>
            <a:off x="2324100" y="4152900"/>
            <a:ext cx="66675" cy="1600200"/>
          </a:xfrm>
          <a:prstGeom prst="roundRect">
            <a:avLst>
              <a:gd fmla="val 50000" name="adj"/>
            </a:avLst>
          </a:prstGeom>
          <a:solidFill>
            <a:srgbClr val="E78A4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61" name="Google Shape;161;p7"/>
          <p:cNvSpPr/>
          <p:nvPr/>
        </p:nvSpPr>
        <p:spPr>
          <a:xfrm>
            <a:off x="2552700" y="4324350"/>
            <a:ext cx="356235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575"/>
              <a:buFont typeface="Helvetica Neue"/>
              <a:buNone/>
            </a:pPr>
            <a:r>
              <a:rPr b="1" lang="en-US" sz="1575">
                <a:solidFill>
                  <a:srgbClr val="12304A"/>
                </a:solidFill>
                <a:latin typeface="Helvetica Neue"/>
                <a:ea typeface="Helvetica Neue"/>
                <a:cs typeface="Helvetica Neue"/>
                <a:sym typeface="Helvetica Neue"/>
              </a:rPr>
              <a:t>Open tooling and architecture</a:t>
            </a:r>
            <a:endParaRPr/>
          </a:p>
        </p:txBody>
      </p:sp>
      <p:sp>
        <p:nvSpPr>
          <p:cNvPr id="162" name="Google Shape;162;p7"/>
          <p:cNvSpPr/>
          <p:nvPr/>
        </p:nvSpPr>
        <p:spPr>
          <a:xfrm>
            <a:off x="2552700" y="4762500"/>
            <a:ext cx="3562350" cy="857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275"/>
              <a:buFont typeface="Helvetica Neue"/>
              <a:buNone/>
            </a:pPr>
            <a:r>
              <a:rPr b="0" lang="en-US" sz="1275">
                <a:solidFill>
                  <a:srgbClr val="193044"/>
                </a:solidFill>
                <a:latin typeface="Helvetica Neue"/>
                <a:ea typeface="Helvetica Neue"/>
                <a:cs typeface="Helvetica Neue"/>
                <a:sym typeface="Helvetica Neue"/>
              </a:rPr>
              <a:t>OHS reference components in the broader open ecosystem</a:t>
            </a:r>
            <a:endParaRPr/>
          </a:p>
          <a:p>
            <a:pPr indent="0" lvl="0" marL="0" marR="0" rtl="0" algn="l">
              <a:spcBef>
                <a:spcPts val="0"/>
              </a:spcBef>
              <a:spcAft>
                <a:spcPts val="0"/>
              </a:spcAft>
              <a:buClr>
                <a:srgbClr val="193044"/>
              </a:buClr>
              <a:buSzPts val="1275"/>
              <a:buFont typeface="Helvetica Neue"/>
              <a:buNone/>
            </a:pPr>
            <a:r>
              <a:rPr b="0" lang="en-US" sz="1275">
                <a:solidFill>
                  <a:srgbClr val="193044"/>
                </a:solidFill>
                <a:latin typeface="Helvetica Neue"/>
                <a:ea typeface="Helvetica Neue"/>
                <a:cs typeface="Helvetica Neue"/>
                <a:sym typeface="Helvetica Neue"/>
              </a:rPr>
              <a:t>DPI-H building blocks for the same journey</a:t>
            </a:r>
            <a:endParaRPr/>
          </a:p>
        </p:txBody>
      </p:sp>
      <p:sp>
        <p:nvSpPr>
          <p:cNvPr id="163" name="Google Shape;163;p7"/>
          <p:cNvSpPr/>
          <p:nvPr/>
        </p:nvSpPr>
        <p:spPr>
          <a:xfrm>
            <a:off x="6515100" y="4152900"/>
            <a:ext cx="4457700" cy="1600200"/>
          </a:xfrm>
          <a:prstGeom prst="roundRect">
            <a:avLst>
              <a:gd fmla="val 7143" name="adj"/>
            </a:avLst>
          </a:prstGeom>
          <a:solidFill>
            <a:srgbClr val="FCF0E5"/>
          </a:solidFill>
          <a:ln cap="flat" cmpd="sng" w="9525">
            <a:solidFill>
              <a:srgbClr val="C7D2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64" name="Google Shape;164;p7"/>
          <p:cNvSpPr/>
          <p:nvPr/>
        </p:nvSpPr>
        <p:spPr>
          <a:xfrm>
            <a:off x="6515100" y="4152900"/>
            <a:ext cx="66675" cy="1600200"/>
          </a:xfrm>
          <a:prstGeom prst="roundRect">
            <a:avLst>
              <a:gd fmla="val 50000" name="adj"/>
            </a:avLst>
          </a:prstGeom>
          <a:solidFill>
            <a:srgbClr val="E78A4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65" name="Google Shape;165;p7"/>
          <p:cNvSpPr/>
          <p:nvPr/>
        </p:nvSpPr>
        <p:spPr>
          <a:xfrm>
            <a:off x="6743700" y="4324350"/>
            <a:ext cx="405765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575"/>
              <a:buFont typeface="Helvetica Neue"/>
              <a:buNone/>
            </a:pPr>
            <a:r>
              <a:rPr b="1" lang="en-US" sz="1575">
                <a:solidFill>
                  <a:srgbClr val="12304A"/>
                </a:solidFill>
                <a:latin typeface="Helvetica Neue"/>
                <a:ea typeface="Helvetica Neue"/>
                <a:cs typeface="Helvetica Neue"/>
                <a:sym typeface="Helvetica Neue"/>
              </a:rPr>
              <a:t>Day 1 checkpoint</a:t>
            </a:r>
            <a:endParaRPr/>
          </a:p>
        </p:txBody>
      </p:sp>
      <p:sp>
        <p:nvSpPr>
          <p:cNvPr id="166" name="Google Shape;166;p7"/>
          <p:cNvSpPr/>
          <p:nvPr/>
        </p:nvSpPr>
        <p:spPr>
          <a:xfrm>
            <a:off x="6743700" y="4762500"/>
            <a:ext cx="4057650" cy="857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275"/>
              <a:buFont typeface="Helvetica Neue"/>
              <a:buNone/>
            </a:pPr>
            <a:r>
              <a:rPr b="0" lang="en-US" sz="1275">
                <a:solidFill>
                  <a:srgbClr val="193044"/>
                </a:solidFill>
                <a:latin typeface="Helvetica Neue"/>
                <a:ea typeface="Helvetica Neue"/>
                <a:cs typeface="Helvetica Neue"/>
                <a:sym typeface="Helvetica Neue"/>
              </a:rPr>
              <a:t>Lab teams compare mappings, resolve errors and prepare stations for Day 2</a:t>
            </a:r>
            <a:endParaRPr/>
          </a:p>
        </p:txBody>
      </p:sp>
      <p:cxnSp>
        <p:nvCxnSpPr>
          <p:cNvPr id="167" name="Google Shape;167;p7"/>
          <p:cNvCxnSpPr/>
          <p:nvPr/>
        </p:nvCxnSpPr>
        <p:spPr>
          <a:xfrm>
            <a:off x="609600" y="6477000"/>
            <a:ext cx="10972800" cy="0"/>
          </a:xfrm>
          <a:prstGeom prst="straightConnector1">
            <a:avLst/>
          </a:prstGeom>
          <a:noFill/>
          <a:ln cap="flat" cmpd="sng" w="9525">
            <a:solidFill>
              <a:srgbClr val="C7D2D9"/>
            </a:solidFill>
            <a:prstDash val="solid"/>
            <a:round/>
            <a:headEnd len="sm" w="sm" type="none"/>
            <a:tailEnd len="sm" w="sm" type="none"/>
          </a:ln>
        </p:spPr>
      </p:cxnSp>
      <p:sp>
        <p:nvSpPr>
          <p:cNvPr id="168" name="Google Shape;168;p7"/>
          <p:cNvSpPr/>
          <p:nvPr/>
        </p:nvSpPr>
        <p:spPr>
          <a:xfrm>
            <a:off x="609600" y="6553200"/>
            <a:ext cx="8572500" cy="190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6D7A"/>
              </a:buClr>
              <a:buSzPts val="900"/>
              <a:buFont typeface="Helvetica Neue"/>
              <a:buNone/>
            </a:pPr>
            <a:r>
              <a:rPr b="0" lang="en-US" sz="900">
                <a:solidFill>
                  <a:srgbClr val="5A6D7A"/>
                </a:solidFill>
                <a:latin typeface="Helvetica Neue"/>
                <a:ea typeface="Helvetica Neue"/>
                <a:cs typeface="Helvetica Neue"/>
                <a:sym typeface="Helvetica Neue"/>
              </a:rPr>
              <a:t>Thailand technologist workstream, partner preparation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1E8"/>
        </a:solidFill>
      </p:bgPr>
    </p:bg>
    <p:spTree>
      <p:nvGrpSpPr>
        <p:cNvPr id="173" name="Shape 173"/>
        <p:cNvGrpSpPr/>
        <p:nvPr/>
      </p:nvGrpSpPr>
      <p:grpSpPr>
        <a:xfrm>
          <a:off x="0" y="0"/>
          <a:ext cx="0" cy="0"/>
          <a:chOff x="0" y="0"/>
          <a:chExt cx="0" cy="0"/>
        </a:xfrm>
      </p:grpSpPr>
      <p:sp>
        <p:nvSpPr>
          <p:cNvPr id="174" name="Google Shape;174;p8"/>
          <p:cNvSpPr/>
          <p:nvPr/>
        </p:nvSpPr>
        <p:spPr>
          <a:xfrm>
            <a:off x="609600" y="361950"/>
            <a:ext cx="10382250" cy="495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2550"/>
              <a:buFont typeface="Helvetica Neue"/>
              <a:buNone/>
            </a:pPr>
            <a:r>
              <a:rPr b="1" lang="en-US" sz="2550">
                <a:solidFill>
                  <a:srgbClr val="12304A"/>
                </a:solidFill>
                <a:latin typeface="Helvetica Neue"/>
                <a:ea typeface="Helvetica Neue"/>
                <a:cs typeface="Helvetica Neue"/>
                <a:sym typeface="Helvetica Neue"/>
              </a:rPr>
              <a:t>Day 2 agenda</a:t>
            </a:r>
            <a:endParaRPr/>
          </a:p>
        </p:txBody>
      </p:sp>
      <p:sp>
        <p:nvSpPr>
          <p:cNvPr id="175" name="Google Shape;175;p8"/>
          <p:cNvSpPr/>
          <p:nvPr/>
        </p:nvSpPr>
        <p:spPr>
          <a:xfrm>
            <a:off x="628650" y="885825"/>
            <a:ext cx="1038225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6D7A"/>
              </a:buClr>
              <a:buSzPts val="1350"/>
              <a:buFont typeface="Helvetica Neue"/>
              <a:buNone/>
            </a:pPr>
            <a:r>
              <a:rPr b="0" lang="en-US" sz="1350">
                <a:solidFill>
                  <a:srgbClr val="5A6D7A"/>
                </a:solidFill>
                <a:latin typeface="Helvetica Neue"/>
                <a:ea typeface="Helvetica Neue"/>
                <a:cs typeface="Helvetica Neue"/>
                <a:sym typeface="Helvetica Neue"/>
              </a:rPr>
              <a:t>Provisional 09:00–17:00 schedule. One prepared flow, tested in stages.</a:t>
            </a:r>
            <a:endParaRPr/>
          </a:p>
        </p:txBody>
      </p:sp>
      <p:sp>
        <p:nvSpPr>
          <p:cNvPr id="176" name="Google Shape;176;p8"/>
          <p:cNvSpPr/>
          <p:nvPr/>
        </p:nvSpPr>
        <p:spPr>
          <a:xfrm>
            <a:off x="609600" y="1257300"/>
            <a:ext cx="876300" cy="47625"/>
          </a:xfrm>
          <a:prstGeom prst="rect">
            <a:avLst/>
          </a:prstGeom>
          <a:solidFill>
            <a:srgbClr val="008C9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77" name="Google Shape;177;p8"/>
          <p:cNvSpPr/>
          <p:nvPr/>
        </p:nvSpPr>
        <p:spPr>
          <a:xfrm>
            <a:off x="11201400" y="457200"/>
            <a:ext cx="4572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8C95"/>
              </a:buClr>
              <a:buSzPts val="1050"/>
              <a:buFont typeface="Helvetica Neue"/>
              <a:buNone/>
            </a:pPr>
            <a:r>
              <a:rPr b="1" lang="en-US" sz="1050">
                <a:solidFill>
                  <a:srgbClr val="008C95"/>
                </a:solidFill>
                <a:latin typeface="Helvetica Neue"/>
                <a:ea typeface="Helvetica Neue"/>
                <a:cs typeface="Helvetica Neue"/>
                <a:sym typeface="Helvetica Neue"/>
              </a:rPr>
              <a:t>06</a:t>
            </a:r>
            <a:endParaRPr/>
          </a:p>
        </p:txBody>
      </p:sp>
      <p:sp>
        <p:nvSpPr>
          <p:cNvPr id="178" name="Google Shape;178;p8"/>
          <p:cNvSpPr/>
          <p:nvPr/>
        </p:nvSpPr>
        <p:spPr>
          <a:xfrm>
            <a:off x="723900" y="1543050"/>
            <a:ext cx="2095500" cy="285750"/>
          </a:xfrm>
          <a:prstGeom prst="roundRect">
            <a:avLst>
              <a:gd fmla="val 50000" name="adj"/>
            </a:avLst>
          </a:prstGeom>
          <a:solidFill>
            <a:srgbClr val="008C9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79" name="Google Shape;179;p8"/>
          <p:cNvSpPr/>
          <p:nvPr/>
        </p:nvSpPr>
        <p:spPr>
          <a:xfrm>
            <a:off x="838200" y="1590675"/>
            <a:ext cx="1866900" cy="1809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975"/>
              <a:buFont typeface="Helvetica Neue"/>
              <a:buNone/>
            </a:pPr>
            <a:r>
              <a:rPr b="1" lang="en-US" sz="975">
                <a:solidFill>
                  <a:srgbClr val="FFFFFF"/>
                </a:solidFill>
                <a:latin typeface="Helvetica Neue"/>
                <a:ea typeface="Helvetica Neue"/>
                <a:cs typeface="Helvetica Neue"/>
                <a:sym typeface="Helvetica Neue"/>
              </a:rPr>
              <a:t>PRACTICUM</a:t>
            </a:r>
            <a:endParaRPr/>
          </a:p>
        </p:txBody>
      </p:sp>
      <p:sp>
        <p:nvSpPr>
          <p:cNvPr id="180" name="Google Shape;180;p8"/>
          <p:cNvSpPr/>
          <p:nvPr/>
        </p:nvSpPr>
        <p:spPr>
          <a:xfrm>
            <a:off x="723900" y="1981200"/>
            <a:ext cx="2476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800"/>
              <a:buFont typeface="Helvetica Neue"/>
              <a:buNone/>
            </a:pPr>
            <a:r>
              <a:rPr b="1" lang="en-US" sz="1800">
                <a:solidFill>
                  <a:srgbClr val="12304A"/>
                </a:solidFill>
                <a:latin typeface="Helvetica Neue"/>
                <a:ea typeface="Helvetica Neue"/>
                <a:cs typeface="Helvetica Neue"/>
                <a:sym typeface="Helvetica Neue"/>
              </a:rPr>
              <a:t>Interoperability stations</a:t>
            </a:r>
            <a:endParaRPr/>
          </a:p>
        </p:txBody>
      </p:sp>
      <p:sp>
        <p:nvSpPr>
          <p:cNvPr id="181" name="Google Shape;181;p8"/>
          <p:cNvSpPr/>
          <p:nvPr/>
        </p:nvSpPr>
        <p:spPr>
          <a:xfrm>
            <a:off x="762000" y="2533650"/>
            <a:ext cx="3048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8C95"/>
              </a:buClr>
              <a:buSzPts val="1350"/>
              <a:buFont typeface="Helvetica Neue"/>
              <a:buNone/>
            </a:pPr>
            <a:r>
              <a:rPr b="1" lang="en-US" sz="1350">
                <a:solidFill>
                  <a:srgbClr val="008C95"/>
                </a:solidFill>
                <a:latin typeface="Helvetica Neue"/>
                <a:ea typeface="Helvetica Neue"/>
                <a:cs typeface="Helvetica Neue"/>
                <a:sym typeface="Helvetica Neue"/>
              </a:rPr>
              <a:t>1</a:t>
            </a:r>
            <a:endParaRPr/>
          </a:p>
        </p:txBody>
      </p:sp>
      <p:sp>
        <p:nvSpPr>
          <p:cNvPr id="182" name="Google Shape;182;p8"/>
          <p:cNvSpPr/>
          <p:nvPr/>
        </p:nvSpPr>
        <p:spPr>
          <a:xfrm>
            <a:off x="1162050" y="2514600"/>
            <a:ext cx="428625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350"/>
              <a:buFont typeface="Helvetica Neue"/>
              <a:buNone/>
            </a:pPr>
            <a:r>
              <a:rPr b="0" lang="en-US" sz="1350">
                <a:solidFill>
                  <a:srgbClr val="193044"/>
                </a:solidFill>
                <a:latin typeface="Helvetica Neue"/>
                <a:ea typeface="Helvetica Neue"/>
                <a:cs typeface="Helvetica Neue"/>
                <a:sym typeface="Helvetica Neue"/>
              </a:rPr>
              <a:t>Load a prepared source record</a:t>
            </a:r>
            <a:endParaRPr/>
          </a:p>
        </p:txBody>
      </p:sp>
      <p:sp>
        <p:nvSpPr>
          <p:cNvPr id="183" name="Google Shape;183;p8"/>
          <p:cNvSpPr/>
          <p:nvPr/>
        </p:nvSpPr>
        <p:spPr>
          <a:xfrm>
            <a:off x="762000" y="3114675"/>
            <a:ext cx="3048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8C95"/>
              </a:buClr>
              <a:buSzPts val="1350"/>
              <a:buFont typeface="Helvetica Neue"/>
              <a:buNone/>
            </a:pPr>
            <a:r>
              <a:rPr b="1" lang="en-US" sz="1350">
                <a:solidFill>
                  <a:srgbClr val="008C95"/>
                </a:solidFill>
                <a:latin typeface="Helvetica Neue"/>
                <a:ea typeface="Helvetica Neue"/>
                <a:cs typeface="Helvetica Neue"/>
                <a:sym typeface="Helvetica Neue"/>
              </a:rPr>
              <a:t>2</a:t>
            </a:r>
            <a:endParaRPr/>
          </a:p>
        </p:txBody>
      </p:sp>
      <p:sp>
        <p:nvSpPr>
          <p:cNvPr id="184" name="Google Shape;184;p8"/>
          <p:cNvSpPr/>
          <p:nvPr/>
        </p:nvSpPr>
        <p:spPr>
          <a:xfrm>
            <a:off x="1162050" y="3095625"/>
            <a:ext cx="428625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350"/>
              <a:buFont typeface="Helvetica Neue"/>
              <a:buNone/>
            </a:pPr>
            <a:r>
              <a:rPr b="0" lang="en-US" sz="1350">
                <a:solidFill>
                  <a:srgbClr val="193044"/>
                </a:solidFill>
                <a:latin typeface="Helvetica Neue"/>
                <a:ea typeface="Helvetica Neue"/>
                <a:cs typeface="Helvetica Neue"/>
                <a:sym typeface="Helvetica Neue"/>
              </a:rPr>
              <a:t>Transform and validate FHIR</a:t>
            </a:r>
            <a:endParaRPr/>
          </a:p>
        </p:txBody>
      </p:sp>
      <p:sp>
        <p:nvSpPr>
          <p:cNvPr id="185" name="Google Shape;185;p8"/>
          <p:cNvSpPr/>
          <p:nvPr/>
        </p:nvSpPr>
        <p:spPr>
          <a:xfrm>
            <a:off x="762000" y="3695700"/>
            <a:ext cx="3048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8C95"/>
              </a:buClr>
              <a:buSzPts val="1350"/>
              <a:buFont typeface="Helvetica Neue"/>
              <a:buNone/>
            </a:pPr>
            <a:r>
              <a:rPr b="1" lang="en-US" sz="1350">
                <a:solidFill>
                  <a:srgbClr val="008C95"/>
                </a:solidFill>
                <a:latin typeface="Helvetica Neue"/>
                <a:ea typeface="Helvetica Neue"/>
                <a:cs typeface="Helvetica Neue"/>
                <a:sym typeface="Helvetica Neue"/>
              </a:rPr>
              <a:t>3</a:t>
            </a:r>
            <a:endParaRPr/>
          </a:p>
        </p:txBody>
      </p:sp>
      <p:sp>
        <p:nvSpPr>
          <p:cNvPr id="186" name="Google Shape;186;p8"/>
          <p:cNvSpPr/>
          <p:nvPr/>
        </p:nvSpPr>
        <p:spPr>
          <a:xfrm>
            <a:off x="1162050" y="3676650"/>
            <a:ext cx="428625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350"/>
              <a:buFont typeface="Helvetica Neue"/>
              <a:buNone/>
            </a:pPr>
            <a:r>
              <a:rPr b="0" lang="en-US" sz="1350">
                <a:solidFill>
                  <a:srgbClr val="193044"/>
                </a:solidFill>
                <a:latin typeface="Helvetica Neue"/>
                <a:ea typeface="Helvetica Neue"/>
                <a:cs typeface="Helvetica Neue"/>
                <a:sym typeface="Helvetica Neue"/>
              </a:rPr>
              <a:t>Consume or update with open components</a:t>
            </a:r>
            <a:endParaRPr/>
          </a:p>
        </p:txBody>
      </p:sp>
      <p:sp>
        <p:nvSpPr>
          <p:cNvPr id="187" name="Google Shape;187;p8"/>
          <p:cNvSpPr/>
          <p:nvPr/>
        </p:nvSpPr>
        <p:spPr>
          <a:xfrm>
            <a:off x="762000" y="4276725"/>
            <a:ext cx="3048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8C95"/>
              </a:buClr>
              <a:buSzPts val="1350"/>
              <a:buFont typeface="Helvetica Neue"/>
              <a:buNone/>
            </a:pPr>
            <a:r>
              <a:rPr b="1" lang="en-US" sz="1350">
                <a:solidFill>
                  <a:srgbClr val="008C95"/>
                </a:solidFill>
                <a:latin typeface="Helvetica Neue"/>
                <a:ea typeface="Helvetica Neue"/>
                <a:cs typeface="Helvetica Neue"/>
                <a:sym typeface="Helvetica Neue"/>
              </a:rPr>
              <a:t>4</a:t>
            </a:r>
            <a:endParaRPr/>
          </a:p>
        </p:txBody>
      </p:sp>
      <p:sp>
        <p:nvSpPr>
          <p:cNvPr id="188" name="Google Shape;188;p8"/>
          <p:cNvSpPr/>
          <p:nvPr/>
        </p:nvSpPr>
        <p:spPr>
          <a:xfrm>
            <a:off x="1162050" y="4257675"/>
            <a:ext cx="428625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350"/>
              <a:buFont typeface="Helvetica Neue"/>
              <a:buNone/>
            </a:pPr>
            <a:r>
              <a:rPr b="0" lang="en-US" sz="1350">
                <a:solidFill>
                  <a:srgbClr val="193044"/>
                </a:solidFill>
                <a:latin typeface="Helvetica Neue"/>
                <a:ea typeface="Helvetica Neue"/>
                <a:cs typeface="Helvetica Neue"/>
                <a:sym typeface="Helvetica Neue"/>
              </a:rPr>
              <a:t>Run selected FHIR and interoperability tests</a:t>
            </a:r>
            <a:endParaRPr/>
          </a:p>
        </p:txBody>
      </p:sp>
      <p:sp>
        <p:nvSpPr>
          <p:cNvPr id="189" name="Google Shape;189;p8"/>
          <p:cNvSpPr/>
          <p:nvPr/>
        </p:nvSpPr>
        <p:spPr>
          <a:xfrm>
            <a:off x="762000" y="4857750"/>
            <a:ext cx="3048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8C95"/>
              </a:buClr>
              <a:buSzPts val="1350"/>
              <a:buFont typeface="Helvetica Neue"/>
              <a:buNone/>
            </a:pPr>
            <a:r>
              <a:rPr b="1" lang="en-US" sz="1350">
                <a:solidFill>
                  <a:srgbClr val="008C95"/>
                </a:solidFill>
                <a:latin typeface="Helvetica Neue"/>
                <a:ea typeface="Helvetica Neue"/>
                <a:cs typeface="Helvetica Neue"/>
                <a:sym typeface="Helvetica Neue"/>
              </a:rPr>
              <a:t>5</a:t>
            </a:r>
            <a:endParaRPr/>
          </a:p>
        </p:txBody>
      </p:sp>
      <p:sp>
        <p:nvSpPr>
          <p:cNvPr id="190" name="Google Shape;190;p8"/>
          <p:cNvSpPr/>
          <p:nvPr/>
        </p:nvSpPr>
        <p:spPr>
          <a:xfrm>
            <a:off x="1162050" y="4838700"/>
            <a:ext cx="428625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350"/>
              <a:buFont typeface="Helvetica Neue"/>
              <a:buNone/>
            </a:pPr>
            <a:r>
              <a:rPr b="1" lang="en-US" sz="1350">
                <a:solidFill>
                  <a:srgbClr val="193044"/>
                </a:solidFill>
                <a:latin typeface="Helvetica Neue"/>
                <a:ea typeface="Helvetica Neue"/>
                <a:cs typeface="Helvetica Neue"/>
                <a:sym typeface="Helvetica Neue"/>
              </a:rPr>
              <a:t>Record evidence and prepare the handoff</a:t>
            </a:r>
            <a:endParaRPr/>
          </a:p>
        </p:txBody>
      </p:sp>
      <p:cxnSp>
        <p:nvCxnSpPr>
          <p:cNvPr id="191" name="Google Shape;191;p8"/>
          <p:cNvCxnSpPr/>
          <p:nvPr/>
        </p:nvCxnSpPr>
        <p:spPr>
          <a:xfrm>
            <a:off x="5905500" y="1543050"/>
            <a:ext cx="0" cy="4267200"/>
          </a:xfrm>
          <a:prstGeom prst="straightConnector1">
            <a:avLst/>
          </a:prstGeom>
          <a:noFill/>
          <a:ln cap="flat" cmpd="sng" w="19050">
            <a:solidFill>
              <a:srgbClr val="C7D2D9"/>
            </a:solidFill>
            <a:prstDash val="solid"/>
            <a:round/>
            <a:headEnd len="sm" w="sm" type="none"/>
            <a:tailEnd len="sm" w="sm" type="none"/>
          </a:ln>
        </p:spPr>
      </p:cxnSp>
      <p:sp>
        <p:nvSpPr>
          <p:cNvPr id="192" name="Google Shape;192;p8"/>
          <p:cNvSpPr/>
          <p:nvPr/>
        </p:nvSpPr>
        <p:spPr>
          <a:xfrm>
            <a:off x="6400800" y="1543050"/>
            <a:ext cx="2628900" cy="285750"/>
          </a:xfrm>
          <a:prstGeom prst="roundRect">
            <a:avLst>
              <a:gd fmla="val 50000" name="adj"/>
            </a:avLst>
          </a:prstGeom>
          <a:solidFill>
            <a:srgbClr val="E78A4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193" name="Google Shape;193;p8"/>
          <p:cNvSpPr/>
          <p:nvPr/>
        </p:nvSpPr>
        <p:spPr>
          <a:xfrm>
            <a:off x="6515100" y="1590675"/>
            <a:ext cx="2400300" cy="1809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975"/>
              <a:buFont typeface="Helvetica Neue"/>
              <a:buNone/>
            </a:pPr>
            <a:r>
              <a:rPr b="1" lang="en-US" sz="975">
                <a:solidFill>
                  <a:srgbClr val="FFFFFF"/>
                </a:solidFill>
                <a:latin typeface="Helvetica Neue"/>
                <a:ea typeface="Helvetica Neue"/>
                <a:cs typeface="Helvetica Neue"/>
                <a:sym typeface="Helvetica Neue"/>
              </a:rPr>
              <a:t>SHARED FLOW</a:t>
            </a:r>
            <a:endParaRPr/>
          </a:p>
        </p:txBody>
      </p:sp>
      <p:sp>
        <p:nvSpPr>
          <p:cNvPr id="194" name="Google Shape;194;p8"/>
          <p:cNvSpPr/>
          <p:nvPr/>
        </p:nvSpPr>
        <p:spPr>
          <a:xfrm>
            <a:off x="6400800" y="1981200"/>
            <a:ext cx="4476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800"/>
              <a:buFont typeface="Helvetica Neue"/>
              <a:buNone/>
            </a:pPr>
            <a:r>
              <a:rPr b="1" lang="en-US" sz="1800">
                <a:solidFill>
                  <a:srgbClr val="12304A"/>
                </a:solidFill>
                <a:latin typeface="Helvetica Neue"/>
                <a:ea typeface="Helvetica Neue"/>
                <a:cs typeface="Helvetica Neue"/>
                <a:sym typeface="Helvetica Neue"/>
              </a:rPr>
              <a:t>End-to-end demonstration</a:t>
            </a:r>
            <a:endParaRPr/>
          </a:p>
        </p:txBody>
      </p:sp>
      <p:sp>
        <p:nvSpPr>
          <p:cNvPr id="195" name="Google Shape;195;p8"/>
          <p:cNvSpPr/>
          <p:nvPr/>
        </p:nvSpPr>
        <p:spPr>
          <a:xfrm>
            <a:off x="6438900" y="2533650"/>
            <a:ext cx="3048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78A42"/>
              </a:buClr>
              <a:buSzPts val="1350"/>
              <a:buFont typeface="Helvetica Neue"/>
              <a:buNone/>
            </a:pPr>
            <a:r>
              <a:rPr b="1" lang="en-US" sz="1350">
                <a:solidFill>
                  <a:srgbClr val="E78A42"/>
                </a:solidFill>
                <a:latin typeface="Helvetica Neue"/>
                <a:ea typeface="Helvetica Neue"/>
                <a:cs typeface="Helvetica Neue"/>
                <a:sym typeface="Helvetica Neue"/>
              </a:rPr>
              <a:t>1</a:t>
            </a:r>
            <a:endParaRPr/>
          </a:p>
        </p:txBody>
      </p:sp>
      <p:sp>
        <p:nvSpPr>
          <p:cNvPr id="196" name="Google Shape;196;p8"/>
          <p:cNvSpPr/>
          <p:nvPr/>
        </p:nvSpPr>
        <p:spPr>
          <a:xfrm>
            <a:off x="6838950" y="2514600"/>
            <a:ext cx="4381500" cy="361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350"/>
              <a:buFont typeface="Helvetica Neue"/>
              <a:buNone/>
            </a:pPr>
            <a:r>
              <a:rPr b="0" lang="en-US" sz="1350">
                <a:solidFill>
                  <a:srgbClr val="193044"/>
                </a:solidFill>
                <a:latin typeface="Helvetica Neue"/>
                <a:ea typeface="Helvetica Neue"/>
                <a:cs typeface="Helvetica Neue"/>
                <a:sym typeface="Helvetica Neue"/>
              </a:rPr>
              <a:t>Registry and source data</a:t>
            </a:r>
            <a:endParaRPr/>
          </a:p>
        </p:txBody>
      </p:sp>
      <p:sp>
        <p:nvSpPr>
          <p:cNvPr id="197" name="Google Shape;197;p8"/>
          <p:cNvSpPr/>
          <p:nvPr/>
        </p:nvSpPr>
        <p:spPr>
          <a:xfrm>
            <a:off x="6438900" y="3114675"/>
            <a:ext cx="3048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78A42"/>
              </a:buClr>
              <a:buSzPts val="1350"/>
              <a:buFont typeface="Helvetica Neue"/>
              <a:buNone/>
            </a:pPr>
            <a:r>
              <a:rPr b="1" lang="en-US" sz="1350">
                <a:solidFill>
                  <a:srgbClr val="E78A42"/>
                </a:solidFill>
                <a:latin typeface="Helvetica Neue"/>
                <a:ea typeface="Helvetica Neue"/>
                <a:cs typeface="Helvetica Neue"/>
                <a:sym typeface="Helvetica Neue"/>
              </a:rPr>
              <a:t>2</a:t>
            </a:r>
            <a:endParaRPr/>
          </a:p>
        </p:txBody>
      </p:sp>
      <p:sp>
        <p:nvSpPr>
          <p:cNvPr id="198" name="Google Shape;198;p8"/>
          <p:cNvSpPr/>
          <p:nvPr/>
        </p:nvSpPr>
        <p:spPr>
          <a:xfrm>
            <a:off x="6838950" y="3095625"/>
            <a:ext cx="4381500" cy="361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350"/>
              <a:buFont typeface="Helvetica Neue"/>
              <a:buNone/>
            </a:pPr>
            <a:r>
              <a:rPr b="0" lang="en-US" sz="1350">
                <a:solidFill>
                  <a:srgbClr val="193044"/>
                </a:solidFill>
                <a:latin typeface="Helvetica Neue"/>
                <a:ea typeface="Helvetica Neue"/>
                <a:cs typeface="Helvetica Neue"/>
                <a:sym typeface="Helvetica Neue"/>
              </a:rPr>
              <a:t>FHIR exchange</a:t>
            </a:r>
            <a:endParaRPr/>
          </a:p>
        </p:txBody>
      </p:sp>
      <p:sp>
        <p:nvSpPr>
          <p:cNvPr id="199" name="Google Shape;199;p8"/>
          <p:cNvSpPr/>
          <p:nvPr/>
        </p:nvSpPr>
        <p:spPr>
          <a:xfrm>
            <a:off x="6438900" y="3695700"/>
            <a:ext cx="3048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78A42"/>
              </a:buClr>
              <a:buSzPts val="1350"/>
              <a:buFont typeface="Helvetica Neue"/>
              <a:buNone/>
            </a:pPr>
            <a:r>
              <a:rPr b="1" lang="en-US" sz="1350">
                <a:solidFill>
                  <a:srgbClr val="E78A42"/>
                </a:solidFill>
                <a:latin typeface="Helvetica Neue"/>
                <a:ea typeface="Helvetica Neue"/>
                <a:cs typeface="Helvetica Neue"/>
                <a:sym typeface="Helvetica Neue"/>
              </a:rPr>
              <a:t>3</a:t>
            </a:r>
            <a:endParaRPr/>
          </a:p>
        </p:txBody>
      </p:sp>
      <p:sp>
        <p:nvSpPr>
          <p:cNvPr id="200" name="Google Shape;200;p8"/>
          <p:cNvSpPr/>
          <p:nvPr/>
        </p:nvSpPr>
        <p:spPr>
          <a:xfrm>
            <a:off x="6838950" y="3676650"/>
            <a:ext cx="4381500" cy="361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350"/>
              <a:buFont typeface="Helvetica Neue"/>
              <a:buNone/>
            </a:pPr>
            <a:r>
              <a:rPr b="0" lang="en-US" sz="1350">
                <a:solidFill>
                  <a:srgbClr val="193044"/>
                </a:solidFill>
                <a:latin typeface="Helvetica Neue"/>
                <a:ea typeface="Helvetica Neue"/>
                <a:cs typeface="Helvetica Neue"/>
                <a:sym typeface="Helvetica Neue"/>
              </a:rPr>
              <a:t>Open reference component</a:t>
            </a:r>
            <a:endParaRPr/>
          </a:p>
        </p:txBody>
      </p:sp>
      <p:sp>
        <p:nvSpPr>
          <p:cNvPr id="201" name="Google Shape;201;p8"/>
          <p:cNvSpPr/>
          <p:nvPr/>
        </p:nvSpPr>
        <p:spPr>
          <a:xfrm>
            <a:off x="6438900" y="4276725"/>
            <a:ext cx="3048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78A42"/>
              </a:buClr>
              <a:buSzPts val="1350"/>
              <a:buFont typeface="Helvetica Neue"/>
              <a:buNone/>
            </a:pPr>
            <a:r>
              <a:rPr b="1" lang="en-US" sz="1350">
                <a:solidFill>
                  <a:srgbClr val="E78A42"/>
                </a:solidFill>
                <a:latin typeface="Helvetica Neue"/>
                <a:ea typeface="Helvetica Neue"/>
                <a:cs typeface="Helvetica Neue"/>
                <a:sym typeface="Helvetica Neue"/>
              </a:rPr>
              <a:t>4</a:t>
            </a:r>
            <a:endParaRPr/>
          </a:p>
        </p:txBody>
      </p:sp>
      <p:sp>
        <p:nvSpPr>
          <p:cNvPr id="202" name="Google Shape;202;p8"/>
          <p:cNvSpPr/>
          <p:nvPr/>
        </p:nvSpPr>
        <p:spPr>
          <a:xfrm>
            <a:off x="6838950" y="4257675"/>
            <a:ext cx="4381500" cy="361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350"/>
              <a:buFont typeface="Helvetica Neue"/>
              <a:buNone/>
            </a:pPr>
            <a:r>
              <a:rPr b="0" lang="en-US" sz="1350">
                <a:solidFill>
                  <a:srgbClr val="193044"/>
                </a:solidFill>
                <a:latin typeface="Helvetica Neue"/>
                <a:ea typeface="Helvetica Neue"/>
                <a:cs typeface="Helvetica Neue"/>
                <a:sym typeface="Helvetica Neue"/>
              </a:rPr>
              <a:t>Test execution and result</a:t>
            </a:r>
            <a:endParaRPr/>
          </a:p>
        </p:txBody>
      </p:sp>
      <p:sp>
        <p:nvSpPr>
          <p:cNvPr id="203" name="Google Shape;203;p8"/>
          <p:cNvSpPr/>
          <p:nvPr/>
        </p:nvSpPr>
        <p:spPr>
          <a:xfrm>
            <a:off x="6438900" y="4857750"/>
            <a:ext cx="3048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78A42"/>
              </a:buClr>
              <a:buSzPts val="1350"/>
              <a:buFont typeface="Helvetica Neue"/>
              <a:buNone/>
            </a:pPr>
            <a:r>
              <a:rPr b="1" lang="en-US" sz="1350">
                <a:solidFill>
                  <a:srgbClr val="E78A42"/>
                </a:solidFill>
                <a:latin typeface="Helvetica Neue"/>
                <a:ea typeface="Helvetica Neue"/>
                <a:cs typeface="Helvetica Neue"/>
                <a:sym typeface="Helvetica Neue"/>
              </a:rPr>
              <a:t>5</a:t>
            </a:r>
            <a:endParaRPr/>
          </a:p>
        </p:txBody>
      </p:sp>
      <p:sp>
        <p:nvSpPr>
          <p:cNvPr id="204" name="Google Shape;204;p8"/>
          <p:cNvSpPr/>
          <p:nvPr/>
        </p:nvSpPr>
        <p:spPr>
          <a:xfrm>
            <a:off x="6838950" y="4838700"/>
            <a:ext cx="4381500" cy="361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350"/>
              <a:buFont typeface="Helvetica Neue"/>
              <a:buNone/>
            </a:pPr>
            <a:r>
              <a:rPr b="1" lang="en-US" sz="1350">
                <a:solidFill>
                  <a:srgbClr val="193044"/>
                </a:solidFill>
                <a:latin typeface="Helvetica Neue"/>
                <a:ea typeface="Helvetica Neue"/>
                <a:cs typeface="Helvetica Neue"/>
                <a:sym typeface="Helvetica Neue"/>
              </a:rPr>
              <a:t>Optional ICVP or IPS extension</a:t>
            </a:r>
            <a:endParaRPr/>
          </a:p>
        </p:txBody>
      </p:sp>
      <p:sp>
        <p:nvSpPr>
          <p:cNvPr id="205" name="Google Shape;205;p8"/>
          <p:cNvSpPr/>
          <p:nvPr/>
        </p:nvSpPr>
        <p:spPr>
          <a:xfrm>
            <a:off x="723900" y="5638800"/>
            <a:ext cx="10496550" cy="476250"/>
          </a:xfrm>
          <a:prstGeom prst="roundRect">
            <a:avLst>
              <a:gd fmla="val 20000" name="adj"/>
            </a:avLst>
          </a:prstGeom>
          <a:solidFill>
            <a:srgbClr val="1230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206" name="Google Shape;206;p8"/>
          <p:cNvSpPr/>
          <p:nvPr/>
        </p:nvSpPr>
        <p:spPr>
          <a:xfrm>
            <a:off x="971550" y="5762625"/>
            <a:ext cx="99822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425"/>
              <a:buFont typeface="Helvetica Neue"/>
              <a:buNone/>
            </a:pPr>
            <a:r>
              <a:rPr b="1" lang="en-US" sz="1425">
                <a:solidFill>
                  <a:srgbClr val="FFFFFF"/>
                </a:solidFill>
                <a:latin typeface="Helvetica Neue"/>
                <a:ea typeface="Helvetica Neue"/>
                <a:cs typeface="Helvetica Neue"/>
                <a:sym typeface="Helvetica Neue"/>
              </a:rPr>
              <a:t>Different groups demonstrate prepared parts of one connected patient journey.</a:t>
            </a:r>
            <a:endParaRPr/>
          </a:p>
        </p:txBody>
      </p:sp>
      <p:cxnSp>
        <p:nvCxnSpPr>
          <p:cNvPr id="207" name="Google Shape;207;p8"/>
          <p:cNvCxnSpPr/>
          <p:nvPr/>
        </p:nvCxnSpPr>
        <p:spPr>
          <a:xfrm>
            <a:off x="609600" y="6477000"/>
            <a:ext cx="10972800" cy="0"/>
          </a:xfrm>
          <a:prstGeom prst="straightConnector1">
            <a:avLst/>
          </a:prstGeom>
          <a:noFill/>
          <a:ln cap="flat" cmpd="sng" w="9525">
            <a:solidFill>
              <a:srgbClr val="C7D2D9"/>
            </a:solidFill>
            <a:prstDash val="solid"/>
            <a:round/>
            <a:headEnd len="sm" w="sm" type="none"/>
            <a:tailEnd len="sm" w="sm" type="none"/>
          </a:ln>
        </p:spPr>
      </p:cxnSp>
      <p:sp>
        <p:nvSpPr>
          <p:cNvPr id="208" name="Google Shape;208;p8"/>
          <p:cNvSpPr/>
          <p:nvPr/>
        </p:nvSpPr>
        <p:spPr>
          <a:xfrm>
            <a:off x="609600" y="6553200"/>
            <a:ext cx="8572500" cy="190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6D7A"/>
              </a:buClr>
              <a:buSzPts val="900"/>
              <a:buFont typeface="Helvetica Neue"/>
              <a:buNone/>
            </a:pPr>
            <a:r>
              <a:rPr b="0" lang="en-US" sz="900">
                <a:solidFill>
                  <a:srgbClr val="5A6D7A"/>
                </a:solidFill>
                <a:latin typeface="Helvetica Neue"/>
                <a:ea typeface="Helvetica Neue"/>
                <a:cs typeface="Helvetica Neue"/>
                <a:sym typeface="Helvetica Neue"/>
              </a:rPr>
              <a:t>Thailand technologist workstream, partner preparation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9"/>
          <p:cNvSpPr txBox="1"/>
          <p:nvPr/>
        </p:nvSpPr>
        <p:spPr>
          <a:xfrm>
            <a:off x="704850" y="428625"/>
            <a:ext cx="99060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600">
                <a:solidFill>
                  <a:srgbClr val="12314B"/>
                </a:solidFill>
                <a:latin typeface="Helvetica Neue"/>
                <a:ea typeface="Helvetica Neue"/>
                <a:cs typeface="Helvetica Neue"/>
                <a:sym typeface="Helvetica Neue"/>
              </a:rPr>
              <a:t>Day 1 agenda, morning (integrated tracks)</a:t>
            </a:r>
            <a:endParaRPr b="1" sz="2600">
              <a:solidFill>
                <a:srgbClr val="12314B"/>
              </a:solidFill>
              <a:latin typeface="Helvetica Neue"/>
              <a:ea typeface="Helvetica Neue"/>
              <a:cs typeface="Helvetica Neue"/>
              <a:sym typeface="Helvetica Neue"/>
            </a:endParaRPr>
          </a:p>
        </p:txBody>
      </p:sp>
      <p:sp>
        <p:nvSpPr>
          <p:cNvPr id="218" name="Google Shape;218;p9"/>
          <p:cNvSpPr txBox="1"/>
          <p:nvPr/>
        </p:nvSpPr>
        <p:spPr>
          <a:xfrm>
            <a:off x="10763250" y="485775"/>
            <a:ext cx="762000" cy="285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en-US" sz="1250">
                <a:solidFill>
                  <a:srgbClr val="008F99"/>
                </a:solidFill>
                <a:latin typeface="Helvetica Neue"/>
                <a:ea typeface="Helvetica Neue"/>
                <a:cs typeface="Helvetica Neue"/>
                <a:sym typeface="Helvetica Neue"/>
              </a:rPr>
              <a:t>07-ALT</a:t>
            </a:r>
            <a:endParaRPr b="1" sz="1250">
              <a:solidFill>
                <a:srgbClr val="008F99"/>
              </a:solidFill>
              <a:latin typeface="Helvetica Neue"/>
              <a:ea typeface="Helvetica Neue"/>
              <a:cs typeface="Helvetica Neue"/>
              <a:sym typeface="Helvetica Neue"/>
            </a:endParaRPr>
          </a:p>
        </p:txBody>
      </p:sp>
      <p:sp>
        <p:nvSpPr>
          <p:cNvPr id="219" name="Google Shape;219;p9"/>
          <p:cNvSpPr txBox="1"/>
          <p:nvPr/>
        </p:nvSpPr>
        <p:spPr>
          <a:xfrm>
            <a:off x="723900" y="971550"/>
            <a:ext cx="104775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400" u="none" strike="noStrike">
                <a:solidFill>
                  <a:srgbClr val="607383"/>
                </a:solidFill>
                <a:latin typeface="Helvetica Neue"/>
                <a:ea typeface="Helvetica Neue"/>
                <a:cs typeface="Helvetica Neue"/>
                <a:sym typeface="Helvetica Neue"/>
              </a:rPr>
              <a:t>Cross-border journeys (J1 &amp; J2) with FHIR foundations, terminology, and policy tracks</a:t>
            </a:r>
            <a:endParaRPr b="0" i="0" sz="1400" u="none" strike="noStrike">
              <a:solidFill>
                <a:srgbClr val="607383"/>
              </a:solidFill>
              <a:latin typeface="Helvetica Neue"/>
              <a:ea typeface="Helvetica Neue"/>
              <a:cs typeface="Helvetica Neue"/>
              <a:sym typeface="Helvetica Neue"/>
            </a:endParaRPr>
          </a:p>
        </p:txBody>
      </p:sp>
      <p:cxnSp>
        <p:nvCxnSpPr>
          <p:cNvPr id="220" name="Google Shape;220;p9"/>
          <p:cNvCxnSpPr/>
          <p:nvPr/>
        </p:nvCxnSpPr>
        <p:spPr>
          <a:xfrm>
            <a:off x="609600" y="1276350"/>
            <a:ext cx="876300" cy="0"/>
          </a:xfrm>
          <a:prstGeom prst="straightConnector1">
            <a:avLst/>
          </a:prstGeom>
          <a:solidFill>
            <a:srgbClr val="FFFFFF"/>
          </a:solidFill>
          <a:ln cap="flat" cmpd="sng" w="38100">
            <a:solidFill>
              <a:srgbClr val="008F99"/>
            </a:solidFill>
            <a:prstDash val="solid"/>
            <a:round/>
            <a:headEnd len="sm" w="sm" type="none"/>
            <a:tailEnd len="sm" w="sm" type="none"/>
          </a:ln>
        </p:spPr>
      </p:cxnSp>
      <p:sp>
        <p:nvSpPr>
          <p:cNvPr id="221" name="Google Shape;221;p9"/>
          <p:cNvSpPr txBox="1"/>
          <p:nvPr/>
        </p:nvSpPr>
        <p:spPr>
          <a:xfrm>
            <a:off x="723900" y="1485900"/>
            <a:ext cx="1333500" cy="2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008F99"/>
                </a:solidFill>
                <a:latin typeface="Helvetica Neue"/>
                <a:ea typeface="Helvetica Neue"/>
                <a:cs typeface="Helvetica Neue"/>
                <a:sym typeface="Helvetica Neue"/>
              </a:rPr>
              <a:t>TIME &amp; JOURNEY</a:t>
            </a:r>
            <a:endParaRPr b="1" sz="1100">
              <a:solidFill>
                <a:srgbClr val="008F99"/>
              </a:solidFill>
              <a:latin typeface="Helvetica Neue"/>
              <a:ea typeface="Helvetica Neue"/>
              <a:cs typeface="Helvetica Neue"/>
              <a:sym typeface="Helvetica Neue"/>
            </a:endParaRPr>
          </a:p>
        </p:txBody>
      </p:sp>
      <p:sp>
        <p:nvSpPr>
          <p:cNvPr id="222" name="Google Shape;222;p9"/>
          <p:cNvSpPr txBox="1"/>
          <p:nvPr/>
        </p:nvSpPr>
        <p:spPr>
          <a:xfrm>
            <a:off x="2133600" y="1485900"/>
            <a:ext cx="2857500" cy="2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008F99"/>
                </a:solidFill>
                <a:latin typeface="Helvetica Neue"/>
                <a:ea typeface="Helvetica Neue"/>
                <a:cs typeface="Helvetica Neue"/>
                <a:sym typeface="Helvetica Neue"/>
              </a:rPr>
              <a:t>PLENARY ANCHOR &amp; SCOPE</a:t>
            </a:r>
            <a:endParaRPr b="1" sz="1100">
              <a:solidFill>
                <a:srgbClr val="008F99"/>
              </a:solidFill>
              <a:latin typeface="Helvetica Neue"/>
              <a:ea typeface="Helvetica Neue"/>
              <a:cs typeface="Helvetica Neue"/>
              <a:sym typeface="Helvetica Neue"/>
            </a:endParaRPr>
          </a:p>
        </p:txBody>
      </p:sp>
      <p:sp>
        <p:nvSpPr>
          <p:cNvPr id="223" name="Google Shape;223;p9"/>
          <p:cNvSpPr txBox="1"/>
          <p:nvPr/>
        </p:nvSpPr>
        <p:spPr>
          <a:xfrm>
            <a:off x="5067300" y="1485900"/>
            <a:ext cx="3181200" cy="2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008F99"/>
                </a:solidFill>
                <a:latin typeface="Helvetica Neue"/>
                <a:ea typeface="Helvetica Neue"/>
                <a:cs typeface="Helvetica Neue"/>
                <a:sym typeface="Helvetica Neue"/>
              </a:rPr>
              <a:t>TECHNICAL TRACK (ROOM A)</a:t>
            </a:r>
            <a:endParaRPr b="1" sz="1100">
              <a:solidFill>
                <a:srgbClr val="008F99"/>
              </a:solidFill>
              <a:latin typeface="Helvetica Neue"/>
              <a:ea typeface="Helvetica Neue"/>
              <a:cs typeface="Helvetica Neue"/>
              <a:sym typeface="Helvetica Neue"/>
            </a:endParaRPr>
          </a:p>
        </p:txBody>
      </p:sp>
      <p:sp>
        <p:nvSpPr>
          <p:cNvPr id="224" name="Google Shape;224;p9"/>
          <p:cNvSpPr txBox="1"/>
          <p:nvPr/>
        </p:nvSpPr>
        <p:spPr>
          <a:xfrm>
            <a:off x="8324850" y="1485900"/>
            <a:ext cx="3162300" cy="2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008F99"/>
                </a:solidFill>
                <a:latin typeface="Helvetica Neue"/>
                <a:ea typeface="Helvetica Neue"/>
                <a:cs typeface="Helvetica Neue"/>
                <a:sym typeface="Helvetica Neue"/>
              </a:rPr>
              <a:t>POLICY &amp; GOVERNANCE TRACK (ROOM B)</a:t>
            </a:r>
            <a:endParaRPr b="1" sz="1100">
              <a:solidFill>
                <a:srgbClr val="008F99"/>
              </a:solidFill>
              <a:latin typeface="Helvetica Neue"/>
              <a:ea typeface="Helvetica Neue"/>
              <a:cs typeface="Helvetica Neue"/>
              <a:sym typeface="Helvetica Neue"/>
            </a:endParaRPr>
          </a:p>
        </p:txBody>
      </p:sp>
      <p:cxnSp>
        <p:nvCxnSpPr>
          <p:cNvPr id="225" name="Google Shape;225;p9"/>
          <p:cNvCxnSpPr/>
          <p:nvPr/>
        </p:nvCxnSpPr>
        <p:spPr>
          <a:xfrm>
            <a:off x="723900" y="1733550"/>
            <a:ext cx="10763400" cy="0"/>
          </a:xfrm>
          <a:prstGeom prst="straightConnector1">
            <a:avLst/>
          </a:prstGeom>
          <a:solidFill>
            <a:srgbClr val="FFFFFF"/>
          </a:solidFill>
          <a:ln cap="flat" cmpd="sng" w="9525">
            <a:solidFill>
              <a:srgbClr val="CBD7DC"/>
            </a:solidFill>
            <a:prstDash val="solid"/>
            <a:round/>
            <a:headEnd len="sm" w="sm" type="none"/>
            <a:tailEnd len="sm" w="sm" type="none"/>
          </a:ln>
        </p:spPr>
      </p:cxnSp>
      <p:sp>
        <p:nvSpPr>
          <p:cNvPr id="226" name="Google Shape;226;p9"/>
          <p:cNvSpPr txBox="1"/>
          <p:nvPr/>
        </p:nvSpPr>
        <p:spPr>
          <a:xfrm>
            <a:off x="723900" y="1847850"/>
            <a:ext cx="1333500" cy="1219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300" u="none" strike="noStrike">
                <a:solidFill>
                  <a:srgbClr val="008F99"/>
                </a:solidFill>
                <a:latin typeface="Helvetica Neue"/>
                <a:ea typeface="Helvetica Neue"/>
                <a:cs typeface="Helvetica Neue"/>
                <a:sym typeface="Helvetica Neue"/>
              </a:rPr>
              <a:t>0</a:t>
            </a:r>
            <a:r>
              <a:rPr b="1" lang="en-US" sz="1300">
                <a:solidFill>
                  <a:srgbClr val="008F99"/>
                </a:solidFill>
                <a:latin typeface="Helvetica Neue"/>
                <a:ea typeface="Helvetica Neue"/>
                <a:cs typeface="Helvetica Neue"/>
                <a:sym typeface="Helvetica Neue"/>
              </a:rPr>
              <a:t>8</a:t>
            </a:r>
            <a:r>
              <a:rPr b="1" i="0" lang="en-US" sz="1300" u="none" strike="noStrike">
                <a:solidFill>
                  <a:srgbClr val="008F99"/>
                </a:solidFill>
                <a:latin typeface="Helvetica Neue"/>
                <a:ea typeface="Helvetica Neue"/>
                <a:cs typeface="Helvetica Neue"/>
                <a:sym typeface="Helvetica Neue"/>
              </a:rPr>
              <a:t>:</a:t>
            </a:r>
            <a:r>
              <a:rPr b="1" lang="en-US" sz="1300">
                <a:solidFill>
                  <a:srgbClr val="008F99"/>
                </a:solidFill>
                <a:latin typeface="Helvetica Neue"/>
                <a:ea typeface="Helvetica Neue"/>
                <a:cs typeface="Helvetica Neue"/>
                <a:sym typeface="Helvetica Neue"/>
              </a:rPr>
              <a:t>3</a:t>
            </a:r>
            <a:r>
              <a:rPr b="1" i="0" lang="en-US" sz="1300" u="none" strike="noStrike">
                <a:solidFill>
                  <a:srgbClr val="008F99"/>
                </a:solidFill>
                <a:latin typeface="Helvetica Neue"/>
                <a:ea typeface="Helvetica Neue"/>
                <a:cs typeface="Helvetica Neue"/>
                <a:sym typeface="Helvetica Neue"/>
              </a:rPr>
              <a:t>0–09:30</a:t>
            </a:r>
            <a:endParaRPr b="1" i="0" sz="1300" u="none" strike="noStrike">
              <a:solidFill>
                <a:srgbClr val="008F99"/>
              </a:solidFill>
              <a:latin typeface="Helvetica Neue"/>
              <a:ea typeface="Helvetica Neue"/>
              <a:cs typeface="Helvetica Neue"/>
              <a:sym typeface="Helvetica Neue"/>
            </a:endParaRPr>
          </a:p>
          <a:p>
            <a:pPr indent="0" lvl="0" marL="0" marR="0" rtl="0" algn="l">
              <a:lnSpc>
                <a:spcPct val="100000"/>
              </a:lnSpc>
              <a:spcBef>
                <a:spcPts val="400"/>
              </a:spcBef>
              <a:spcAft>
                <a:spcPts val="0"/>
              </a:spcAft>
              <a:buNone/>
            </a:pPr>
            <a:r>
              <a:rPr b="0" i="0" lang="en-US" sz="1150" u="none" strike="noStrike">
                <a:solidFill>
                  <a:srgbClr val="12314B"/>
                </a:solidFill>
                <a:latin typeface="Helvetica Neue"/>
                <a:ea typeface="Helvetica Neue"/>
                <a:cs typeface="Helvetica Neue"/>
                <a:sym typeface="Helvetica Neue"/>
              </a:rPr>
              <a:t>Framing</a:t>
            </a:r>
            <a:endParaRPr b="1" i="0" sz="1300" u="none" strike="noStrike">
              <a:solidFill>
                <a:srgbClr val="008F99"/>
              </a:solidFill>
              <a:latin typeface="Helvetica Neue"/>
              <a:ea typeface="Helvetica Neue"/>
              <a:cs typeface="Helvetica Neue"/>
              <a:sym typeface="Helvetica Neue"/>
            </a:endParaRPr>
          </a:p>
        </p:txBody>
      </p:sp>
      <p:sp>
        <p:nvSpPr>
          <p:cNvPr id="227" name="Google Shape;227;p9"/>
          <p:cNvSpPr/>
          <p:nvPr/>
        </p:nvSpPr>
        <p:spPr>
          <a:xfrm>
            <a:off x="2133600" y="1847850"/>
            <a:ext cx="2857500" cy="1219200"/>
          </a:xfrm>
          <a:prstGeom prst="roundRect">
            <a:avLst>
              <a:gd fmla="val 0" name="adj"/>
            </a:avLst>
          </a:prstGeom>
          <a:solidFill>
            <a:srgbClr val="F8FAFC"/>
          </a:solidFill>
          <a:ln cap="flat" cmpd="sng" w="9525">
            <a:solidFill>
              <a:srgbClr val="CBD7D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8" name="Google Shape;228;p9"/>
          <p:cNvSpPr txBox="1"/>
          <p:nvPr/>
        </p:nvSpPr>
        <p:spPr>
          <a:xfrm>
            <a:off x="2228850" y="1924050"/>
            <a:ext cx="26670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00" u="none" strike="noStrike">
                <a:solidFill>
                  <a:srgbClr val="1E3A8A"/>
                </a:solidFill>
                <a:latin typeface="Helvetica Neue"/>
                <a:ea typeface="Helvetica Neue"/>
                <a:cs typeface="Helvetica Neue"/>
                <a:sym typeface="Helvetica Neue"/>
              </a:rPr>
              <a:t>[All Delegates] </a:t>
            </a:r>
            <a:r>
              <a:rPr b="1" i="0" lang="en-US" sz="1200" u="none" strike="noStrike">
                <a:solidFill>
                  <a:srgbClr val="12314B"/>
                </a:solidFill>
                <a:latin typeface="Helvetica Neue"/>
                <a:ea typeface="Helvetica Neue"/>
                <a:cs typeface="Helvetica Neue"/>
                <a:sym typeface="Helvetica Neue"/>
              </a:rPr>
              <a:t>Opening &amp; E2E Journey Framing</a:t>
            </a:r>
            <a:endParaRPr b="1" i="0" sz="1000" u="none" strike="noStrike">
              <a:solidFill>
                <a:srgbClr val="1E3A8A"/>
              </a:solidFill>
              <a:latin typeface="Helvetica Neue"/>
              <a:ea typeface="Helvetica Neue"/>
              <a:cs typeface="Helvetica Neue"/>
              <a:sym typeface="Helvetica Neue"/>
            </a:endParaRPr>
          </a:p>
          <a:p>
            <a:pPr indent="0" lvl="0" marL="0" marR="0" rtl="0" algn="l">
              <a:lnSpc>
                <a:spcPct val="115000"/>
              </a:lnSpc>
              <a:spcBef>
                <a:spcPts val="600"/>
              </a:spcBef>
              <a:spcAft>
                <a:spcPts val="0"/>
              </a:spcAft>
              <a:buNone/>
            </a:pPr>
            <a:r>
              <a:rPr b="0" i="0" lang="en-US" sz="1050" u="none" strike="noStrike">
                <a:solidFill>
                  <a:srgbClr val="4B6375"/>
                </a:solidFill>
                <a:latin typeface="Helvetica Neue"/>
                <a:ea typeface="Helvetica Neue"/>
                <a:cs typeface="Helvetica Neue"/>
                <a:sym typeface="Helvetica Neue"/>
              </a:rPr>
              <a:t>Framing J1–J5 connected patient journeys, shared architecture principles, and workshop collaboration charter.</a:t>
            </a:r>
            <a:endParaRPr b="1" i="0" sz="1000" u="none" strike="noStrike">
              <a:solidFill>
                <a:srgbClr val="1E3A8A"/>
              </a:solidFill>
              <a:latin typeface="Helvetica Neue"/>
              <a:ea typeface="Helvetica Neue"/>
              <a:cs typeface="Helvetica Neue"/>
              <a:sym typeface="Helvetica Neue"/>
            </a:endParaRPr>
          </a:p>
        </p:txBody>
      </p:sp>
      <p:sp>
        <p:nvSpPr>
          <p:cNvPr id="229" name="Google Shape;229;p9"/>
          <p:cNvSpPr/>
          <p:nvPr/>
        </p:nvSpPr>
        <p:spPr>
          <a:xfrm>
            <a:off x="5067300" y="1847850"/>
            <a:ext cx="3181200" cy="1219200"/>
          </a:xfrm>
          <a:prstGeom prst="roundRect">
            <a:avLst>
              <a:gd fmla="val 0" name="adj"/>
            </a:avLst>
          </a:prstGeom>
          <a:solidFill>
            <a:srgbClr val="F0FDF4"/>
          </a:solidFill>
          <a:ln cap="flat" cmpd="sng" w="9525">
            <a:solidFill>
              <a:srgbClr val="CBD7D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0" name="Google Shape;230;p9"/>
          <p:cNvSpPr txBox="1"/>
          <p:nvPr/>
        </p:nvSpPr>
        <p:spPr>
          <a:xfrm>
            <a:off x="5162550" y="1924050"/>
            <a:ext cx="29910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00" u="none" strike="noStrike">
                <a:solidFill>
                  <a:srgbClr val="0F766E"/>
                </a:solidFill>
                <a:latin typeface="Helvetica Neue"/>
                <a:ea typeface="Helvetica Neue"/>
                <a:cs typeface="Helvetica Neue"/>
                <a:sym typeface="Helvetica Neue"/>
              </a:rPr>
              <a:t>[Ballroom] </a:t>
            </a:r>
            <a:r>
              <a:rPr b="1" i="0" lang="en-US" sz="1200" u="none" strike="noStrike">
                <a:solidFill>
                  <a:srgbClr val="12314B"/>
                </a:solidFill>
                <a:latin typeface="Helvetica Neue"/>
                <a:ea typeface="Helvetica Neue"/>
                <a:cs typeface="Helvetica Neue"/>
                <a:sym typeface="Helvetica Neue"/>
              </a:rPr>
              <a:t>Joint Architecture Alignment</a:t>
            </a:r>
            <a:endParaRPr b="1" i="0" sz="1000" u="none" strike="noStrike">
              <a:solidFill>
                <a:srgbClr val="0F766E"/>
              </a:solidFill>
              <a:latin typeface="Helvetica Neue"/>
              <a:ea typeface="Helvetica Neue"/>
              <a:cs typeface="Helvetica Neue"/>
              <a:sym typeface="Helvetica Neue"/>
            </a:endParaRPr>
          </a:p>
          <a:p>
            <a:pPr indent="0" lvl="0" marL="0" marR="0" rtl="0" algn="l">
              <a:lnSpc>
                <a:spcPct val="115000"/>
              </a:lnSpc>
              <a:spcBef>
                <a:spcPts val="600"/>
              </a:spcBef>
              <a:spcAft>
                <a:spcPts val="0"/>
              </a:spcAft>
              <a:buNone/>
            </a:pPr>
            <a:r>
              <a:rPr b="0" i="0" lang="en-US" sz="1050" u="none" strike="noStrike">
                <a:solidFill>
                  <a:srgbClr val="4B6375"/>
                </a:solidFill>
                <a:latin typeface="Helvetica Neue"/>
                <a:ea typeface="Helvetica Neue"/>
                <a:cs typeface="Helvetica Neue"/>
                <a:sym typeface="Helvetica Neue"/>
              </a:rPr>
              <a:t>Connecting community, clinic, and national health architectures across ASEAN. FHIR, Interoperability, terminology level settings</a:t>
            </a:r>
            <a:endParaRPr b="1" i="0" sz="1000" u="none" strike="noStrike">
              <a:solidFill>
                <a:srgbClr val="0F766E"/>
              </a:solidFill>
              <a:latin typeface="Helvetica Neue"/>
              <a:ea typeface="Helvetica Neue"/>
              <a:cs typeface="Helvetica Neue"/>
              <a:sym typeface="Helvetica Neue"/>
            </a:endParaRPr>
          </a:p>
        </p:txBody>
      </p:sp>
      <p:sp>
        <p:nvSpPr>
          <p:cNvPr id="231" name="Google Shape;231;p9"/>
          <p:cNvSpPr/>
          <p:nvPr/>
        </p:nvSpPr>
        <p:spPr>
          <a:xfrm>
            <a:off x="8324850" y="1847850"/>
            <a:ext cx="3162300" cy="1219200"/>
          </a:xfrm>
          <a:prstGeom prst="roundRect">
            <a:avLst>
              <a:gd fmla="val 0" name="adj"/>
            </a:avLst>
          </a:prstGeom>
          <a:solidFill>
            <a:srgbClr val="F8FAFC"/>
          </a:solidFill>
          <a:ln cap="flat" cmpd="sng" w="9525">
            <a:solidFill>
              <a:srgbClr val="CBD7D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2" name="Google Shape;232;p9"/>
          <p:cNvSpPr txBox="1"/>
          <p:nvPr/>
        </p:nvSpPr>
        <p:spPr>
          <a:xfrm>
            <a:off x="8420100" y="1924050"/>
            <a:ext cx="29718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00" u="none" strike="noStrike">
                <a:solidFill>
                  <a:srgbClr val="B45309"/>
                </a:solidFill>
                <a:latin typeface="Helvetica Neue"/>
                <a:ea typeface="Helvetica Neue"/>
                <a:cs typeface="Helvetica Neue"/>
                <a:sym typeface="Helvetica Neue"/>
              </a:rPr>
              <a:t>[Ballroom] </a:t>
            </a:r>
            <a:r>
              <a:rPr b="1" i="0" lang="en-US" sz="1200" u="none" strike="noStrike">
                <a:solidFill>
                  <a:srgbClr val="12314B"/>
                </a:solidFill>
                <a:latin typeface="Helvetica Neue"/>
                <a:ea typeface="Helvetica Neue"/>
                <a:cs typeface="Helvetica Neue"/>
                <a:sym typeface="Helvetica Neue"/>
              </a:rPr>
              <a:t>Regional Governance Principles</a:t>
            </a:r>
            <a:endParaRPr b="1" i="0" sz="1000" u="none" strike="noStrike">
              <a:solidFill>
                <a:srgbClr val="B45309"/>
              </a:solidFill>
              <a:latin typeface="Helvetica Neue"/>
              <a:ea typeface="Helvetica Neue"/>
              <a:cs typeface="Helvetica Neue"/>
              <a:sym typeface="Helvetica Neue"/>
            </a:endParaRPr>
          </a:p>
          <a:p>
            <a:pPr indent="0" lvl="0" marL="0" marR="0" rtl="0" algn="l">
              <a:lnSpc>
                <a:spcPct val="115000"/>
              </a:lnSpc>
              <a:spcBef>
                <a:spcPts val="600"/>
              </a:spcBef>
              <a:spcAft>
                <a:spcPts val="0"/>
              </a:spcAft>
              <a:buNone/>
            </a:pPr>
            <a:r>
              <a:rPr b="0" i="0" lang="en-US" sz="1050" u="none" strike="noStrike">
                <a:solidFill>
                  <a:srgbClr val="4B6375"/>
                </a:solidFill>
                <a:latin typeface="Helvetica Neue"/>
                <a:ea typeface="Helvetica Neue"/>
                <a:cs typeface="Helvetica Neue"/>
                <a:sym typeface="Helvetica Neue"/>
              </a:rPr>
              <a:t>Shared governance principles, legal prerequisites, and data sovereignty fundamentals. FHIR, Interoperability, terminology level settings</a:t>
            </a:r>
            <a:endParaRPr b="1" i="0" sz="1000" u="none" strike="noStrike">
              <a:solidFill>
                <a:srgbClr val="B45309"/>
              </a:solidFill>
              <a:latin typeface="Helvetica Neue"/>
              <a:ea typeface="Helvetica Neue"/>
              <a:cs typeface="Helvetica Neue"/>
              <a:sym typeface="Helvetica Neue"/>
            </a:endParaRPr>
          </a:p>
        </p:txBody>
      </p:sp>
      <p:cxnSp>
        <p:nvCxnSpPr>
          <p:cNvPr id="233" name="Google Shape;233;p9"/>
          <p:cNvCxnSpPr/>
          <p:nvPr/>
        </p:nvCxnSpPr>
        <p:spPr>
          <a:xfrm>
            <a:off x="723900" y="3143250"/>
            <a:ext cx="10763400" cy="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234" name="Google Shape;234;p9"/>
          <p:cNvSpPr txBox="1"/>
          <p:nvPr/>
        </p:nvSpPr>
        <p:spPr>
          <a:xfrm>
            <a:off x="723900" y="3257550"/>
            <a:ext cx="1333500" cy="1219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300" u="none" strike="noStrike">
                <a:solidFill>
                  <a:srgbClr val="008F99"/>
                </a:solidFill>
                <a:latin typeface="Helvetica Neue"/>
                <a:ea typeface="Helvetica Neue"/>
                <a:cs typeface="Helvetica Neue"/>
                <a:sym typeface="Helvetica Neue"/>
              </a:rPr>
              <a:t>09:30–10:30</a:t>
            </a:r>
            <a:endParaRPr b="1" i="0" sz="1300" u="none" strike="noStrike">
              <a:solidFill>
                <a:srgbClr val="008F99"/>
              </a:solidFill>
              <a:latin typeface="Helvetica Neue"/>
              <a:ea typeface="Helvetica Neue"/>
              <a:cs typeface="Helvetica Neue"/>
              <a:sym typeface="Helvetica Neue"/>
            </a:endParaRPr>
          </a:p>
          <a:p>
            <a:pPr indent="0" lvl="0" marL="0" marR="0" rtl="0" algn="l">
              <a:lnSpc>
                <a:spcPct val="100000"/>
              </a:lnSpc>
              <a:spcBef>
                <a:spcPts val="400"/>
              </a:spcBef>
              <a:spcAft>
                <a:spcPts val="0"/>
              </a:spcAft>
              <a:buNone/>
            </a:pPr>
            <a:r>
              <a:rPr b="0" i="0" lang="en-US" sz="1150" u="none" strike="noStrike">
                <a:solidFill>
                  <a:srgbClr val="12314B"/>
                </a:solidFill>
                <a:latin typeface="Helvetica Neue"/>
                <a:ea typeface="Helvetica Neue"/>
                <a:cs typeface="Helvetica Neue"/>
                <a:sym typeface="Helvetica Neue"/>
              </a:rPr>
              <a:t>Journey J1</a:t>
            </a:r>
            <a:endParaRPr b="1" i="0" sz="1300" u="none" strike="noStrike">
              <a:solidFill>
                <a:srgbClr val="008F99"/>
              </a:solidFill>
              <a:latin typeface="Helvetica Neue"/>
              <a:ea typeface="Helvetica Neue"/>
              <a:cs typeface="Helvetica Neue"/>
              <a:sym typeface="Helvetica Neue"/>
            </a:endParaRPr>
          </a:p>
        </p:txBody>
      </p:sp>
      <p:sp>
        <p:nvSpPr>
          <p:cNvPr id="235" name="Google Shape;235;p9"/>
          <p:cNvSpPr/>
          <p:nvPr/>
        </p:nvSpPr>
        <p:spPr>
          <a:xfrm>
            <a:off x="2133600" y="3257550"/>
            <a:ext cx="2857500" cy="1219200"/>
          </a:xfrm>
          <a:prstGeom prst="roundRect">
            <a:avLst>
              <a:gd fmla="val 0" name="adj"/>
            </a:avLst>
          </a:prstGeom>
          <a:solidFill>
            <a:srgbClr val="F8FAFC"/>
          </a:solidFill>
          <a:ln cap="flat" cmpd="sng" w="9525">
            <a:solidFill>
              <a:srgbClr val="CBD7D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6" name="Google Shape;236;p9"/>
          <p:cNvSpPr txBox="1"/>
          <p:nvPr/>
        </p:nvSpPr>
        <p:spPr>
          <a:xfrm>
            <a:off x="2228850" y="3333750"/>
            <a:ext cx="26670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00" u="none" strike="noStrike">
                <a:solidFill>
                  <a:srgbClr val="1E3A8A"/>
                </a:solidFill>
                <a:latin typeface="Helvetica Neue"/>
                <a:ea typeface="Helvetica Neue"/>
                <a:cs typeface="Helvetica Neue"/>
                <a:sym typeface="Helvetica Neue"/>
              </a:rPr>
              <a:t>[15m Plenary] </a:t>
            </a:r>
            <a:r>
              <a:rPr b="1" i="0" lang="en-US" sz="1200" u="none" strike="noStrike">
                <a:solidFill>
                  <a:srgbClr val="12314B"/>
                </a:solidFill>
                <a:latin typeface="Helvetica Neue"/>
                <a:ea typeface="Helvetica Neue"/>
                <a:cs typeface="Helvetica Neue"/>
                <a:sym typeface="Helvetica Neue"/>
              </a:rPr>
              <a:t>J1: Cross-Border Birth &amp; DVC Issuance</a:t>
            </a:r>
            <a:endParaRPr b="1" i="0" sz="1000" u="none" strike="noStrike">
              <a:solidFill>
                <a:srgbClr val="1E3A8A"/>
              </a:solidFill>
              <a:latin typeface="Helvetica Neue"/>
              <a:ea typeface="Helvetica Neue"/>
              <a:cs typeface="Helvetica Neue"/>
              <a:sym typeface="Helvetica Neue"/>
            </a:endParaRPr>
          </a:p>
          <a:p>
            <a:pPr indent="0" lvl="0" marL="0" marR="0" rtl="0" algn="l">
              <a:lnSpc>
                <a:spcPct val="115000"/>
              </a:lnSpc>
              <a:spcBef>
                <a:spcPts val="600"/>
              </a:spcBef>
              <a:spcAft>
                <a:spcPts val="0"/>
              </a:spcAft>
              <a:buNone/>
            </a:pPr>
            <a:r>
              <a:rPr b="0" i="0" lang="en-US" sz="1050" u="none" strike="noStrike">
                <a:solidFill>
                  <a:srgbClr val="4B6375"/>
                </a:solidFill>
                <a:latin typeface="Helvetica Neue"/>
                <a:ea typeface="Helvetica Neue"/>
                <a:cs typeface="Helvetica Neue"/>
                <a:sym typeface="Helvetica Neue"/>
              </a:rPr>
              <a:t>15m Plenary walkthrough: Hospital delivery, digital vaccination certificate issuance, and foreign registry linkage.</a:t>
            </a:r>
            <a:endParaRPr b="1" i="0" sz="1000" u="none" strike="noStrike">
              <a:solidFill>
                <a:srgbClr val="1E3A8A"/>
              </a:solidFill>
              <a:latin typeface="Helvetica Neue"/>
              <a:ea typeface="Helvetica Neue"/>
              <a:cs typeface="Helvetica Neue"/>
              <a:sym typeface="Helvetica Neue"/>
            </a:endParaRPr>
          </a:p>
        </p:txBody>
      </p:sp>
      <p:sp>
        <p:nvSpPr>
          <p:cNvPr id="237" name="Google Shape;237;p9"/>
          <p:cNvSpPr/>
          <p:nvPr/>
        </p:nvSpPr>
        <p:spPr>
          <a:xfrm>
            <a:off x="5067300" y="3257550"/>
            <a:ext cx="3181200" cy="1219200"/>
          </a:xfrm>
          <a:prstGeom prst="roundRect">
            <a:avLst>
              <a:gd fmla="val 0" name="adj"/>
            </a:avLst>
          </a:prstGeom>
          <a:solidFill>
            <a:srgbClr val="F0FDFA"/>
          </a:solidFill>
          <a:ln cap="flat" cmpd="sng" w="9525">
            <a:solidFill>
              <a:srgbClr val="99F6E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8" name="Google Shape;238;p9"/>
          <p:cNvSpPr txBox="1"/>
          <p:nvPr/>
        </p:nvSpPr>
        <p:spPr>
          <a:xfrm>
            <a:off x="5162550" y="3333750"/>
            <a:ext cx="29910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00" u="none" strike="noStrike">
                <a:solidFill>
                  <a:srgbClr val="0F766E"/>
                </a:solidFill>
                <a:latin typeface="Helvetica Neue"/>
                <a:ea typeface="Helvetica Neue"/>
                <a:cs typeface="Helvetica Neue"/>
                <a:sym typeface="Helvetica Neue"/>
              </a:rPr>
              <a:t>[Tech Track] </a:t>
            </a:r>
            <a:r>
              <a:rPr b="1" i="0" lang="en-US" sz="1200" u="none" strike="noStrike">
                <a:solidFill>
                  <a:srgbClr val="12314B"/>
                </a:solidFill>
                <a:latin typeface="Helvetica Neue"/>
                <a:ea typeface="Helvetica Neue"/>
                <a:cs typeface="Helvetica Neue"/>
                <a:sym typeface="Helvetica Neue"/>
              </a:rPr>
              <a:t>FHIR Foundations, Resources &amp; PKI</a:t>
            </a:r>
            <a:endParaRPr b="1" i="0" sz="1200" u="none" strike="noStrike">
              <a:solidFill>
                <a:srgbClr val="12314B"/>
              </a:solidFill>
              <a:latin typeface="Helvetica Neue"/>
              <a:ea typeface="Helvetica Neue"/>
              <a:cs typeface="Helvetica Neue"/>
              <a:sym typeface="Helvetica Neue"/>
            </a:endParaRPr>
          </a:p>
          <a:p>
            <a:pPr indent="0" lvl="0" marL="0" marR="0" rtl="0" algn="l">
              <a:lnSpc>
                <a:spcPct val="115000"/>
              </a:lnSpc>
              <a:spcBef>
                <a:spcPts val="600"/>
              </a:spcBef>
              <a:spcAft>
                <a:spcPts val="0"/>
              </a:spcAft>
              <a:buNone/>
            </a:pPr>
            <a:r>
              <a:rPr b="0" i="0" lang="en-US" sz="1050" u="none" strike="noStrike">
                <a:solidFill>
                  <a:srgbClr val="4B6375"/>
                </a:solidFill>
                <a:latin typeface="Helvetica Neue"/>
                <a:ea typeface="Helvetica Neue"/>
                <a:cs typeface="Helvetica Neue"/>
                <a:sym typeface="Helvetica Neue"/>
              </a:rPr>
              <a:t>45m Room A: Patient &amp; Immunization resources, implementation guides, QR encoding (SHC/DDCC), and PKI trust setup.</a:t>
            </a:r>
            <a:endParaRPr b="1" i="0" sz="1000" u="none" strike="noStrike">
              <a:solidFill>
                <a:srgbClr val="0F766E"/>
              </a:solidFill>
              <a:latin typeface="Helvetica Neue"/>
              <a:ea typeface="Helvetica Neue"/>
              <a:cs typeface="Helvetica Neue"/>
              <a:sym typeface="Helvetica Neue"/>
            </a:endParaRPr>
          </a:p>
        </p:txBody>
      </p:sp>
      <p:sp>
        <p:nvSpPr>
          <p:cNvPr id="239" name="Google Shape;239;p9"/>
          <p:cNvSpPr/>
          <p:nvPr/>
        </p:nvSpPr>
        <p:spPr>
          <a:xfrm>
            <a:off x="8324850" y="3257550"/>
            <a:ext cx="3162300" cy="1219200"/>
          </a:xfrm>
          <a:prstGeom prst="roundRect">
            <a:avLst>
              <a:gd fmla="val 0" name="adj"/>
            </a:avLst>
          </a:prstGeom>
          <a:solidFill>
            <a:srgbClr val="FFFBEB"/>
          </a:solidFill>
          <a:ln cap="flat" cmpd="sng" w="9525">
            <a:solidFill>
              <a:srgbClr val="FDE68A"/>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0" name="Google Shape;240;p9"/>
          <p:cNvSpPr txBox="1"/>
          <p:nvPr/>
        </p:nvSpPr>
        <p:spPr>
          <a:xfrm>
            <a:off x="8420100" y="3333750"/>
            <a:ext cx="29718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00" u="none" strike="noStrike">
                <a:solidFill>
                  <a:srgbClr val="B45309"/>
                </a:solidFill>
                <a:latin typeface="Helvetica Neue"/>
                <a:ea typeface="Helvetica Neue"/>
                <a:cs typeface="Helvetica Neue"/>
                <a:sym typeface="Helvetica Neue"/>
              </a:rPr>
              <a:t>[Policy Track] </a:t>
            </a:r>
            <a:r>
              <a:rPr b="1" i="0" lang="en-US" sz="1200" u="none" strike="noStrike">
                <a:solidFill>
                  <a:srgbClr val="12314B"/>
                </a:solidFill>
                <a:latin typeface="Helvetica Neue"/>
                <a:ea typeface="Helvetica Neue"/>
                <a:cs typeface="Helvetica Neue"/>
                <a:sym typeface="Helvetica Neue"/>
              </a:rPr>
              <a:t>Legal Recognition &amp; CRVS Linkage</a:t>
            </a:r>
            <a:endParaRPr b="1" i="0" sz="1000" u="none" strike="noStrike">
              <a:solidFill>
                <a:srgbClr val="B45309"/>
              </a:solidFill>
              <a:latin typeface="Helvetica Neue"/>
              <a:ea typeface="Helvetica Neue"/>
              <a:cs typeface="Helvetica Neue"/>
              <a:sym typeface="Helvetica Neue"/>
            </a:endParaRPr>
          </a:p>
          <a:p>
            <a:pPr indent="0" lvl="0" marL="0" marR="0" rtl="0" algn="l">
              <a:lnSpc>
                <a:spcPct val="115000"/>
              </a:lnSpc>
              <a:spcBef>
                <a:spcPts val="600"/>
              </a:spcBef>
              <a:spcAft>
                <a:spcPts val="0"/>
              </a:spcAft>
              <a:buNone/>
            </a:pPr>
            <a:r>
              <a:rPr b="0" i="0" lang="en-US" sz="1050" u="none" strike="noStrike">
                <a:solidFill>
                  <a:srgbClr val="4B6375"/>
                </a:solidFill>
                <a:latin typeface="Helvetica Neue"/>
                <a:ea typeface="Helvetica Neue"/>
                <a:cs typeface="Helvetica Neue"/>
                <a:sym typeface="Helvetica Neue"/>
              </a:rPr>
              <a:t>45m Room B: Legal validity of foreign DVCs, schedule cross-mapping, and cross-border birth notifications.</a:t>
            </a:r>
            <a:endParaRPr b="1" i="0" sz="1000" u="none" strike="noStrike">
              <a:solidFill>
                <a:srgbClr val="B45309"/>
              </a:solidFill>
              <a:latin typeface="Helvetica Neue"/>
              <a:ea typeface="Helvetica Neue"/>
              <a:cs typeface="Helvetica Neue"/>
              <a:sym typeface="Helvetica Neue"/>
            </a:endParaRPr>
          </a:p>
        </p:txBody>
      </p:sp>
      <p:cxnSp>
        <p:nvCxnSpPr>
          <p:cNvPr id="241" name="Google Shape;241;p9"/>
          <p:cNvCxnSpPr/>
          <p:nvPr/>
        </p:nvCxnSpPr>
        <p:spPr>
          <a:xfrm>
            <a:off x="723900" y="4552950"/>
            <a:ext cx="10763400" cy="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242" name="Google Shape;242;p9"/>
          <p:cNvSpPr txBox="1"/>
          <p:nvPr/>
        </p:nvSpPr>
        <p:spPr>
          <a:xfrm>
            <a:off x="723900" y="4667250"/>
            <a:ext cx="1333500" cy="1219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300" u="none" strike="noStrike">
                <a:solidFill>
                  <a:srgbClr val="008F99"/>
                </a:solidFill>
                <a:latin typeface="Helvetica Neue"/>
                <a:ea typeface="Helvetica Neue"/>
                <a:cs typeface="Helvetica Neue"/>
                <a:sym typeface="Helvetica Neue"/>
              </a:rPr>
              <a:t>10:45–12:00</a:t>
            </a:r>
            <a:endParaRPr b="1" i="0" sz="1300" u="none" strike="noStrike">
              <a:solidFill>
                <a:srgbClr val="008F99"/>
              </a:solidFill>
              <a:latin typeface="Helvetica Neue"/>
              <a:ea typeface="Helvetica Neue"/>
              <a:cs typeface="Helvetica Neue"/>
              <a:sym typeface="Helvetica Neue"/>
            </a:endParaRPr>
          </a:p>
          <a:p>
            <a:pPr indent="0" lvl="0" marL="0" marR="0" rtl="0" algn="l">
              <a:lnSpc>
                <a:spcPct val="100000"/>
              </a:lnSpc>
              <a:spcBef>
                <a:spcPts val="400"/>
              </a:spcBef>
              <a:spcAft>
                <a:spcPts val="0"/>
              </a:spcAft>
              <a:buNone/>
            </a:pPr>
            <a:r>
              <a:rPr b="0" i="0" lang="en-US" sz="1150" u="none" strike="noStrike">
                <a:solidFill>
                  <a:srgbClr val="12314B"/>
                </a:solidFill>
                <a:latin typeface="Helvetica Neue"/>
                <a:ea typeface="Helvetica Neue"/>
                <a:cs typeface="Helvetica Neue"/>
                <a:sym typeface="Helvetica Neue"/>
              </a:rPr>
              <a:t>Journey J2</a:t>
            </a:r>
            <a:endParaRPr b="1" i="0" sz="1300" u="none" strike="noStrike">
              <a:solidFill>
                <a:srgbClr val="008F99"/>
              </a:solidFill>
              <a:latin typeface="Helvetica Neue"/>
              <a:ea typeface="Helvetica Neue"/>
              <a:cs typeface="Helvetica Neue"/>
              <a:sym typeface="Helvetica Neue"/>
            </a:endParaRPr>
          </a:p>
        </p:txBody>
      </p:sp>
      <p:sp>
        <p:nvSpPr>
          <p:cNvPr id="243" name="Google Shape;243;p9"/>
          <p:cNvSpPr/>
          <p:nvPr/>
        </p:nvSpPr>
        <p:spPr>
          <a:xfrm>
            <a:off x="2133600" y="4667250"/>
            <a:ext cx="2857500" cy="1219200"/>
          </a:xfrm>
          <a:prstGeom prst="roundRect">
            <a:avLst>
              <a:gd fmla="val 0" name="adj"/>
            </a:avLst>
          </a:prstGeom>
          <a:solidFill>
            <a:srgbClr val="F8FAFC"/>
          </a:solidFill>
          <a:ln cap="flat" cmpd="sng" w="9525">
            <a:solidFill>
              <a:srgbClr val="CBD7D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4" name="Google Shape;244;p9"/>
          <p:cNvSpPr txBox="1"/>
          <p:nvPr/>
        </p:nvSpPr>
        <p:spPr>
          <a:xfrm>
            <a:off x="2228850" y="4743450"/>
            <a:ext cx="26670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00" u="none" strike="noStrike">
                <a:solidFill>
                  <a:srgbClr val="1E3A8A"/>
                </a:solidFill>
                <a:latin typeface="Helvetica Neue"/>
                <a:ea typeface="Helvetica Neue"/>
                <a:cs typeface="Helvetica Neue"/>
                <a:sym typeface="Helvetica Neue"/>
              </a:rPr>
              <a:t>[15m Plenary] </a:t>
            </a:r>
            <a:r>
              <a:rPr b="1" i="0" lang="en-US" sz="1200" u="none" strike="noStrike">
                <a:solidFill>
                  <a:srgbClr val="12314B"/>
                </a:solidFill>
                <a:latin typeface="Helvetica Neue"/>
                <a:ea typeface="Helvetica Neue"/>
                <a:cs typeface="Helvetica Neue"/>
                <a:sym typeface="Helvetica Neue"/>
              </a:rPr>
              <a:t>J2: Household CHW Discovery &amp; Referral</a:t>
            </a:r>
            <a:endParaRPr b="1" i="0" sz="1000" u="none" strike="noStrike">
              <a:solidFill>
                <a:srgbClr val="1E3A8A"/>
              </a:solidFill>
              <a:latin typeface="Helvetica Neue"/>
              <a:ea typeface="Helvetica Neue"/>
              <a:cs typeface="Helvetica Neue"/>
              <a:sym typeface="Helvetica Neue"/>
            </a:endParaRPr>
          </a:p>
          <a:p>
            <a:pPr indent="0" lvl="0" marL="0" marR="0" rtl="0" algn="l">
              <a:lnSpc>
                <a:spcPct val="115000"/>
              </a:lnSpc>
              <a:spcBef>
                <a:spcPts val="600"/>
              </a:spcBef>
              <a:spcAft>
                <a:spcPts val="0"/>
              </a:spcAft>
              <a:buNone/>
            </a:pPr>
            <a:r>
              <a:rPr b="0" i="0" lang="en-US" sz="1050" u="none" strike="noStrike">
                <a:solidFill>
                  <a:srgbClr val="4B6375"/>
                </a:solidFill>
                <a:latin typeface="Helvetica Neue"/>
                <a:ea typeface="Helvetica Neue"/>
                <a:cs typeface="Helvetica Neue"/>
                <a:sym typeface="Helvetica Neue"/>
              </a:rPr>
              <a:t>15m Plenary walkthrough: Community health worker encounter, offline certificate capture, and clinic referral.</a:t>
            </a:r>
            <a:endParaRPr b="1" i="0" sz="1000" u="none" strike="noStrike">
              <a:solidFill>
                <a:srgbClr val="1E3A8A"/>
              </a:solidFill>
              <a:latin typeface="Helvetica Neue"/>
              <a:ea typeface="Helvetica Neue"/>
              <a:cs typeface="Helvetica Neue"/>
              <a:sym typeface="Helvetica Neue"/>
            </a:endParaRPr>
          </a:p>
        </p:txBody>
      </p:sp>
      <p:sp>
        <p:nvSpPr>
          <p:cNvPr id="245" name="Google Shape;245;p9"/>
          <p:cNvSpPr/>
          <p:nvPr/>
        </p:nvSpPr>
        <p:spPr>
          <a:xfrm>
            <a:off x="5067300" y="4667250"/>
            <a:ext cx="3181200" cy="1219200"/>
          </a:xfrm>
          <a:prstGeom prst="roundRect">
            <a:avLst>
              <a:gd fmla="val 0" name="adj"/>
            </a:avLst>
          </a:prstGeom>
          <a:solidFill>
            <a:srgbClr val="F0FDFA"/>
          </a:solidFill>
          <a:ln cap="flat" cmpd="sng" w="9525">
            <a:solidFill>
              <a:srgbClr val="99F6E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6" name="Google Shape;246;p9"/>
          <p:cNvSpPr txBox="1"/>
          <p:nvPr/>
        </p:nvSpPr>
        <p:spPr>
          <a:xfrm>
            <a:off x="5162550" y="4743450"/>
            <a:ext cx="29910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000" u="none" strike="noStrike">
                <a:solidFill>
                  <a:srgbClr val="0F766E"/>
                </a:solidFill>
                <a:latin typeface="Helvetica Neue"/>
                <a:ea typeface="Helvetica Neue"/>
                <a:cs typeface="Helvetica Neue"/>
                <a:sym typeface="Helvetica Neue"/>
              </a:rPr>
              <a:t>[Tech Track] </a:t>
            </a:r>
            <a:r>
              <a:rPr b="1" i="0" lang="en-US" sz="1200" u="none" strike="noStrike">
                <a:solidFill>
                  <a:srgbClr val="12314B"/>
                </a:solidFill>
                <a:latin typeface="Helvetica Neue"/>
                <a:ea typeface="Helvetica Neue"/>
                <a:cs typeface="Helvetica Neue"/>
                <a:sym typeface="Helvetica Neue"/>
              </a:rPr>
              <a:t>Terminology, Source Mapping &amp; Edge OHS</a:t>
            </a:r>
            <a:endParaRPr b="1" i="0" sz="1200" u="none" strike="noStrike">
              <a:solidFill>
                <a:srgbClr val="12314B"/>
              </a:solidFill>
              <a:latin typeface="Helvetica Neue"/>
              <a:ea typeface="Helvetica Neue"/>
              <a:cs typeface="Helvetica Neue"/>
              <a:sym typeface="Helvetica Neue"/>
            </a:endParaRPr>
          </a:p>
          <a:p>
            <a:pPr indent="0" lvl="0" marL="0" marR="0" rtl="0" algn="l">
              <a:lnSpc>
                <a:spcPct val="115000"/>
              </a:lnSpc>
              <a:spcBef>
                <a:spcPts val="600"/>
              </a:spcBef>
              <a:spcAft>
                <a:spcPts val="0"/>
              </a:spcAft>
              <a:buNone/>
            </a:pPr>
            <a:r>
              <a:rPr b="0" i="0" lang="en-US" sz="1050" u="none" strike="noStrike">
                <a:solidFill>
                  <a:srgbClr val="4B6375"/>
                </a:solidFill>
                <a:latin typeface="Helvetica Neue"/>
                <a:ea typeface="Helvetica Neue"/>
                <a:cs typeface="Helvetica Neue"/>
                <a:sym typeface="Helvetica Neue"/>
              </a:rPr>
              <a:t>60m Room A: Terminology &amp; value sets, mapping registry data to FHIR, OHS Player offline edge parsing &amp; ServiceRequest.</a:t>
            </a:r>
            <a:endParaRPr b="0" i="0" sz="1000" u="none" strike="noStrike">
              <a:solidFill>
                <a:srgbClr val="0F766E"/>
              </a:solidFill>
              <a:latin typeface="Helvetica Neue"/>
              <a:ea typeface="Helvetica Neue"/>
              <a:cs typeface="Helvetica Neue"/>
              <a:sym typeface="Helvetica Neue"/>
            </a:endParaRPr>
          </a:p>
        </p:txBody>
      </p:sp>
      <p:sp>
        <p:nvSpPr>
          <p:cNvPr id="247" name="Google Shape;247;p9"/>
          <p:cNvSpPr/>
          <p:nvPr/>
        </p:nvSpPr>
        <p:spPr>
          <a:xfrm>
            <a:off x="8324850" y="4667250"/>
            <a:ext cx="3162300" cy="1219200"/>
          </a:xfrm>
          <a:prstGeom prst="roundRect">
            <a:avLst>
              <a:gd fmla="val 0" name="adj"/>
            </a:avLst>
          </a:prstGeom>
          <a:solidFill>
            <a:srgbClr val="FFFBEB"/>
          </a:solidFill>
          <a:ln cap="flat" cmpd="sng" w="9525">
            <a:solidFill>
              <a:srgbClr val="FDE68A"/>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8" name="Google Shape;248;p9"/>
          <p:cNvSpPr txBox="1"/>
          <p:nvPr/>
        </p:nvSpPr>
        <p:spPr>
          <a:xfrm>
            <a:off x="8420100" y="4743450"/>
            <a:ext cx="29718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00" u="none" strike="noStrike">
                <a:solidFill>
                  <a:srgbClr val="B45309"/>
                </a:solidFill>
                <a:latin typeface="Helvetica Neue"/>
                <a:ea typeface="Helvetica Neue"/>
                <a:cs typeface="Helvetica Neue"/>
                <a:sym typeface="Helvetica Neue"/>
              </a:rPr>
              <a:t>[Policy Track] </a:t>
            </a:r>
            <a:r>
              <a:rPr b="1" i="0" lang="en-US" sz="1200" u="none" strike="noStrike">
                <a:solidFill>
                  <a:srgbClr val="12314B"/>
                </a:solidFill>
                <a:latin typeface="Helvetica Neue"/>
                <a:ea typeface="Helvetica Neue"/>
                <a:cs typeface="Helvetica Neue"/>
                <a:sym typeface="Helvetica Neue"/>
              </a:rPr>
              <a:t>CHW Scope of Practice &amp; Foreign Records</a:t>
            </a:r>
            <a:endParaRPr b="1" i="0" sz="1000" u="none" strike="noStrike">
              <a:solidFill>
                <a:srgbClr val="B45309"/>
              </a:solidFill>
              <a:latin typeface="Helvetica Neue"/>
              <a:ea typeface="Helvetica Neue"/>
              <a:cs typeface="Helvetica Neue"/>
              <a:sym typeface="Helvetica Neue"/>
            </a:endParaRPr>
          </a:p>
          <a:p>
            <a:pPr indent="0" lvl="0" marL="0" marR="0" rtl="0" algn="l">
              <a:lnSpc>
                <a:spcPct val="115000"/>
              </a:lnSpc>
              <a:spcBef>
                <a:spcPts val="600"/>
              </a:spcBef>
              <a:spcAft>
                <a:spcPts val="0"/>
              </a:spcAft>
              <a:buNone/>
            </a:pPr>
            <a:r>
              <a:rPr b="0" i="0" lang="en-US" sz="1050" u="none" strike="noStrike">
                <a:solidFill>
                  <a:srgbClr val="4B6375"/>
                </a:solidFill>
                <a:latin typeface="Helvetica Neue"/>
                <a:ea typeface="Helvetica Neue"/>
                <a:cs typeface="Helvetica Neue"/>
                <a:sym typeface="Helvetica Neue"/>
              </a:rPr>
              <a:t>60m Room B: Legal mandate for CHW action on unverified foreign records, referral governance, and CRVS sync.</a:t>
            </a:r>
            <a:endParaRPr b="1" i="0" sz="1000" u="none" strike="noStrike">
              <a:solidFill>
                <a:srgbClr val="B45309"/>
              </a:solidFill>
              <a:latin typeface="Helvetica Neue"/>
              <a:ea typeface="Helvetica Neue"/>
              <a:cs typeface="Helvetica Neue"/>
              <a:sym typeface="Helvetica Neue"/>
            </a:endParaRPr>
          </a:p>
        </p:txBody>
      </p:sp>
      <p:sp>
        <p:nvSpPr>
          <p:cNvPr id="249" name="Google Shape;249;p9"/>
          <p:cNvSpPr txBox="1"/>
          <p:nvPr/>
        </p:nvSpPr>
        <p:spPr>
          <a:xfrm>
            <a:off x="742950" y="6019800"/>
            <a:ext cx="10572900" cy="2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150">
                <a:solidFill>
                  <a:srgbClr val="607383"/>
                </a:solidFill>
                <a:latin typeface="Helvetica Neue"/>
                <a:ea typeface="Helvetica Neue"/>
                <a:cs typeface="Helvetica Neue"/>
                <a:sym typeface="Helvetica Neue"/>
              </a:rPr>
              <a:t>Morning Break 10:30–10:45     Lunch 12:00–13:00</a:t>
            </a:r>
            <a:endParaRPr sz="1150">
              <a:solidFill>
                <a:srgbClr val="607383"/>
              </a:solidFill>
              <a:latin typeface="Helvetica Neue"/>
              <a:ea typeface="Helvetica Neue"/>
              <a:cs typeface="Helvetica Neue"/>
              <a:sym typeface="Helvetica Neue"/>
            </a:endParaRPr>
          </a:p>
        </p:txBody>
      </p:sp>
      <p:cxnSp>
        <p:nvCxnSpPr>
          <p:cNvPr id="250" name="Google Shape;250;p9"/>
          <p:cNvCxnSpPr/>
          <p:nvPr/>
        </p:nvCxnSpPr>
        <p:spPr>
          <a:xfrm>
            <a:off x="609600" y="6429375"/>
            <a:ext cx="10953900" cy="0"/>
          </a:xfrm>
          <a:prstGeom prst="straightConnector1">
            <a:avLst/>
          </a:prstGeom>
          <a:solidFill>
            <a:srgbClr val="FFFFFF"/>
          </a:solidFill>
          <a:ln cap="flat" cmpd="sng" w="9525">
            <a:solidFill>
              <a:srgbClr val="CBD7DC"/>
            </a:solidFill>
            <a:prstDash val="solid"/>
            <a:round/>
            <a:headEnd len="sm" w="sm" type="none"/>
            <a:tailEnd len="sm" w="sm" type="none"/>
          </a:ln>
        </p:spPr>
      </p:cxnSp>
      <p:sp>
        <p:nvSpPr>
          <p:cNvPr id="251" name="Google Shape;251;p9"/>
          <p:cNvSpPr txBox="1"/>
          <p:nvPr/>
        </p:nvSpPr>
        <p:spPr>
          <a:xfrm>
            <a:off x="704850" y="6572250"/>
            <a:ext cx="66675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90">
                <a:solidFill>
                  <a:srgbClr val="607383"/>
                </a:solidFill>
                <a:latin typeface="Helvetica Neue"/>
                <a:ea typeface="Helvetica Neue"/>
                <a:cs typeface="Helvetica Neue"/>
                <a:sym typeface="Helvetica Neue"/>
              </a:rPr>
              <a:t>Thailand technologist workstream, partner preparation • Integrated E2E Journeys</a:t>
            </a:r>
            <a:endParaRPr sz="1090">
              <a:solidFill>
                <a:srgbClr val="607383"/>
              </a:solidFill>
              <a:latin typeface="Helvetica Neue"/>
              <a:ea typeface="Helvetica Neue"/>
              <a:cs typeface="Helvetica Neue"/>
              <a:sym typeface="Helvetica Neu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0"/>
          <p:cNvSpPr txBox="1"/>
          <p:nvPr/>
        </p:nvSpPr>
        <p:spPr>
          <a:xfrm>
            <a:off x="704850" y="428625"/>
            <a:ext cx="99060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600">
                <a:solidFill>
                  <a:srgbClr val="12314B"/>
                </a:solidFill>
                <a:latin typeface="Helvetica Neue"/>
                <a:ea typeface="Helvetica Neue"/>
                <a:cs typeface="Helvetica Neue"/>
                <a:sym typeface="Helvetica Neue"/>
              </a:rPr>
              <a:t>Day 1 agenda, afternoon (integrated tracks)</a:t>
            </a:r>
            <a:endParaRPr b="1" sz="2600">
              <a:solidFill>
                <a:srgbClr val="12314B"/>
              </a:solidFill>
              <a:latin typeface="Helvetica Neue"/>
              <a:ea typeface="Helvetica Neue"/>
              <a:cs typeface="Helvetica Neue"/>
              <a:sym typeface="Helvetica Neue"/>
            </a:endParaRPr>
          </a:p>
        </p:txBody>
      </p:sp>
      <p:sp>
        <p:nvSpPr>
          <p:cNvPr id="261" name="Google Shape;261;p10"/>
          <p:cNvSpPr txBox="1"/>
          <p:nvPr/>
        </p:nvSpPr>
        <p:spPr>
          <a:xfrm>
            <a:off x="10763250" y="485775"/>
            <a:ext cx="762000" cy="285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en-US" sz="1250">
                <a:solidFill>
                  <a:srgbClr val="008F99"/>
                </a:solidFill>
                <a:latin typeface="Helvetica Neue"/>
                <a:ea typeface="Helvetica Neue"/>
                <a:cs typeface="Helvetica Neue"/>
                <a:sym typeface="Helvetica Neue"/>
              </a:rPr>
              <a:t>08-ALT</a:t>
            </a:r>
            <a:endParaRPr b="1" sz="1250">
              <a:solidFill>
                <a:srgbClr val="008F99"/>
              </a:solidFill>
              <a:latin typeface="Helvetica Neue"/>
              <a:ea typeface="Helvetica Neue"/>
              <a:cs typeface="Helvetica Neue"/>
              <a:sym typeface="Helvetica Neue"/>
            </a:endParaRPr>
          </a:p>
        </p:txBody>
      </p:sp>
      <p:sp>
        <p:nvSpPr>
          <p:cNvPr id="262" name="Google Shape;262;p10"/>
          <p:cNvSpPr txBox="1"/>
          <p:nvPr/>
        </p:nvSpPr>
        <p:spPr>
          <a:xfrm>
            <a:off x="723900" y="971550"/>
            <a:ext cx="104775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400" u="none" strike="noStrike">
                <a:solidFill>
                  <a:srgbClr val="607383"/>
                </a:solidFill>
                <a:latin typeface="Helvetica Neue"/>
                <a:ea typeface="Helvetica Neue"/>
                <a:cs typeface="Helvetica Neue"/>
                <a:sym typeface="Helvetica Neue"/>
              </a:rPr>
              <a:t>Clinical verification (J3), StructureMap transforms, open tooling validation &amp; joint synthesis</a:t>
            </a:r>
            <a:endParaRPr b="0" i="0" sz="1400" u="none" strike="noStrike">
              <a:solidFill>
                <a:srgbClr val="607383"/>
              </a:solidFill>
              <a:latin typeface="Helvetica Neue"/>
              <a:ea typeface="Helvetica Neue"/>
              <a:cs typeface="Helvetica Neue"/>
              <a:sym typeface="Helvetica Neue"/>
            </a:endParaRPr>
          </a:p>
        </p:txBody>
      </p:sp>
      <p:cxnSp>
        <p:nvCxnSpPr>
          <p:cNvPr id="263" name="Google Shape;263;p10"/>
          <p:cNvCxnSpPr/>
          <p:nvPr/>
        </p:nvCxnSpPr>
        <p:spPr>
          <a:xfrm>
            <a:off x="609600" y="1276350"/>
            <a:ext cx="876300" cy="0"/>
          </a:xfrm>
          <a:prstGeom prst="straightConnector1">
            <a:avLst/>
          </a:prstGeom>
          <a:solidFill>
            <a:srgbClr val="FFFFFF"/>
          </a:solidFill>
          <a:ln cap="flat" cmpd="sng" w="38100">
            <a:solidFill>
              <a:srgbClr val="008F99"/>
            </a:solidFill>
            <a:prstDash val="solid"/>
            <a:round/>
            <a:headEnd len="sm" w="sm" type="none"/>
            <a:tailEnd len="sm" w="sm" type="none"/>
          </a:ln>
        </p:spPr>
      </p:cxnSp>
      <p:sp>
        <p:nvSpPr>
          <p:cNvPr id="264" name="Google Shape;264;p10"/>
          <p:cNvSpPr txBox="1"/>
          <p:nvPr/>
        </p:nvSpPr>
        <p:spPr>
          <a:xfrm>
            <a:off x="723900" y="1485900"/>
            <a:ext cx="1333500" cy="2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008F99"/>
                </a:solidFill>
                <a:latin typeface="Helvetica Neue"/>
                <a:ea typeface="Helvetica Neue"/>
                <a:cs typeface="Helvetica Neue"/>
                <a:sym typeface="Helvetica Neue"/>
              </a:rPr>
              <a:t>TIME &amp; JOURNEY</a:t>
            </a:r>
            <a:endParaRPr b="1" sz="1100">
              <a:solidFill>
                <a:srgbClr val="008F99"/>
              </a:solidFill>
              <a:latin typeface="Helvetica Neue"/>
              <a:ea typeface="Helvetica Neue"/>
              <a:cs typeface="Helvetica Neue"/>
              <a:sym typeface="Helvetica Neue"/>
            </a:endParaRPr>
          </a:p>
        </p:txBody>
      </p:sp>
      <p:sp>
        <p:nvSpPr>
          <p:cNvPr id="265" name="Google Shape;265;p10"/>
          <p:cNvSpPr txBox="1"/>
          <p:nvPr/>
        </p:nvSpPr>
        <p:spPr>
          <a:xfrm>
            <a:off x="2133600" y="1485900"/>
            <a:ext cx="2857500" cy="2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008F99"/>
                </a:solidFill>
                <a:latin typeface="Helvetica Neue"/>
                <a:ea typeface="Helvetica Neue"/>
                <a:cs typeface="Helvetica Neue"/>
                <a:sym typeface="Helvetica Neue"/>
              </a:rPr>
              <a:t>PLENARY ANCHOR &amp; SCOPE</a:t>
            </a:r>
            <a:endParaRPr b="1" sz="1100">
              <a:solidFill>
                <a:srgbClr val="008F99"/>
              </a:solidFill>
              <a:latin typeface="Helvetica Neue"/>
              <a:ea typeface="Helvetica Neue"/>
              <a:cs typeface="Helvetica Neue"/>
              <a:sym typeface="Helvetica Neue"/>
            </a:endParaRPr>
          </a:p>
        </p:txBody>
      </p:sp>
      <p:sp>
        <p:nvSpPr>
          <p:cNvPr id="266" name="Google Shape;266;p10"/>
          <p:cNvSpPr txBox="1"/>
          <p:nvPr/>
        </p:nvSpPr>
        <p:spPr>
          <a:xfrm>
            <a:off x="5067300" y="1485900"/>
            <a:ext cx="3181200" cy="2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008F99"/>
                </a:solidFill>
                <a:latin typeface="Helvetica Neue"/>
                <a:ea typeface="Helvetica Neue"/>
                <a:cs typeface="Helvetica Neue"/>
                <a:sym typeface="Helvetica Neue"/>
              </a:rPr>
              <a:t>TECHNICAL TRACK (ROOM A)</a:t>
            </a:r>
            <a:endParaRPr b="1" sz="1100">
              <a:solidFill>
                <a:srgbClr val="008F99"/>
              </a:solidFill>
              <a:latin typeface="Helvetica Neue"/>
              <a:ea typeface="Helvetica Neue"/>
              <a:cs typeface="Helvetica Neue"/>
              <a:sym typeface="Helvetica Neue"/>
            </a:endParaRPr>
          </a:p>
        </p:txBody>
      </p:sp>
      <p:sp>
        <p:nvSpPr>
          <p:cNvPr id="267" name="Google Shape;267;p10"/>
          <p:cNvSpPr txBox="1"/>
          <p:nvPr/>
        </p:nvSpPr>
        <p:spPr>
          <a:xfrm>
            <a:off x="8324850" y="1485900"/>
            <a:ext cx="3162300" cy="2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008F99"/>
                </a:solidFill>
                <a:latin typeface="Helvetica Neue"/>
                <a:ea typeface="Helvetica Neue"/>
                <a:cs typeface="Helvetica Neue"/>
                <a:sym typeface="Helvetica Neue"/>
              </a:rPr>
              <a:t>POLICY &amp; GOVERNANCE TRACK (ROOM B)</a:t>
            </a:r>
            <a:endParaRPr b="1" sz="1100">
              <a:solidFill>
                <a:srgbClr val="008F99"/>
              </a:solidFill>
              <a:latin typeface="Helvetica Neue"/>
              <a:ea typeface="Helvetica Neue"/>
              <a:cs typeface="Helvetica Neue"/>
              <a:sym typeface="Helvetica Neue"/>
            </a:endParaRPr>
          </a:p>
        </p:txBody>
      </p:sp>
      <p:cxnSp>
        <p:nvCxnSpPr>
          <p:cNvPr id="268" name="Google Shape;268;p10"/>
          <p:cNvCxnSpPr/>
          <p:nvPr/>
        </p:nvCxnSpPr>
        <p:spPr>
          <a:xfrm>
            <a:off x="723900" y="1733550"/>
            <a:ext cx="10763400" cy="0"/>
          </a:xfrm>
          <a:prstGeom prst="straightConnector1">
            <a:avLst/>
          </a:prstGeom>
          <a:solidFill>
            <a:srgbClr val="FFFFFF"/>
          </a:solidFill>
          <a:ln cap="flat" cmpd="sng" w="9525">
            <a:solidFill>
              <a:srgbClr val="CBD7DC"/>
            </a:solidFill>
            <a:prstDash val="solid"/>
            <a:round/>
            <a:headEnd len="sm" w="sm" type="none"/>
            <a:tailEnd len="sm" w="sm" type="none"/>
          </a:ln>
        </p:spPr>
      </p:cxnSp>
      <p:sp>
        <p:nvSpPr>
          <p:cNvPr id="269" name="Google Shape;269;p10"/>
          <p:cNvSpPr txBox="1"/>
          <p:nvPr/>
        </p:nvSpPr>
        <p:spPr>
          <a:xfrm>
            <a:off x="723900" y="1847850"/>
            <a:ext cx="1333500" cy="1219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300" u="none" strike="noStrike">
                <a:solidFill>
                  <a:srgbClr val="008F99"/>
                </a:solidFill>
                <a:latin typeface="Helvetica Neue"/>
                <a:ea typeface="Helvetica Neue"/>
                <a:cs typeface="Helvetica Neue"/>
                <a:sym typeface="Helvetica Neue"/>
              </a:rPr>
              <a:t>13:00–14:30</a:t>
            </a:r>
            <a:endParaRPr b="1" i="0" sz="1300" u="none" strike="noStrike">
              <a:solidFill>
                <a:srgbClr val="008F99"/>
              </a:solidFill>
              <a:latin typeface="Helvetica Neue"/>
              <a:ea typeface="Helvetica Neue"/>
              <a:cs typeface="Helvetica Neue"/>
              <a:sym typeface="Helvetica Neue"/>
            </a:endParaRPr>
          </a:p>
          <a:p>
            <a:pPr indent="0" lvl="0" marL="0" marR="0" rtl="0" algn="l">
              <a:lnSpc>
                <a:spcPct val="100000"/>
              </a:lnSpc>
              <a:spcBef>
                <a:spcPts val="400"/>
              </a:spcBef>
              <a:spcAft>
                <a:spcPts val="0"/>
              </a:spcAft>
              <a:buNone/>
            </a:pPr>
            <a:r>
              <a:rPr b="0" i="0" lang="en-US" sz="1150" u="none" strike="noStrike">
                <a:solidFill>
                  <a:srgbClr val="12314B"/>
                </a:solidFill>
                <a:latin typeface="Helvetica Neue"/>
                <a:ea typeface="Helvetica Neue"/>
                <a:cs typeface="Helvetica Neue"/>
                <a:sym typeface="Helvetica Neue"/>
              </a:rPr>
              <a:t>Journey J3</a:t>
            </a:r>
            <a:endParaRPr b="1" i="0" sz="1300" u="none" strike="noStrike">
              <a:solidFill>
                <a:srgbClr val="008F99"/>
              </a:solidFill>
              <a:latin typeface="Helvetica Neue"/>
              <a:ea typeface="Helvetica Neue"/>
              <a:cs typeface="Helvetica Neue"/>
              <a:sym typeface="Helvetica Neue"/>
            </a:endParaRPr>
          </a:p>
        </p:txBody>
      </p:sp>
      <p:sp>
        <p:nvSpPr>
          <p:cNvPr id="270" name="Google Shape;270;p10"/>
          <p:cNvSpPr/>
          <p:nvPr/>
        </p:nvSpPr>
        <p:spPr>
          <a:xfrm>
            <a:off x="2133600" y="1847850"/>
            <a:ext cx="2857500" cy="1219200"/>
          </a:xfrm>
          <a:prstGeom prst="roundRect">
            <a:avLst>
              <a:gd fmla="val 0" name="adj"/>
            </a:avLst>
          </a:prstGeom>
          <a:solidFill>
            <a:srgbClr val="F8FAFC"/>
          </a:solidFill>
          <a:ln cap="flat" cmpd="sng" w="9525">
            <a:solidFill>
              <a:srgbClr val="CBD7D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1" name="Google Shape;271;p10"/>
          <p:cNvSpPr txBox="1"/>
          <p:nvPr/>
        </p:nvSpPr>
        <p:spPr>
          <a:xfrm>
            <a:off x="2228850" y="1924050"/>
            <a:ext cx="26670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00" u="none" strike="noStrike">
                <a:solidFill>
                  <a:srgbClr val="1E3A8A"/>
                </a:solidFill>
                <a:latin typeface="Helvetica Neue"/>
                <a:ea typeface="Helvetica Neue"/>
                <a:cs typeface="Helvetica Neue"/>
                <a:sym typeface="Helvetica Neue"/>
              </a:rPr>
              <a:t>[15m Plenary] </a:t>
            </a:r>
            <a:r>
              <a:rPr b="1" i="0" lang="en-US" sz="1200" u="none" strike="noStrike">
                <a:solidFill>
                  <a:srgbClr val="12314B"/>
                </a:solidFill>
                <a:latin typeface="Helvetica Neue"/>
                <a:ea typeface="Helvetica Neue"/>
                <a:cs typeface="Helvetica Neue"/>
                <a:sym typeface="Helvetica Neue"/>
              </a:rPr>
              <a:t>J3: Clinic Verification &amp; EMR Ingestion</a:t>
            </a:r>
            <a:endParaRPr b="1" i="0" sz="1000" u="none" strike="noStrike">
              <a:solidFill>
                <a:srgbClr val="1E3A8A"/>
              </a:solidFill>
              <a:latin typeface="Helvetica Neue"/>
              <a:ea typeface="Helvetica Neue"/>
              <a:cs typeface="Helvetica Neue"/>
              <a:sym typeface="Helvetica Neue"/>
            </a:endParaRPr>
          </a:p>
          <a:p>
            <a:pPr indent="0" lvl="0" marL="0" marR="0" rtl="0" algn="l">
              <a:lnSpc>
                <a:spcPct val="115000"/>
              </a:lnSpc>
              <a:spcBef>
                <a:spcPts val="600"/>
              </a:spcBef>
              <a:spcAft>
                <a:spcPts val="0"/>
              </a:spcAft>
              <a:buNone/>
            </a:pPr>
            <a:r>
              <a:rPr b="0" i="0" lang="en-US" sz="1050" u="none" strike="noStrike">
                <a:solidFill>
                  <a:srgbClr val="4B6375"/>
                </a:solidFill>
                <a:latin typeface="Helvetica Neue"/>
                <a:ea typeface="Helvetica Neue"/>
                <a:cs typeface="Helvetica Neue"/>
                <a:sym typeface="Helvetica Neue"/>
              </a:rPr>
              <a:t>15m Plenary walkthrough: Point-of-care cryptographic verification, schedule evaluation, and clinic EMR import.</a:t>
            </a:r>
            <a:endParaRPr b="1" i="0" sz="1000" u="none" strike="noStrike">
              <a:solidFill>
                <a:srgbClr val="1E3A8A"/>
              </a:solidFill>
              <a:latin typeface="Helvetica Neue"/>
              <a:ea typeface="Helvetica Neue"/>
              <a:cs typeface="Helvetica Neue"/>
              <a:sym typeface="Helvetica Neue"/>
            </a:endParaRPr>
          </a:p>
        </p:txBody>
      </p:sp>
      <p:sp>
        <p:nvSpPr>
          <p:cNvPr id="272" name="Google Shape;272;p10"/>
          <p:cNvSpPr/>
          <p:nvPr/>
        </p:nvSpPr>
        <p:spPr>
          <a:xfrm>
            <a:off x="5067300" y="1847850"/>
            <a:ext cx="3181200" cy="1219200"/>
          </a:xfrm>
          <a:prstGeom prst="roundRect">
            <a:avLst>
              <a:gd fmla="val 0" name="adj"/>
            </a:avLst>
          </a:prstGeom>
          <a:solidFill>
            <a:srgbClr val="F0FDFA"/>
          </a:solidFill>
          <a:ln cap="flat" cmpd="sng" w="9525">
            <a:solidFill>
              <a:srgbClr val="99F6E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3" name="Google Shape;273;p10"/>
          <p:cNvSpPr txBox="1"/>
          <p:nvPr/>
        </p:nvSpPr>
        <p:spPr>
          <a:xfrm>
            <a:off x="5162550" y="1924050"/>
            <a:ext cx="29910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000" u="none" strike="noStrike">
                <a:solidFill>
                  <a:srgbClr val="0F766E"/>
                </a:solidFill>
                <a:latin typeface="Helvetica Neue"/>
                <a:ea typeface="Helvetica Neue"/>
                <a:cs typeface="Helvetica Neue"/>
                <a:sym typeface="Helvetica Neue"/>
              </a:rPr>
              <a:t>[Tech Track] </a:t>
            </a:r>
            <a:r>
              <a:rPr b="1" i="0" lang="en-US" sz="1200" u="none" strike="noStrike">
                <a:solidFill>
                  <a:srgbClr val="12314B"/>
                </a:solidFill>
                <a:latin typeface="Helvetica Neue"/>
                <a:ea typeface="Helvetica Neue"/>
                <a:cs typeface="Helvetica Neue"/>
                <a:sym typeface="Helvetica Neue"/>
              </a:rPr>
              <a:t>Verification Lib, Provenance &amp; Clinical Rules</a:t>
            </a:r>
            <a:endParaRPr b="1" i="0" sz="1200" u="none" strike="noStrike">
              <a:solidFill>
                <a:srgbClr val="12314B"/>
              </a:solidFill>
              <a:latin typeface="Helvetica Neue"/>
              <a:ea typeface="Helvetica Neue"/>
              <a:cs typeface="Helvetica Neue"/>
              <a:sym typeface="Helvetica Neue"/>
            </a:endParaRPr>
          </a:p>
          <a:p>
            <a:pPr indent="0" lvl="0" marL="0" marR="0" rtl="0" algn="l">
              <a:lnSpc>
                <a:spcPct val="115000"/>
              </a:lnSpc>
              <a:spcBef>
                <a:spcPts val="600"/>
              </a:spcBef>
              <a:spcAft>
                <a:spcPts val="0"/>
              </a:spcAft>
              <a:buNone/>
            </a:pPr>
            <a:r>
              <a:rPr b="0" i="0" lang="en-US" sz="1050" u="none" strike="noStrike">
                <a:solidFill>
                  <a:srgbClr val="4B6375"/>
                </a:solidFill>
                <a:latin typeface="Helvetica Neue"/>
                <a:ea typeface="Helvetica Neue"/>
                <a:cs typeface="Helvetica Neue"/>
                <a:sym typeface="Helvetica Neue"/>
              </a:rPr>
              <a:t>75m Room A: Kotlin multiplatform crypto verification, FHIR Provenance records, PlanDefinition clinical rules &amp; EMR import.</a:t>
            </a:r>
            <a:endParaRPr b="0" i="0" sz="1000" u="none" strike="noStrike">
              <a:solidFill>
                <a:srgbClr val="0F766E"/>
              </a:solidFill>
              <a:latin typeface="Helvetica Neue"/>
              <a:ea typeface="Helvetica Neue"/>
              <a:cs typeface="Helvetica Neue"/>
              <a:sym typeface="Helvetica Neue"/>
            </a:endParaRPr>
          </a:p>
        </p:txBody>
      </p:sp>
      <p:sp>
        <p:nvSpPr>
          <p:cNvPr id="274" name="Google Shape;274;p10"/>
          <p:cNvSpPr/>
          <p:nvPr/>
        </p:nvSpPr>
        <p:spPr>
          <a:xfrm>
            <a:off x="8324850" y="1847850"/>
            <a:ext cx="3162300" cy="1219200"/>
          </a:xfrm>
          <a:prstGeom prst="roundRect">
            <a:avLst>
              <a:gd fmla="val 0" name="adj"/>
            </a:avLst>
          </a:prstGeom>
          <a:solidFill>
            <a:srgbClr val="FFFBEB"/>
          </a:solidFill>
          <a:ln cap="flat" cmpd="sng" w="9525">
            <a:solidFill>
              <a:srgbClr val="FDE68A"/>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5" name="Google Shape;275;p10"/>
          <p:cNvSpPr txBox="1"/>
          <p:nvPr/>
        </p:nvSpPr>
        <p:spPr>
          <a:xfrm>
            <a:off x="8420100" y="1924050"/>
            <a:ext cx="29718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00" u="none" strike="noStrike">
                <a:solidFill>
                  <a:srgbClr val="B45309"/>
                </a:solidFill>
                <a:latin typeface="Helvetica Neue"/>
                <a:ea typeface="Helvetica Neue"/>
                <a:cs typeface="Helvetica Neue"/>
                <a:sym typeface="Helvetica Neue"/>
              </a:rPr>
              <a:t>[Policy Track] </a:t>
            </a:r>
            <a:r>
              <a:rPr b="1" i="0" lang="en-US" sz="1200" u="none" strike="noStrike">
                <a:solidFill>
                  <a:srgbClr val="12314B"/>
                </a:solidFill>
                <a:latin typeface="Helvetica Neue"/>
                <a:ea typeface="Helvetica Neue"/>
                <a:cs typeface="Helvetica Neue"/>
                <a:sym typeface="Helvetica Neue"/>
              </a:rPr>
              <a:t>Trust Lists &amp; Code Adjudication</a:t>
            </a:r>
            <a:endParaRPr b="1" i="0" sz="1000" u="none" strike="noStrike">
              <a:solidFill>
                <a:srgbClr val="B45309"/>
              </a:solidFill>
              <a:latin typeface="Helvetica Neue"/>
              <a:ea typeface="Helvetica Neue"/>
              <a:cs typeface="Helvetica Neue"/>
              <a:sym typeface="Helvetica Neue"/>
            </a:endParaRPr>
          </a:p>
          <a:p>
            <a:pPr indent="0" lvl="0" marL="0" marR="0" rtl="0" algn="l">
              <a:lnSpc>
                <a:spcPct val="115000"/>
              </a:lnSpc>
              <a:spcBef>
                <a:spcPts val="600"/>
              </a:spcBef>
              <a:spcAft>
                <a:spcPts val="0"/>
              </a:spcAft>
              <a:buNone/>
            </a:pPr>
            <a:r>
              <a:rPr b="0" i="0" lang="en-US" sz="1050" u="none" strike="noStrike">
                <a:solidFill>
                  <a:srgbClr val="4B6375"/>
                </a:solidFill>
                <a:latin typeface="Helvetica Neue"/>
                <a:ea typeface="Helvetica Neue"/>
                <a:cs typeface="Helvetica Neue"/>
                <a:sym typeface="Helvetica Neue"/>
              </a:rPr>
              <a:t>75m Room B: Trust-list authority management, foreign vaccine code adjudication, and patient consent directives.</a:t>
            </a:r>
            <a:endParaRPr b="1" i="0" sz="1000" u="none" strike="noStrike">
              <a:solidFill>
                <a:srgbClr val="B45309"/>
              </a:solidFill>
              <a:latin typeface="Helvetica Neue"/>
              <a:ea typeface="Helvetica Neue"/>
              <a:cs typeface="Helvetica Neue"/>
              <a:sym typeface="Helvetica Neue"/>
            </a:endParaRPr>
          </a:p>
        </p:txBody>
      </p:sp>
      <p:cxnSp>
        <p:nvCxnSpPr>
          <p:cNvPr id="276" name="Google Shape;276;p10"/>
          <p:cNvCxnSpPr/>
          <p:nvPr/>
        </p:nvCxnSpPr>
        <p:spPr>
          <a:xfrm>
            <a:off x="723900" y="3143250"/>
            <a:ext cx="10763400" cy="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277" name="Google Shape;277;p10"/>
          <p:cNvSpPr txBox="1"/>
          <p:nvPr/>
        </p:nvSpPr>
        <p:spPr>
          <a:xfrm>
            <a:off x="723900" y="3257550"/>
            <a:ext cx="1333500" cy="1219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300" u="none" strike="noStrike">
                <a:solidFill>
                  <a:srgbClr val="008F99"/>
                </a:solidFill>
                <a:latin typeface="Helvetica Neue"/>
                <a:ea typeface="Helvetica Neue"/>
                <a:cs typeface="Helvetica Neue"/>
                <a:sym typeface="Helvetica Neue"/>
              </a:rPr>
              <a:t>14:45–16:00</a:t>
            </a:r>
            <a:endParaRPr b="1" i="0" sz="1300" u="none" strike="noStrike">
              <a:solidFill>
                <a:srgbClr val="008F99"/>
              </a:solidFill>
              <a:latin typeface="Helvetica Neue"/>
              <a:ea typeface="Helvetica Neue"/>
              <a:cs typeface="Helvetica Neue"/>
              <a:sym typeface="Helvetica Neue"/>
            </a:endParaRPr>
          </a:p>
          <a:p>
            <a:pPr indent="0" lvl="0" marL="0" marR="0" rtl="0" algn="l">
              <a:lnSpc>
                <a:spcPct val="100000"/>
              </a:lnSpc>
              <a:spcBef>
                <a:spcPts val="400"/>
              </a:spcBef>
              <a:spcAft>
                <a:spcPts val="0"/>
              </a:spcAft>
              <a:buNone/>
            </a:pPr>
            <a:r>
              <a:rPr b="0" i="0" lang="en-US" sz="1150" u="none" strike="noStrike">
                <a:solidFill>
                  <a:srgbClr val="12314B"/>
                </a:solidFill>
                <a:latin typeface="Helvetica Neue"/>
                <a:ea typeface="Helvetica Neue"/>
                <a:cs typeface="Helvetica Neue"/>
                <a:sym typeface="Helvetica Neue"/>
              </a:rPr>
              <a:t>Deep Dive</a:t>
            </a:r>
            <a:endParaRPr b="1" i="0" sz="1300" u="none" strike="noStrike">
              <a:solidFill>
                <a:srgbClr val="008F99"/>
              </a:solidFill>
              <a:latin typeface="Helvetica Neue"/>
              <a:ea typeface="Helvetica Neue"/>
              <a:cs typeface="Helvetica Neue"/>
              <a:sym typeface="Helvetica Neue"/>
            </a:endParaRPr>
          </a:p>
        </p:txBody>
      </p:sp>
      <p:sp>
        <p:nvSpPr>
          <p:cNvPr id="278" name="Google Shape;278;p10"/>
          <p:cNvSpPr/>
          <p:nvPr/>
        </p:nvSpPr>
        <p:spPr>
          <a:xfrm>
            <a:off x="2133600" y="3257550"/>
            <a:ext cx="2857500" cy="1219200"/>
          </a:xfrm>
          <a:prstGeom prst="roundRect">
            <a:avLst>
              <a:gd fmla="val 0" name="adj"/>
            </a:avLst>
          </a:prstGeom>
          <a:solidFill>
            <a:srgbClr val="F8FAFC"/>
          </a:solidFill>
          <a:ln cap="flat" cmpd="sng" w="9525">
            <a:solidFill>
              <a:srgbClr val="CBD7D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9" name="Google Shape;279;p10"/>
          <p:cNvSpPr txBox="1"/>
          <p:nvPr/>
        </p:nvSpPr>
        <p:spPr>
          <a:xfrm>
            <a:off x="2228850" y="3333750"/>
            <a:ext cx="26670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00" u="none" strike="noStrike">
                <a:solidFill>
                  <a:srgbClr val="1E3A8A"/>
                </a:solidFill>
                <a:latin typeface="Helvetica Neue"/>
                <a:ea typeface="Helvetica Neue"/>
                <a:cs typeface="Helvetica Neue"/>
                <a:sym typeface="Helvetica Neue"/>
              </a:rPr>
              <a:t>[Parallel Work] </a:t>
            </a:r>
            <a:r>
              <a:rPr b="1" i="0" lang="en-US" sz="1200" u="none" strike="noStrike">
                <a:solidFill>
                  <a:srgbClr val="12314B"/>
                </a:solidFill>
                <a:latin typeface="Helvetica Neue"/>
                <a:ea typeface="Helvetica Neue"/>
                <a:cs typeface="Helvetica Neue"/>
                <a:sym typeface="Helvetica Neue"/>
              </a:rPr>
              <a:t>J1–J3 Synthesis &amp; Pipeline Deep Dive</a:t>
            </a:r>
            <a:endParaRPr b="1" i="0" sz="1000" u="none" strike="noStrike">
              <a:solidFill>
                <a:srgbClr val="1E3A8A"/>
              </a:solidFill>
              <a:latin typeface="Helvetica Neue"/>
              <a:ea typeface="Helvetica Neue"/>
              <a:cs typeface="Helvetica Neue"/>
              <a:sym typeface="Helvetica Neue"/>
            </a:endParaRPr>
          </a:p>
          <a:p>
            <a:pPr indent="0" lvl="0" marL="0" marR="0" rtl="0" algn="l">
              <a:lnSpc>
                <a:spcPct val="115000"/>
              </a:lnSpc>
              <a:spcBef>
                <a:spcPts val="600"/>
              </a:spcBef>
              <a:spcAft>
                <a:spcPts val="0"/>
              </a:spcAft>
              <a:buNone/>
            </a:pPr>
            <a:r>
              <a:rPr b="0" i="0" lang="en-US" sz="1050" u="none" strike="noStrike">
                <a:solidFill>
                  <a:srgbClr val="4B6375"/>
                </a:solidFill>
                <a:latin typeface="Helvetica Neue"/>
                <a:ea typeface="Helvetica Neue"/>
                <a:cs typeface="Helvetica Neue"/>
                <a:sym typeface="Helvetica Neue"/>
              </a:rPr>
              <a:t>Parallel working blocks examining core transformation bottlenecks and bilateral governance agreements.</a:t>
            </a:r>
            <a:endParaRPr b="1" i="0" sz="1000" u="none" strike="noStrike">
              <a:solidFill>
                <a:srgbClr val="1E3A8A"/>
              </a:solidFill>
              <a:latin typeface="Helvetica Neue"/>
              <a:ea typeface="Helvetica Neue"/>
              <a:cs typeface="Helvetica Neue"/>
              <a:sym typeface="Helvetica Neue"/>
            </a:endParaRPr>
          </a:p>
        </p:txBody>
      </p:sp>
      <p:sp>
        <p:nvSpPr>
          <p:cNvPr id="280" name="Google Shape;280;p10"/>
          <p:cNvSpPr/>
          <p:nvPr/>
        </p:nvSpPr>
        <p:spPr>
          <a:xfrm>
            <a:off x="5067300" y="3257550"/>
            <a:ext cx="3181200" cy="1219200"/>
          </a:xfrm>
          <a:prstGeom prst="roundRect">
            <a:avLst>
              <a:gd fmla="val 0" name="adj"/>
            </a:avLst>
          </a:prstGeom>
          <a:solidFill>
            <a:srgbClr val="F0FDFA"/>
          </a:solidFill>
          <a:ln cap="flat" cmpd="sng" w="9525">
            <a:solidFill>
              <a:srgbClr val="99F6E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1" name="Google Shape;281;p10"/>
          <p:cNvSpPr txBox="1"/>
          <p:nvPr/>
        </p:nvSpPr>
        <p:spPr>
          <a:xfrm>
            <a:off x="5162550" y="3333750"/>
            <a:ext cx="29910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920" u="none" strike="noStrike">
                <a:solidFill>
                  <a:srgbClr val="0F766E"/>
                </a:solidFill>
                <a:latin typeface="Helvetica Neue"/>
                <a:ea typeface="Helvetica Neue"/>
                <a:cs typeface="Helvetica Neue"/>
                <a:sym typeface="Helvetica Neue"/>
              </a:rPr>
              <a:t>[Tech Track] </a:t>
            </a:r>
            <a:r>
              <a:rPr b="1" i="0" lang="en-US" sz="1110" u="none" strike="noStrike">
                <a:solidFill>
                  <a:srgbClr val="12314B"/>
                </a:solidFill>
                <a:latin typeface="Helvetica Neue"/>
                <a:ea typeface="Helvetica Neue"/>
                <a:cs typeface="Helvetica Neue"/>
                <a:sym typeface="Helvetica Neue"/>
              </a:rPr>
              <a:t>StructureMap Transforms &amp; CLI Validator Lab</a:t>
            </a:r>
            <a:endParaRPr b="1" i="0" sz="1110" u="none" strike="noStrike">
              <a:solidFill>
                <a:srgbClr val="12314B"/>
              </a:solidFill>
              <a:latin typeface="Helvetica Neue"/>
              <a:ea typeface="Helvetica Neue"/>
              <a:cs typeface="Helvetica Neue"/>
              <a:sym typeface="Helvetica Neue"/>
            </a:endParaRPr>
          </a:p>
          <a:p>
            <a:pPr indent="0" lvl="0" marL="0" marR="0" rtl="0" algn="l">
              <a:lnSpc>
                <a:spcPct val="115000"/>
              </a:lnSpc>
              <a:spcBef>
                <a:spcPts val="600"/>
              </a:spcBef>
              <a:spcAft>
                <a:spcPts val="0"/>
              </a:spcAft>
              <a:buNone/>
            </a:pPr>
            <a:r>
              <a:rPr b="0" i="0" lang="en-US" sz="970" u="none" strike="noStrike">
                <a:solidFill>
                  <a:srgbClr val="4B6375"/>
                </a:solidFill>
                <a:latin typeface="Helvetica Neue"/>
                <a:ea typeface="Helvetica Neue"/>
                <a:cs typeface="Helvetica Neue"/>
                <a:sym typeface="Helvetica Neue"/>
              </a:rPr>
              <a:t>75m Room A: Run StructureMap / ConceptMap pipelines, OHS reference tooling, FHIR CLI validation &amp; discrepancy repair.</a:t>
            </a:r>
            <a:endParaRPr b="0" i="0" sz="920" u="none" strike="noStrike">
              <a:solidFill>
                <a:srgbClr val="0F766E"/>
              </a:solidFill>
              <a:latin typeface="Helvetica Neue"/>
              <a:ea typeface="Helvetica Neue"/>
              <a:cs typeface="Helvetica Neue"/>
              <a:sym typeface="Helvetica Neue"/>
            </a:endParaRPr>
          </a:p>
        </p:txBody>
      </p:sp>
      <p:sp>
        <p:nvSpPr>
          <p:cNvPr id="282" name="Google Shape;282;p10"/>
          <p:cNvSpPr/>
          <p:nvPr/>
        </p:nvSpPr>
        <p:spPr>
          <a:xfrm>
            <a:off x="8324850" y="3257550"/>
            <a:ext cx="3162300" cy="1219200"/>
          </a:xfrm>
          <a:prstGeom prst="roundRect">
            <a:avLst>
              <a:gd fmla="val 0" name="adj"/>
            </a:avLst>
          </a:prstGeom>
          <a:solidFill>
            <a:srgbClr val="FFFBEB"/>
          </a:solidFill>
          <a:ln cap="flat" cmpd="sng" w="9525">
            <a:solidFill>
              <a:srgbClr val="FDE68A"/>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3" name="Google Shape;283;p10"/>
          <p:cNvSpPr txBox="1"/>
          <p:nvPr/>
        </p:nvSpPr>
        <p:spPr>
          <a:xfrm>
            <a:off x="8420100" y="3333750"/>
            <a:ext cx="29718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00" u="none" strike="noStrike">
                <a:solidFill>
                  <a:srgbClr val="B45309"/>
                </a:solidFill>
                <a:latin typeface="Helvetica Neue"/>
                <a:ea typeface="Helvetica Neue"/>
                <a:cs typeface="Helvetica Neue"/>
                <a:sym typeface="Helvetica Neue"/>
              </a:rPr>
              <a:t>[Policy Track] </a:t>
            </a:r>
            <a:r>
              <a:rPr b="1" i="0" lang="en-US" sz="1200" u="none" strike="noStrike">
                <a:solidFill>
                  <a:srgbClr val="12314B"/>
                </a:solidFill>
                <a:latin typeface="Helvetica Neue"/>
                <a:ea typeface="Helvetica Neue"/>
                <a:cs typeface="Helvetica Neue"/>
                <a:sym typeface="Helvetica Neue"/>
              </a:rPr>
              <a:t>Data Exchange Accords &amp; Privacy (PDPA)</a:t>
            </a:r>
            <a:endParaRPr b="1" i="0" sz="1000" u="none" strike="noStrike">
              <a:solidFill>
                <a:srgbClr val="B45309"/>
              </a:solidFill>
              <a:latin typeface="Helvetica Neue"/>
              <a:ea typeface="Helvetica Neue"/>
              <a:cs typeface="Helvetica Neue"/>
              <a:sym typeface="Helvetica Neue"/>
            </a:endParaRPr>
          </a:p>
          <a:p>
            <a:pPr indent="0" lvl="0" marL="0" marR="0" rtl="0" algn="l">
              <a:lnSpc>
                <a:spcPct val="115000"/>
              </a:lnSpc>
              <a:spcBef>
                <a:spcPts val="600"/>
              </a:spcBef>
              <a:spcAft>
                <a:spcPts val="0"/>
              </a:spcAft>
              <a:buNone/>
            </a:pPr>
            <a:r>
              <a:rPr b="0" i="0" lang="en-US" sz="1050" u="none" strike="noStrike">
                <a:solidFill>
                  <a:srgbClr val="4B6375"/>
                </a:solidFill>
                <a:latin typeface="Helvetica Neue"/>
                <a:ea typeface="Helvetica Neue"/>
                <a:cs typeface="Helvetica Neue"/>
                <a:sym typeface="Helvetica Neue"/>
              </a:rPr>
              <a:t>75m Room B: Bilateral health data exchange accords, regional interoperability governance, and cross-border privacy.</a:t>
            </a:r>
            <a:endParaRPr b="1" i="0" sz="1000" u="none" strike="noStrike">
              <a:solidFill>
                <a:srgbClr val="B45309"/>
              </a:solidFill>
              <a:latin typeface="Helvetica Neue"/>
              <a:ea typeface="Helvetica Neue"/>
              <a:cs typeface="Helvetica Neue"/>
              <a:sym typeface="Helvetica Neue"/>
            </a:endParaRPr>
          </a:p>
        </p:txBody>
      </p:sp>
      <p:cxnSp>
        <p:nvCxnSpPr>
          <p:cNvPr id="284" name="Google Shape;284;p10"/>
          <p:cNvCxnSpPr/>
          <p:nvPr/>
        </p:nvCxnSpPr>
        <p:spPr>
          <a:xfrm>
            <a:off x="723900" y="4552950"/>
            <a:ext cx="10763400" cy="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285" name="Google Shape;285;p10"/>
          <p:cNvSpPr txBox="1"/>
          <p:nvPr/>
        </p:nvSpPr>
        <p:spPr>
          <a:xfrm>
            <a:off x="723900" y="4667250"/>
            <a:ext cx="1333500" cy="1219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300" u="none" strike="noStrike">
                <a:solidFill>
                  <a:srgbClr val="008F99"/>
                </a:solidFill>
                <a:latin typeface="Helvetica Neue"/>
                <a:ea typeface="Helvetica Neue"/>
                <a:cs typeface="Helvetica Neue"/>
                <a:sym typeface="Helvetica Neue"/>
              </a:rPr>
              <a:t>16:00–17:00</a:t>
            </a:r>
            <a:endParaRPr b="1" i="0" sz="1300" u="none" strike="noStrike">
              <a:solidFill>
                <a:srgbClr val="008F99"/>
              </a:solidFill>
              <a:latin typeface="Helvetica Neue"/>
              <a:ea typeface="Helvetica Neue"/>
              <a:cs typeface="Helvetica Neue"/>
              <a:sym typeface="Helvetica Neue"/>
            </a:endParaRPr>
          </a:p>
          <a:p>
            <a:pPr indent="0" lvl="0" marL="0" marR="0" rtl="0" algn="l">
              <a:lnSpc>
                <a:spcPct val="100000"/>
              </a:lnSpc>
              <a:spcBef>
                <a:spcPts val="400"/>
              </a:spcBef>
              <a:spcAft>
                <a:spcPts val="0"/>
              </a:spcAft>
              <a:buNone/>
            </a:pPr>
            <a:r>
              <a:rPr b="0" i="0" lang="en-US" sz="1150" u="none" strike="noStrike">
                <a:solidFill>
                  <a:srgbClr val="12314B"/>
                </a:solidFill>
                <a:latin typeface="Helvetica Neue"/>
                <a:ea typeface="Helvetica Neue"/>
                <a:cs typeface="Helvetica Neue"/>
                <a:sym typeface="Helvetica Neue"/>
              </a:rPr>
              <a:t>Synthesis</a:t>
            </a:r>
            <a:endParaRPr b="1" i="0" sz="1300" u="none" strike="noStrike">
              <a:solidFill>
                <a:srgbClr val="008F99"/>
              </a:solidFill>
              <a:latin typeface="Helvetica Neue"/>
              <a:ea typeface="Helvetica Neue"/>
              <a:cs typeface="Helvetica Neue"/>
              <a:sym typeface="Helvetica Neue"/>
            </a:endParaRPr>
          </a:p>
        </p:txBody>
      </p:sp>
      <p:sp>
        <p:nvSpPr>
          <p:cNvPr id="286" name="Google Shape;286;p10"/>
          <p:cNvSpPr/>
          <p:nvPr/>
        </p:nvSpPr>
        <p:spPr>
          <a:xfrm>
            <a:off x="2133600" y="4667250"/>
            <a:ext cx="2857500" cy="1219200"/>
          </a:xfrm>
          <a:prstGeom prst="roundRect">
            <a:avLst>
              <a:gd fmla="val 0" name="adj"/>
            </a:avLst>
          </a:prstGeom>
          <a:solidFill>
            <a:srgbClr val="F8FAFC"/>
          </a:solidFill>
          <a:ln cap="flat" cmpd="sng" w="9525">
            <a:solidFill>
              <a:srgbClr val="CBD7D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7" name="Google Shape;287;p10"/>
          <p:cNvSpPr txBox="1"/>
          <p:nvPr/>
        </p:nvSpPr>
        <p:spPr>
          <a:xfrm>
            <a:off x="2228850" y="4743450"/>
            <a:ext cx="26670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00" u="none" strike="noStrike">
                <a:solidFill>
                  <a:srgbClr val="1E3A8A"/>
                </a:solidFill>
                <a:latin typeface="Helvetica Neue"/>
                <a:ea typeface="Helvetica Neue"/>
                <a:cs typeface="Helvetica Neue"/>
                <a:sym typeface="Helvetica Neue"/>
              </a:rPr>
              <a:t>[Joint Plenary] </a:t>
            </a:r>
            <a:r>
              <a:rPr b="1" i="0" lang="en-US" sz="1200" u="none" strike="noStrike">
                <a:solidFill>
                  <a:srgbClr val="12314B"/>
                </a:solidFill>
                <a:latin typeface="Helvetica Neue"/>
                <a:ea typeface="Helvetica Neue"/>
                <a:cs typeface="Helvetica Neue"/>
                <a:sym typeface="Helvetica Neue"/>
              </a:rPr>
              <a:t>Day 1 Joint Synthesis Plenary</a:t>
            </a:r>
            <a:endParaRPr b="1" i="0" sz="1000" u="none" strike="noStrike">
              <a:solidFill>
                <a:srgbClr val="1E3A8A"/>
              </a:solidFill>
              <a:latin typeface="Helvetica Neue"/>
              <a:ea typeface="Helvetica Neue"/>
              <a:cs typeface="Helvetica Neue"/>
              <a:sym typeface="Helvetica Neue"/>
            </a:endParaRPr>
          </a:p>
          <a:p>
            <a:pPr indent="0" lvl="0" marL="0" marR="0" rtl="0" algn="l">
              <a:lnSpc>
                <a:spcPct val="115000"/>
              </a:lnSpc>
              <a:spcBef>
                <a:spcPts val="600"/>
              </a:spcBef>
              <a:spcAft>
                <a:spcPts val="0"/>
              </a:spcAft>
              <a:buNone/>
            </a:pPr>
            <a:r>
              <a:rPr b="0" i="0" lang="en-US" sz="1050" u="none" strike="noStrike">
                <a:solidFill>
                  <a:srgbClr val="4B6375"/>
                </a:solidFill>
                <a:latin typeface="Helvetica Neue"/>
                <a:ea typeface="Helvetica Neue"/>
                <a:cs typeface="Helvetica Neue"/>
                <a:sym typeface="Helvetica Neue"/>
              </a:rPr>
              <a:t>60m Grand Ballroom: Cross-workstream evidence review, reconciling technical mappings with policy constraints.</a:t>
            </a:r>
            <a:endParaRPr b="1" i="0" sz="1000" u="none" strike="noStrike">
              <a:solidFill>
                <a:srgbClr val="1E3A8A"/>
              </a:solidFill>
              <a:latin typeface="Helvetica Neue"/>
              <a:ea typeface="Helvetica Neue"/>
              <a:cs typeface="Helvetica Neue"/>
              <a:sym typeface="Helvetica Neue"/>
            </a:endParaRPr>
          </a:p>
        </p:txBody>
      </p:sp>
      <p:sp>
        <p:nvSpPr>
          <p:cNvPr id="288" name="Google Shape;288;p10"/>
          <p:cNvSpPr/>
          <p:nvPr/>
        </p:nvSpPr>
        <p:spPr>
          <a:xfrm>
            <a:off x="5067300" y="4667250"/>
            <a:ext cx="3181200" cy="1219200"/>
          </a:xfrm>
          <a:prstGeom prst="roundRect">
            <a:avLst>
              <a:gd fmla="val 0" name="adj"/>
            </a:avLst>
          </a:prstGeom>
          <a:solidFill>
            <a:srgbClr val="F0FDFA"/>
          </a:solidFill>
          <a:ln cap="flat" cmpd="sng" w="9525">
            <a:solidFill>
              <a:srgbClr val="CBD7D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9" name="Google Shape;289;p10"/>
          <p:cNvSpPr txBox="1"/>
          <p:nvPr/>
        </p:nvSpPr>
        <p:spPr>
          <a:xfrm>
            <a:off x="5162550" y="4743450"/>
            <a:ext cx="29910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000" u="none" strike="noStrike">
                <a:solidFill>
                  <a:srgbClr val="0F766E"/>
                </a:solidFill>
                <a:latin typeface="Helvetica Neue"/>
                <a:ea typeface="Helvetica Neue"/>
                <a:cs typeface="Helvetica Neue"/>
                <a:sym typeface="Helvetica Neue"/>
              </a:rPr>
              <a:t>[Ballroom] </a:t>
            </a:r>
            <a:r>
              <a:rPr b="1" i="0" lang="en-US" sz="1200" u="none" strike="noStrike">
                <a:solidFill>
                  <a:srgbClr val="12314B"/>
                </a:solidFill>
                <a:latin typeface="Helvetica Neue"/>
                <a:ea typeface="Helvetica Neue"/>
                <a:cs typeface="Helvetica Neue"/>
                <a:sym typeface="Helvetica Neue"/>
              </a:rPr>
              <a:t>Validated Pipeline Demos &amp; Evidence Logs</a:t>
            </a:r>
            <a:endParaRPr b="1" i="0" sz="1200" u="none" strike="noStrike">
              <a:solidFill>
                <a:srgbClr val="12314B"/>
              </a:solidFill>
              <a:latin typeface="Helvetica Neue"/>
              <a:ea typeface="Helvetica Neue"/>
              <a:cs typeface="Helvetica Neue"/>
              <a:sym typeface="Helvetica Neue"/>
            </a:endParaRPr>
          </a:p>
          <a:p>
            <a:pPr indent="0" lvl="0" marL="0" marR="0" rtl="0" algn="l">
              <a:lnSpc>
                <a:spcPct val="115000"/>
              </a:lnSpc>
              <a:spcBef>
                <a:spcPts val="600"/>
              </a:spcBef>
              <a:spcAft>
                <a:spcPts val="0"/>
              </a:spcAft>
              <a:buNone/>
            </a:pPr>
            <a:r>
              <a:rPr b="0" i="0" lang="en-US" sz="1050" u="none" strike="noStrike">
                <a:solidFill>
                  <a:srgbClr val="4B6375"/>
                </a:solidFill>
                <a:latin typeface="Helvetica Neue"/>
                <a:ea typeface="Helvetica Neue"/>
                <a:cs typeface="Helvetica Neue"/>
                <a:sym typeface="Helvetica Neue"/>
              </a:rPr>
              <a:t>Tech lead demonstrations of validated FHIR pipelines, transformation evidence board, and unresolved issue triage.</a:t>
            </a:r>
            <a:endParaRPr b="0" i="0" sz="1000" u="none" strike="noStrike">
              <a:solidFill>
                <a:srgbClr val="0F766E"/>
              </a:solidFill>
              <a:latin typeface="Helvetica Neue"/>
              <a:ea typeface="Helvetica Neue"/>
              <a:cs typeface="Helvetica Neue"/>
              <a:sym typeface="Helvetica Neue"/>
            </a:endParaRPr>
          </a:p>
        </p:txBody>
      </p:sp>
      <p:sp>
        <p:nvSpPr>
          <p:cNvPr id="290" name="Google Shape;290;p10"/>
          <p:cNvSpPr/>
          <p:nvPr/>
        </p:nvSpPr>
        <p:spPr>
          <a:xfrm>
            <a:off x="8324850" y="4667250"/>
            <a:ext cx="3162300" cy="1219200"/>
          </a:xfrm>
          <a:prstGeom prst="roundRect">
            <a:avLst>
              <a:gd fmla="val 0" name="adj"/>
            </a:avLst>
          </a:prstGeom>
          <a:solidFill>
            <a:srgbClr val="F8FAFC"/>
          </a:solidFill>
          <a:ln cap="flat" cmpd="sng" w="9525">
            <a:solidFill>
              <a:srgbClr val="CBD7D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1" name="Google Shape;291;p10"/>
          <p:cNvSpPr txBox="1"/>
          <p:nvPr/>
        </p:nvSpPr>
        <p:spPr>
          <a:xfrm>
            <a:off x="8420100" y="4743450"/>
            <a:ext cx="29718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00" u="none" strike="noStrike">
                <a:solidFill>
                  <a:srgbClr val="B45309"/>
                </a:solidFill>
                <a:latin typeface="Helvetica Neue"/>
                <a:ea typeface="Helvetica Neue"/>
                <a:cs typeface="Helvetica Neue"/>
                <a:sym typeface="Helvetica Neue"/>
              </a:rPr>
              <a:t>[Ballroom] </a:t>
            </a:r>
            <a:r>
              <a:rPr b="1" i="0" lang="en-US" sz="1200" u="none" strike="noStrike">
                <a:solidFill>
                  <a:srgbClr val="12314B"/>
                </a:solidFill>
                <a:latin typeface="Helvetica Neue"/>
                <a:ea typeface="Helvetica Neue"/>
                <a:cs typeface="Helvetica Neue"/>
                <a:sym typeface="Helvetica Neue"/>
              </a:rPr>
              <a:t>Draft Accords &amp; Day 2 Readiness</a:t>
            </a:r>
            <a:endParaRPr b="1" i="0" sz="1000" u="none" strike="noStrike">
              <a:solidFill>
                <a:srgbClr val="B45309"/>
              </a:solidFill>
              <a:latin typeface="Helvetica Neue"/>
              <a:ea typeface="Helvetica Neue"/>
              <a:cs typeface="Helvetica Neue"/>
              <a:sym typeface="Helvetica Neue"/>
            </a:endParaRPr>
          </a:p>
          <a:p>
            <a:pPr indent="0" lvl="0" marL="0" marR="0" rtl="0" algn="l">
              <a:lnSpc>
                <a:spcPct val="115000"/>
              </a:lnSpc>
              <a:spcBef>
                <a:spcPts val="600"/>
              </a:spcBef>
              <a:spcAft>
                <a:spcPts val="0"/>
              </a:spcAft>
              <a:buNone/>
            </a:pPr>
            <a:r>
              <a:rPr b="0" i="0" lang="en-US" sz="1050" u="none" strike="noStrike">
                <a:solidFill>
                  <a:srgbClr val="4B6375"/>
                </a:solidFill>
                <a:latin typeface="Helvetica Neue"/>
                <a:ea typeface="Helvetica Neue"/>
                <a:cs typeface="Helvetica Neue"/>
                <a:sym typeface="Helvetica Neue"/>
              </a:rPr>
              <a:t>Presentation of multilateral governance consensus points and sign-off on travel flow readiness.</a:t>
            </a:r>
            <a:endParaRPr b="1" i="0" sz="1000" u="none" strike="noStrike">
              <a:solidFill>
                <a:srgbClr val="B45309"/>
              </a:solidFill>
              <a:latin typeface="Helvetica Neue"/>
              <a:ea typeface="Helvetica Neue"/>
              <a:cs typeface="Helvetica Neue"/>
              <a:sym typeface="Helvetica Neue"/>
            </a:endParaRPr>
          </a:p>
        </p:txBody>
      </p:sp>
      <p:sp>
        <p:nvSpPr>
          <p:cNvPr id="292" name="Google Shape;292;p10"/>
          <p:cNvSpPr txBox="1"/>
          <p:nvPr/>
        </p:nvSpPr>
        <p:spPr>
          <a:xfrm>
            <a:off x="742950" y="6019800"/>
            <a:ext cx="10572900" cy="2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150">
                <a:solidFill>
                  <a:srgbClr val="607383"/>
                </a:solidFill>
                <a:latin typeface="Helvetica Neue"/>
                <a:ea typeface="Helvetica Neue"/>
                <a:cs typeface="Helvetica Neue"/>
                <a:sym typeface="Helvetica Neue"/>
              </a:rPr>
              <a:t>Afternoon Break 14:30–14:45     Joint Checkpoint 16:00</a:t>
            </a:r>
            <a:endParaRPr sz="1150">
              <a:solidFill>
                <a:srgbClr val="607383"/>
              </a:solidFill>
              <a:latin typeface="Helvetica Neue"/>
              <a:ea typeface="Helvetica Neue"/>
              <a:cs typeface="Helvetica Neue"/>
              <a:sym typeface="Helvetica Neue"/>
            </a:endParaRPr>
          </a:p>
        </p:txBody>
      </p:sp>
      <p:cxnSp>
        <p:nvCxnSpPr>
          <p:cNvPr id="293" name="Google Shape;293;p10"/>
          <p:cNvCxnSpPr/>
          <p:nvPr/>
        </p:nvCxnSpPr>
        <p:spPr>
          <a:xfrm>
            <a:off x="609600" y="6429375"/>
            <a:ext cx="10953900" cy="0"/>
          </a:xfrm>
          <a:prstGeom prst="straightConnector1">
            <a:avLst/>
          </a:prstGeom>
          <a:solidFill>
            <a:srgbClr val="FFFFFF"/>
          </a:solidFill>
          <a:ln cap="flat" cmpd="sng" w="9525">
            <a:solidFill>
              <a:srgbClr val="CBD7DC"/>
            </a:solidFill>
            <a:prstDash val="solid"/>
            <a:round/>
            <a:headEnd len="sm" w="sm" type="none"/>
            <a:tailEnd len="sm" w="sm" type="none"/>
          </a:ln>
        </p:spPr>
      </p:cxnSp>
      <p:sp>
        <p:nvSpPr>
          <p:cNvPr id="294" name="Google Shape;294;p10"/>
          <p:cNvSpPr txBox="1"/>
          <p:nvPr/>
        </p:nvSpPr>
        <p:spPr>
          <a:xfrm>
            <a:off x="704850" y="6572250"/>
            <a:ext cx="66675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90">
                <a:solidFill>
                  <a:srgbClr val="607383"/>
                </a:solidFill>
                <a:latin typeface="Helvetica Neue"/>
                <a:ea typeface="Helvetica Neue"/>
                <a:cs typeface="Helvetica Neue"/>
                <a:sym typeface="Helvetica Neue"/>
              </a:rPr>
              <a:t>Thailand technologist workstream, partner preparation • Integrated E2E Journeys</a:t>
            </a:r>
            <a:endParaRPr sz="1090">
              <a:solidFill>
                <a:srgbClr val="607383"/>
              </a:solidFill>
              <a:latin typeface="Helvetica Neue"/>
              <a:ea typeface="Helvetica Neue"/>
              <a:cs typeface="Helvetica Neue"/>
              <a:sym typeface="Helvetica Neu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1"/>
          <p:cNvSpPr txBox="1"/>
          <p:nvPr/>
        </p:nvSpPr>
        <p:spPr>
          <a:xfrm>
            <a:off x="704850" y="428625"/>
            <a:ext cx="99060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600">
                <a:solidFill>
                  <a:srgbClr val="12314B"/>
                </a:solidFill>
                <a:latin typeface="Helvetica Neue"/>
                <a:ea typeface="Helvetica Neue"/>
                <a:cs typeface="Helvetica Neue"/>
                <a:sym typeface="Helvetica Neue"/>
              </a:rPr>
              <a:t>Day 2 agenda, morning (integrated tracks)</a:t>
            </a:r>
            <a:endParaRPr b="1" sz="2600">
              <a:solidFill>
                <a:srgbClr val="12314B"/>
              </a:solidFill>
              <a:latin typeface="Helvetica Neue"/>
              <a:ea typeface="Helvetica Neue"/>
              <a:cs typeface="Helvetica Neue"/>
              <a:sym typeface="Helvetica Neue"/>
            </a:endParaRPr>
          </a:p>
        </p:txBody>
      </p:sp>
      <p:sp>
        <p:nvSpPr>
          <p:cNvPr id="304" name="Google Shape;304;p11"/>
          <p:cNvSpPr txBox="1"/>
          <p:nvPr/>
        </p:nvSpPr>
        <p:spPr>
          <a:xfrm>
            <a:off x="10763250" y="485775"/>
            <a:ext cx="762000" cy="285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en-US" sz="1250">
                <a:solidFill>
                  <a:srgbClr val="008F99"/>
                </a:solidFill>
                <a:latin typeface="Helvetica Neue"/>
                <a:ea typeface="Helvetica Neue"/>
                <a:cs typeface="Helvetica Neue"/>
                <a:sym typeface="Helvetica Neue"/>
              </a:rPr>
              <a:t>09-ALT</a:t>
            </a:r>
            <a:endParaRPr b="1" sz="1250">
              <a:solidFill>
                <a:srgbClr val="008F99"/>
              </a:solidFill>
              <a:latin typeface="Helvetica Neue"/>
              <a:ea typeface="Helvetica Neue"/>
              <a:cs typeface="Helvetica Neue"/>
              <a:sym typeface="Helvetica Neue"/>
            </a:endParaRPr>
          </a:p>
        </p:txBody>
      </p:sp>
      <p:sp>
        <p:nvSpPr>
          <p:cNvPr id="305" name="Google Shape;305;p11"/>
          <p:cNvSpPr txBox="1"/>
          <p:nvPr/>
        </p:nvSpPr>
        <p:spPr>
          <a:xfrm>
            <a:off x="723900" y="971550"/>
            <a:ext cx="104775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400" u="none" strike="noStrike">
                <a:solidFill>
                  <a:srgbClr val="607383"/>
                </a:solidFill>
                <a:latin typeface="Helvetica Neue"/>
                <a:ea typeface="Helvetica Neue"/>
                <a:cs typeface="Helvetica Neue"/>
                <a:sym typeface="Helvetica Neue"/>
              </a:rPr>
              <a:t>Outbound family travel (J4) and Projectathon exchange practicum (J5 Stations 1 &amp; 2)</a:t>
            </a:r>
            <a:endParaRPr b="0" i="0" sz="1400" u="none" strike="noStrike">
              <a:solidFill>
                <a:srgbClr val="607383"/>
              </a:solidFill>
              <a:latin typeface="Helvetica Neue"/>
              <a:ea typeface="Helvetica Neue"/>
              <a:cs typeface="Helvetica Neue"/>
              <a:sym typeface="Helvetica Neue"/>
            </a:endParaRPr>
          </a:p>
        </p:txBody>
      </p:sp>
      <p:cxnSp>
        <p:nvCxnSpPr>
          <p:cNvPr id="306" name="Google Shape;306;p11"/>
          <p:cNvCxnSpPr/>
          <p:nvPr/>
        </p:nvCxnSpPr>
        <p:spPr>
          <a:xfrm>
            <a:off x="609600" y="1276350"/>
            <a:ext cx="876300" cy="0"/>
          </a:xfrm>
          <a:prstGeom prst="straightConnector1">
            <a:avLst/>
          </a:prstGeom>
          <a:solidFill>
            <a:srgbClr val="FFFFFF"/>
          </a:solidFill>
          <a:ln cap="flat" cmpd="sng" w="38100">
            <a:solidFill>
              <a:srgbClr val="008F99"/>
            </a:solidFill>
            <a:prstDash val="solid"/>
            <a:round/>
            <a:headEnd len="sm" w="sm" type="none"/>
            <a:tailEnd len="sm" w="sm" type="none"/>
          </a:ln>
        </p:spPr>
      </p:cxnSp>
      <p:sp>
        <p:nvSpPr>
          <p:cNvPr id="307" name="Google Shape;307;p11"/>
          <p:cNvSpPr txBox="1"/>
          <p:nvPr/>
        </p:nvSpPr>
        <p:spPr>
          <a:xfrm>
            <a:off x="723900" y="1485900"/>
            <a:ext cx="1333500" cy="2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008F99"/>
                </a:solidFill>
                <a:latin typeface="Helvetica Neue"/>
                <a:ea typeface="Helvetica Neue"/>
                <a:cs typeface="Helvetica Neue"/>
                <a:sym typeface="Helvetica Neue"/>
              </a:rPr>
              <a:t>TIME &amp; JOURNEY</a:t>
            </a:r>
            <a:endParaRPr b="1" sz="1100">
              <a:solidFill>
                <a:srgbClr val="008F99"/>
              </a:solidFill>
              <a:latin typeface="Helvetica Neue"/>
              <a:ea typeface="Helvetica Neue"/>
              <a:cs typeface="Helvetica Neue"/>
              <a:sym typeface="Helvetica Neue"/>
            </a:endParaRPr>
          </a:p>
        </p:txBody>
      </p:sp>
      <p:sp>
        <p:nvSpPr>
          <p:cNvPr id="308" name="Google Shape;308;p11"/>
          <p:cNvSpPr txBox="1"/>
          <p:nvPr/>
        </p:nvSpPr>
        <p:spPr>
          <a:xfrm>
            <a:off x="2133600" y="1485900"/>
            <a:ext cx="2857500" cy="2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008F99"/>
                </a:solidFill>
                <a:latin typeface="Helvetica Neue"/>
                <a:ea typeface="Helvetica Neue"/>
                <a:cs typeface="Helvetica Neue"/>
                <a:sym typeface="Helvetica Neue"/>
              </a:rPr>
              <a:t>PLENARY ANCHOR &amp; SCOPE</a:t>
            </a:r>
            <a:endParaRPr b="1" sz="1100">
              <a:solidFill>
                <a:srgbClr val="008F99"/>
              </a:solidFill>
              <a:latin typeface="Helvetica Neue"/>
              <a:ea typeface="Helvetica Neue"/>
              <a:cs typeface="Helvetica Neue"/>
              <a:sym typeface="Helvetica Neue"/>
            </a:endParaRPr>
          </a:p>
        </p:txBody>
      </p:sp>
      <p:sp>
        <p:nvSpPr>
          <p:cNvPr id="309" name="Google Shape;309;p11"/>
          <p:cNvSpPr txBox="1"/>
          <p:nvPr/>
        </p:nvSpPr>
        <p:spPr>
          <a:xfrm>
            <a:off x="5067300" y="1485900"/>
            <a:ext cx="3181200" cy="2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008F99"/>
                </a:solidFill>
                <a:latin typeface="Helvetica Neue"/>
                <a:ea typeface="Helvetica Neue"/>
                <a:cs typeface="Helvetica Neue"/>
                <a:sym typeface="Helvetica Neue"/>
              </a:rPr>
              <a:t>TECHNICAL TRACK (ROOM A)</a:t>
            </a:r>
            <a:endParaRPr b="1" sz="1100">
              <a:solidFill>
                <a:srgbClr val="008F99"/>
              </a:solidFill>
              <a:latin typeface="Helvetica Neue"/>
              <a:ea typeface="Helvetica Neue"/>
              <a:cs typeface="Helvetica Neue"/>
              <a:sym typeface="Helvetica Neue"/>
            </a:endParaRPr>
          </a:p>
        </p:txBody>
      </p:sp>
      <p:sp>
        <p:nvSpPr>
          <p:cNvPr id="310" name="Google Shape;310;p11"/>
          <p:cNvSpPr txBox="1"/>
          <p:nvPr/>
        </p:nvSpPr>
        <p:spPr>
          <a:xfrm>
            <a:off x="8324850" y="1485900"/>
            <a:ext cx="3162300" cy="2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008F99"/>
                </a:solidFill>
                <a:latin typeface="Helvetica Neue"/>
                <a:ea typeface="Helvetica Neue"/>
                <a:cs typeface="Helvetica Neue"/>
                <a:sym typeface="Helvetica Neue"/>
              </a:rPr>
              <a:t>POLICY &amp; GOVERNANCE TRACK (ROOM B)</a:t>
            </a:r>
            <a:endParaRPr b="1" sz="1100">
              <a:solidFill>
                <a:srgbClr val="008F99"/>
              </a:solidFill>
              <a:latin typeface="Helvetica Neue"/>
              <a:ea typeface="Helvetica Neue"/>
              <a:cs typeface="Helvetica Neue"/>
              <a:sym typeface="Helvetica Neue"/>
            </a:endParaRPr>
          </a:p>
        </p:txBody>
      </p:sp>
      <p:cxnSp>
        <p:nvCxnSpPr>
          <p:cNvPr id="311" name="Google Shape;311;p11"/>
          <p:cNvCxnSpPr/>
          <p:nvPr/>
        </p:nvCxnSpPr>
        <p:spPr>
          <a:xfrm>
            <a:off x="723900" y="1733550"/>
            <a:ext cx="10763400" cy="0"/>
          </a:xfrm>
          <a:prstGeom prst="straightConnector1">
            <a:avLst/>
          </a:prstGeom>
          <a:solidFill>
            <a:srgbClr val="FFFFFF"/>
          </a:solidFill>
          <a:ln cap="flat" cmpd="sng" w="9525">
            <a:solidFill>
              <a:srgbClr val="CBD7DC"/>
            </a:solidFill>
            <a:prstDash val="solid"/>
            <a:round/>
            <a:headEnd len="sm" w="sm" type="none"/>
            <a:tailEnd len="sm" w="sm" type="none"/>
          </a:ln>
        </p:spPr>
      </p:cxnSp>
      <p:sp>
        <p:nvSpPr>
          <p:cNvPr id="312" name="Google Shape;312;p11"/>
          <p:cNvSpPr txBox="1"/>
          <p:nvPr/>
        </p:nvSpPr>
        <p:spPr>
          <a:xfrm>
            <a:off x="723900" y="1847850"/>
            <a:ext cx="1333500" cy="1219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300" u="none" strike="noStrike">
                <a:solidFill>
                  <a:srgbClr val="008F99"/>
                </a:solidFill>
                <a:latin typeface="Helvetica Neue"/>
                <a:ea typeface="Helvetica Neue"/>
                <a:cs typeface="Helvetica Neue"/>
                <a:sym typeface="Helvetica Neue"/>
              </a:rPr>
              <a:t>09:00–09:30</a:t>
            </a:r>
            <a:endParaRPr b="1" i="0" sz="1300" u="none" strike="noStrike">
              <a:solidFill>
                <a:srgbClr val="008F99"/>
              </a:solidFill>
              <a:latin typeface="Helvetica Neue"/>
              <a:ea typeface="Helvetica Neue"/>
              <a:cs typeface="Helvetica Neue"/>
              <a:sym typeface="Helvetica Neue"/>
            </a:endParaRPr>
          </a:p>
          <a:p>
            <a:pPr indent="0" lvl="0" marL="0" marR="0" rtl="0" algn="l">
              <a:lnSpc>
                <a:spcPct val="100000"/>
              </a:lnSpc>
              <a:spcBef>
                <a:spcPts val="400"/>
              </a:spcBef>
              <a:spcAft>
                <a:spcPts val="0"/>
              </a:spcAft>
              <a:buNone/>
            </a:pPr>
            <a:r>
              <a:rPr b="0" i="0" lang="en-US" sz="1150" u="none" strike="noStrike">
                <a:solidFill>
                  <a:srgbClr val="12314B"/>
                </a:solidFill>
                <a:latin typeface="Helvetica Neue"/>
                <a:ea typeface="Helvetica Neue"/>
                <a:cs typeface="Helvetica Neue"/>
                <a:sym typeface="Helvetica Neue"/>
              </a:rPr>
              <a:t>Framing</a:t>
            </a:r>
            <a:endParaRPr b="1" i="0" sz="1300" u="none" strike="noStrike">
              <a:solidFill>
                <a:srgbClr val="008F99"/>
              </a:solidFill>
              <a:latin typeface="Helvetica Neue"/>
              <a:ea typeface="Helvetica Neue"/>
              <a:cs typeface="Helvetica Neue"/>
              <a:sym typeface="Helvetica Neue"/>
            </a:endParaRPr>
          </a:p>
        </p:txBody>
      </p:sp>
      <p:sp>
        <p:nvSpPr>
          <p:cNvPr id="313" name="Google Shape;313;p11"/>
          <p:cNvSpPr/>
          <p:nvPr/>
        </p:nvSpPr>
        <p:spPr>
          <a:xfrm>
            <a:off x="2133600" y="1847850"/>
            <a:ext cx="2857500" cy="1219200"/>
          </a:xfrm>
          <a:prstGeom prst="roundRect">
            <a:avLst>
              <a:gd fmla="val 0" name="adj"/>
            </a:avLst>
          </a:prstGeom>
          <a:solidFill>
            <a:srgbClr val="F8FAFC"/>
          </a:solidFill>
          <a:ln cap="flat" cmpd="sng" w="9525">
            <a:solidFill>
              <a:srgbClr val="CBD7D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14" name="Google Shape;314;p11"/>
          <p:cNvSpPr txBox="1"/>
          <p:nvPr/>
        </p:nvSpPr>
        <p:spPr>
          <a:xfrm>
            <a:off x="2228850" y="1924050"/>
            <a:ext cx="26670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00" u="none" strike="noStrike">
                <a:solidFill>
                  <a:srgbClr val="1E3A8A"/>
                </a:solidFill>
                <a:latin typeface="Helvetica Neue"/>
                <a:ea typeface="Helvetica Neue"/>
                <a:cs typeface="Helvetica Neue"/>
                <a:sym typeface="Helvetica Neue"/>
              </a:rPr>
              <a:t>[All Delegates] </a:t>
            </a:r>
            <a:r>
              <a:rPr b="1" i="0" lang="en-US" sz="1200" u="none" strike="noStrike">
                <a:solidFill>
                  <a:srgbClr val="12314B"/>
                </a:solidFill>
                <a:latin typeface="Helvetica Neue"/>
                <a:ea typeface="Helvetica Neue"/>
                <a:cs typeface="Helvetica Neue"/>
                <a:sym typeface="Helvetica Neue"/>
              </a:rPr>
              <a:t>Day 2 Opening &amp; Outbound Travel Framing</a:t>
            </a:r>
            <a:endParaRPr b="1" i="0" sz="1000" u="none" strike="noStrike">
              <a:solidFill>
                <a:srgbClr val="1E3A8A"/>
              </a:solidFill>
              <a:latin typeface="Helvetica Neue"/>
              <a:ea typeface="Helvetica Neue"/>
              <a:cs typeface="Helvetica Neue"/>
              <a:sym typeface="Helvetica Neue"/>
            </a:endParaRPr>
          </a:p>
          <a:p>
            <a:pPr indent="0" lvl="0" marL="0" marR="0" rtl="0" algn="l">
              <a:lnSpc>
                <a:spcPct val="115000"/>
              </a:lnSpc>
              <a:spcBef>
                <a:spcPts val="600"/>
              </a:spcBef>
              <a:spcAft>
                <a:spcPts val="0"/>
              </a:spcAft>
              <a:buNone/>
            </a:pPr>
            <a:r>
              <a:rPr b="0" i="0" lang="en-US" sz="1050" u="none" strike="noStrike">
                <a:solidFill>
                  <a:srgbClr val="4B6375"/>
                </a:solidFill>
                <a:latin typeface="Helvetica Neue"/>
                <a:ea typeface="Helvetica Neue"/>
                <a:cs typeface="Helvetica Neue"/>
                <a:sym typeface="Helvetica Neue"/>
              </a:rPr>
              <a:t>Framing J4 outbound family travel, mobile Verifiable Health Links (VHL), and Projectathon testing ground rules.</a:t>
            </a:r>
            <a:endParaRPr b="1" i="0" sz="1000" u="none" strike="noStrike">
              <a:solidFill>
                <a:srgbClr val="1E3A8A"/>
              </a:solidFill>
              <a:latin typeface="Helvetica Neue"/>
              <a:ea typeface="Helvetica Neue"/>
              <a:cs typeface="Helvetica Neue"/>
              <a:sym typeface="Helvetica Neue"/>
            </a:endParaRPr>
          </a:p>
        </p:txBody>
      </p:sp>
      <p:sp>
        <p:nvSpPr>
          <p:cNvPr id="315" name="Google Shape;315;p11"/>
          <p:cNvSpPr/>
          <p:nvPr/>
        </p:nvSpPr>
        <p:spPr>
          <a:xfrm>
            <a:off x="5067300" y="1847850"/>
            <a:ext cx="3181200" cy="1219200"/>
          </a:xfrm>
          <a:prstGeom prst="roundRect">
            <a:avLst>
              <a:gd fmla="val 0" name="adj"/>
            </a:avLst>
          </a:prstGeom>
          <a:solidFill>
            <a:srgbClr val="F0FDFA"/>
          </a:solidFill>
          <a:ln cap="flat" cmpd="sng" w="9525">
            <a:solidFill>
              <a:srgbClr val="CBD7D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16" name="Google Shape;316;p11"/>
          <p:cNvSpPr txBox="1"/>
          <p:nvPr/>
        </p:nvSpPr>
        <p:spPr>
          <a:xfrm>
            <a:off x="5162550" y="1924050"/>
            <a:ext cx="29910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00" u="none" strike="noStrike">
                <a:solidFill>
                  <a:srgbClr val="0F766E"/>
                </a:solidFill>
                <a:latin typeface="Helvetica Neue"/>
                <a:ea typeface="Helvetica Neue"/>
                <a:cs typeface="Helvetica Neue"/>
                <a:sym typeface="Helvetica Neue"/>
              </a:rPr>
              <a:t>[Ballroom] </a:t>
            </a:r>
            <a:r>
              <a:rPr b="1" i="0" lang="en-US" sz="1200" u="none" strike="noStrike">
                <a:solidFill>
                  <a:srgbClr val="12314B"/>
                </a:solidFill>
                <a:latin typeface="Helvetica Neue"/>
                <a:ea typeface="Helvetica Neue"/>
                <a:cs typeface="Helvetica Neue"/>
                <a:sym typeface="Helvetica Neue"/>
              </a:rPr>
              <a:t>Mobile VHL &amp; Decoupled Verification</a:t>
            </a:r>
            <a:endParaRPr b="1" i="0" sz="1000" u="none" strike="noStrike">
              <a:solidFill>
                <a:srgbClr val="0F766E"/>
              </a:solidFill>
              <a:latin typeface="Helvetica Neue"/>
              <a:ea typeface="Helvetica Neue"/>
              <a:cs typeface="Helvetica Neue"/>
              <a:sym typeface="Helvetica Neue"/>
            </a:endParaRPr>
          </a:p>
          <a:p>
            <a:pPr indent="0" lvl="0" marL="0" marR="0" rtl="0" algn="l">
              <a:lnSpc>
                <a:spcPct val="115000"/>
              </a:lnSpc>
              <a:spcBef>
                <a:spcPts val="600"/>
              </a:spcBef>
              <a:spcAft>
                <a:spcPts val="0"/>
              </a:spcAft>
              <a:buNone/>
            </a:pPr>
            <a:r>
              <a:rPr b="0" i="0" lang="en-US" sz="1050" u="none" strike="noStrike">
                <a:solidFill>
                  <a:srgbClr val="4B6375"/>
                </a:solidFill>
                <a:latin typeface="Helvetica Neue"/>
                <a:ea typeface="Helvetica Neue"/>
                <a:cs typeface="Helvetica Neue"/>
                <a:sym typeface="Helvetica Neue"/>
              </a:rPr>
              <a:t>Decoupled credential storage vs. point-of-care verification architecture.</a:t>
            </a:r>
            <a:endParaRPr b="1" i="0" sz="1000" u="none" strike="noStrike">
              <a:solidFill>
                <a:srgbClr val="0F766E"/>
              </a:solidFill>
              <a:latin typeface="Helvetica Neue"/>
              <a:ea typeface="Helvetica Neue"/>
              <a:cs typeface="Helvetica Neue"/>
              <a:sym typeface="Helvetica Neue"/>
            </a:endParaRPr>
          </a:p>
        </p:txBody>
      </p:sp>
      <p:sp>
        <p:nvSpPr>
          <p:cNvPr id="317" name="Google Shape;317;p11"/>
          <p:cNvSpPr/>
          <p:nvPr/>
        </p:nvSpPr>
        <p:spPr>
          <a:xfrm>
            <a:off x="8324850" y="1847850"/>
            <a:ext cx="3162300" cy="1219200"/>
          </a:xfrm>
          <a:prstGeom prst="roundRect">
            <a:avLst>
              <a:gd fmla="val 0" name="adj"/>
            </a:avLst>
          </a:prstGeom>
          <a:solidFill>
            <a:srgbClr val="F8FAFC"/>
          </a:solidFill>
          <a:ln cap="flat" cmpd="sng" w="9525">
            <a:solidFill>
              <a:srgbClr val="CBD7D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18" name="Google Shape;318;p11"/>
          <p:cNvSpPr txBox="1"/>
          <p:nvPr/>
        </p:nvSpPr>
        <p:spPr>
          <a:xfrm>
            <a:off x="8420100" y="1924050"/>
            <a:ext cx="29718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00" u="none" strike="noStrike">
                <a:solidFill>
                  <a:srgbClr val="B45309"/>
                </a:solidFill>
                <a:latin typeface="Helvetica Neue"/>
                <a:ea typeface="Helvetica Neue"/>
                <a:cs typeface="Helvetica Neue"/>
                <a:sym typeface="Helvetica Neue"/>
              </a:rPr>
              <a:t>[Ballroom] </a:t>
            </a:r>
            <a:r>
              <a:rPr b="1" i="0" lang="en-US" sz="1200" u="none" strike="noStrike">
                <a:solidFill>
                  <a:srgbClr val="12314B"/>
                </a:solidFill>
                <a:latin typeface="Helvetica Neue"/>
                <a:ea typeface="Helvetica Neue"/>
                <a:cs typeface="Helvetica Neue"/>
                <a:sym typeface="Helvetica Neue"/>
              </a:rPr>
              <a:t>Family Credentials &amp; Sovereignty</a:t>
            </a:r>
            <a:endParaRPr b="1" i="0" sz="1000" u="none" strike="noStrike">
              <a:solidFill>
                <a:srgbClr val="B45309"/>
              </a:solidFill>
              <a:latin typeface="Helvetica Neue"/>
              <a:ea typeface="Helvetica Neue"/>
              <a:cs typeface="Helvetica Neue"/>
              <a:sym typeface="Helvetica Neue"/>
            </a:endParaRPr>
          </a:p>
          <a:p>
            <a:pPr indent="0" lvl="0" marL="0" marR="0" rtl="0" algn="l">
              <a:lnSpc>
                <a:spcPct val="115000"/>
              </a:lnSpc>
              <a:spcBef>
                <a:spcPts val="600"/>
              </a:spcBef>
              <a:spcAft>
                <a:spcPts val="0"/>
              </a:spcAft>
              <a:buNone/>
            </a:pPr>
            <a:r>
              <a:rPr b="0" i="0" lang="en-US" sz="1050" u="none" strike="noStrike">
                <a:solidFill>
                  <a:srgbClr val="4B6375"/>
                </a:solidFill>
                <a:latin typeface="Helvetica Neue"/>
                <a:ea typeface="Helvetica Neue"/>
                <a:cs typeface="Helvetica Neue"/>
                <a:sym typeface="Helvetica Neue"/>
              </a:rPr>
              <a:t>Legal frameworks governing shared mobile credentials and dependent data sovereignty.</a:t>
            </a:r>
            <a:endParaRPr b="1" i="0" sz="1000" u="none" strike="noStrike">
              <a:solidFill>
                <a:srgbClr val="B45309"/>
              </a:solidFill>
              <a:latin typeface="Helvetica Neue"/>
              <a:ea typeface="Helvetica Neue"/>
              <a:cs typeface="Helvetica Neue"/>
              <a:sym typeface="Helvetica Neue"/>
            </a:endParaRPr>
          </a:p>
        </p:txBody>
      </p:sp>
      <p:cxnSp>
        <p:nvCxnSpPr>
          <p:cNvPr id="319" name="Google Shape;319;p11"/>
          <p:cNvCxnSpPr/>
          <p:nvPr/>
        </p:nvCxnSpPr>
        <p:spPr>
          <a:xfrm>
            <a:off x="723900" y="3143250"/>
            <a:ext cx="10763400" cy="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320" name="Google Shape;320;p11"/>
          <p:cNvSpPr txBox="1"/>
          <p:nvPr/>
        </p:nvSpPr>
        <p:spPr>
          <a:xfrm>
            <a:off x="723900" y="3257550"/>
            <a:ext cx="1333500" cy="1219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300" u="none" strike="noStrike">
                <a:solidFill>
                  <a:srgbClr val="008F99"/>
                </a:solidFill>
                <a:latin typeface="Helvetica Neue"/>
                <a:ea typeface="Helvetica Neue"/>
                <a:cs typeface="Helvetica Neue"/>
                <a:sym typeface="Helvetica Neue"/>
              </a:rPr>
              <a:t>09:30–10:45</a:t>
            </a:r>
            <a:endParaRPr b="1" i="0" sz="1300" u="none" strike="noStrike">
              <a:solidFill>
                <a:srgbClr val="008F99"/>
              </a:solidFill>
              <a:latin typeface="Helvetica Neue"/>
              <a:ea typeface="Helvetica Neue"/>
              <a:cs typeface="Helvetica Neue"/>
              <a:sym typeface="Helvetica Neue"/>
            </a:endParaRPr>
          </a:p>
          <a:p>
            <a:pPr indent="0" lvl="0" marL="0" marR="0" rtl="0" algn="l">
              <a:lnSpc>
                <a:spcPct val="100000"/>
              </a:lnSpc>
              <a:spcBef>
                <a:spcPts val="400"/>
              </a:spcBef>
              <a:spcAft>
                <a:spcPts val="0"/>
              </a:spcAft>
              <a:buNone/>
            </a:pPr>
            <a:r>
              <a:rPr b="0" i="0" lang="en-US" sz="1150" u="none" strike="noStrike">
                <a:solidFill>
                  <a:srgbClr val="12314B"/>
                </a:solidFill>
                <a:latin typeface="Helvetica Neue"/>
                <a:ea typeface="Helvetica Neue"/>
                <a:cs typeface="Helvetica Neue"/>
                <a:sym typeface="Helvetica Neue"/>
              </a:rPr>
              <a:t>Journey J4</a:t>
            </a:r>
            <a:endParaRPr b="1" i="0" sz="1300" u="none" strike="noStrike">
              <a:solidFill>
                <a:srgbClr val="008F99"/>
              </a:solidFill>
              <a:latin typeface="Helvetica Neue"/>
              <a:ea typeface="Helvetica Neue"/>
              <a:cs typeface="Helvetica Neue"/>
              <a:sym typeface="Helvetica Neue"/>
            </a:endParaRPr>
          </a:p>
        </p:txBody>
      </p:sp>
      <p:sp>
        <p:nvSpPr>
          <p:cNvPr id="321" name="Google Shape;321;p11"/>
          <p:cNvSpPr/>
          <p:nvPr/>
        </p:nvSpPr>
        <p:spPr>
          <a:xfrm>
            <a:off x="2133600" y="3257550"/>
            <a:ext cx="2857500" cy="1219200"/>
          </a:xfrm>
          <a:prstGeom prst="roundRect">
            <a:avLst>
              <a:gd fmla="val 0" name="adj"/>
            </a:avLst>
          </a:prstGeom>
          <a:solidFill>
            <a:srgbClr val="F8FAFC"/>
          </a:solidFill>
          <a:ln cap="flat" cmpd="sng" w="9525">
            <a:solidFill>
              <a:srgbClr val="CBD7D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2" name="Google Shape;322;p11"/>
          <p:cNvSpPr txBox="1"/>
          <p:nvPr/>
        </p:nvSpPr>
        <p:spPr>
          <a:xfrm>
            <a:off x="2228850" y="3333750"/>
            <a:ext cx="26670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00" u="none" strike="noStrike">
                <a:solidFill>
                  <a:srgbClr val="1E3A8A"/>
                </a:solidFill>
                <a:latin typeface="Helvetica Neue"/>
                <a:ea typeface="Helvetica Neue"/>
                <a:cs typeface="Helvetica Neue"/>
                <a:sym typeface="Helvetica Neue"/>
              </a:rPr>
              <a:t>[15m Plenary] </a:t>
            </a:r>
            <a:r>
              <a:rPr b="1" i="0" lang="en-US" sz="1200" u="none" strike="noStrike">
                <a:solidFill>
                  <a:srgbClr val="12314B"/>
                </a:solidFill>
                <a:latin typeface="Helvetica Neue"/>
                <a:ea typeface="Helvetica Neue"/>
                <a:cs typeface="Helvetica Neue"/>
                <a:sym typeface="Helvetica Neue"/>
              </a:rPr>
              <a:t>J4: 'One Family, One Phone' VHL Flow</a:t>
            </a:r>
            <a:endParaRPr b="1" i="0" sz="1000" u="none" strike="noStrike">
              <a:solidFill>
                <a:srgbClr val="1E3A8A"/>
              </a:solidFill>
              <a:latin typeface="Helvetica Neue"/>
              <a:ea typeface="Helvetica Neue"/>
              <a:cs typeface="Helvetica Neue"/>
              <a:sym typeface="Helvetica Neue"/>
            </a:endParaRPr>
          </a:p>
          <a:p>
            <a:pPr indent="0" lvl="0" marL="0" marR="0" rtl="0" algn="l">
              <a:lnSpc>
                <a:spcPct val="115000"/>
              </a:lnSpc>
              <a:spcBef>
                <a:spcPts val="600"/>
              </a:spcBef>
              <a:spcAft>
                <a:spcPts val="0"/>
              </a:spcAft>
              <a:buNone/>
            </a:pPr>
            <a:r>
              <a:rPr b="0" i="0" lang="en-US" sz="1050" u="none" strike="noStrike">
                <a:solidFill>
                  <a:srgbClr val="4B6375"/>
                </a:solidFill>
                <a:latin typeface="Helvetica Neue"/>
                <a:ea typeface="Helvetica Neue"/>
                <a:cs typeface="Helvetica Neue"/>
                <a:sym typeface="Helvetica Neue"/>
              </a:rPr>
              <a:t>15m Plenary walkthrough: Multi-member family travel, passcode protection, and mobile credential presentation.</a:t>
            </a:r>
            <a:endParaRPr b="1" i="0" sz="1000" u="none" strike="noStrike">
              <a:solidFill>
                <a:srgbClr val="1E3A8A"/>
              </a:solidFill>
              <a:latin typeface="Helvetica Neue"/>
              <a:ea typeface="Helvetica Neue"/>
              <a:cs typeface="Helvetica Neue"/>
              <a:sym typeface="Helvetica Neue"/>
            </a:endParaRPr>
          </a:p>
        </p:txBody>
      </p:sp>
      <p:sp>
        <p:nvSpPr>
          <p:cNvPr id="323" name="Google Shape;323;p11"/>
          <p:cNvSpPr/>
          <p:nvPr/>
        </p:nvSpPr>
        <p:spPr>
          <a:xfrm>
            <a:off x="5067300" y="3257550"/>
            <a:ext cx="3181200" cy="1219200"/>
          </a:xfrm>
          <a:prstGeom prst="roundRect">
            <a:avLst>
              <a:gd fmla="val 0" name="adj"/>
            </a:avLst>
          </a:prstGeom>
          <a:solidFill>
            <a:srgbClr val="F0FDFA"/>
          </a:solidFill>
          <a:ln cap="flat" cmpd="sng" w="9525">
            <a:solidFill>
              <a:srgbClr val="99F6E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4" name="Google Shape;324;p11"/>
          <p:cNvSpPr txBox="1"/>
          <p:nvPr/>
        </p:nvSpPr>
        <p:spPr>
          <a:xfrm>
            <a:off x="5162550" y="3333750"/>
            <a:ext cx="29910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00" u="none" strike="noStrike">
                <a:solidFill>
                  <a:srgbClr val="0F766E"/>
                </a:solidFill>
                <a:latin typeface="Helvetica Neue"/>
                <a:ea typeface="Helvetica Neue"/>
                <a:cs typeface="Helvetica Neue"/>
                <a:sym typeface="Helvetica Neue"/>
              </a:rPr>
              <a:t>[Tech Track] </a:t>
            </a:r>
            <a:r>
              <a:rPr b="1" i="0" lang="en-US" sz="1200" u="none" strike="noStrike">
                <a:solidFill>
                  <a:srgbClr val="12314B"/>
                </a:solidFill>
                <a:latin typeface="Helvetica Neue"/>
                <a:ea typeface="Helvetica Neue"/>
                <a:cs typeface="Helvetica Neue"/>
                <a:sym typeface="Helvetica Neue"/>
              </a:rPr>
              <a:t>Multi-Profile OHS &amp; Mock VHL Issuer</a:t>
            </a:r>
            <a:endParaRPr b="1" i="0" sz="1000" u="none" strike="noStrike">
              <a:solidFill>
                <a:srgbClr val="0F766E"/>
              </a:solidFill>
              <a:latin typeface="Helvetica Neue"/>
              <a:ea typeface="Helvetica Neue"/>
              <a:cs typeface="Helvetica Neue"/>
              <a:sym typeface="Helvetica Neue"/>
            </a:endParaRPr>
          </a:p>
          <a:p>
            <a:pPr indent="0" lvl="0" marL="0" marR="0" rtl="0" algn="l">
              <a:lnSpc>
                <a:spcPct val="115000"/>
              </a:lnSpc>
              <a:spcBef>
                <a:spcPts val="600"/>
              </a:spcBef>
              <a:spcAft>
                <a:spcPts val="0"/>
              </a:spcAft>
              <a:buNone/>
            </a:pPr>
            <a:r>
              <a:rPr b="0" i="0" lang="en-US" sz="1050" u="none" strike="noStrike">
                <a:solidFill>
                  <a:srgbClr val="4B6375"/>
                </a:solidFill>
                <a:latin typeface="Helvetica Neue"/>
                <a:ea typeface="Helvetica Neue"/>
                <a:cs typeface="Helvetica Neue"/>
                <a:sym typeface="Helvetica Neue"/>
              </a:rPr>
              <a:t>60m Room A: Multi-profile mobile wallet configuration, mock VHL issuer endpoint, and Info Gateway audit logging.</a:t>
            </a:r>
            <a:endParaRPr b="1" i="0" sz="1000" u="none" strike="noStrike">
              <a:solidFill>
                <a:srgbClr val="0F766E"/>
              </a:solidFill>
              <a:latin typeface="Helvetica Neue"/>
              <a:ea typeface="Helvetica Neue"/>
              <a:cs typeface="Helvetica Neue"/>
              <a:sym typeface="Helvetica Neue"/>
            </a:endParaRPr>
          </a:p>
        </p:txBody>
      </p:sp>
      <p:sp>
        <p:nvSpPr>
          <p:cNvPr id="325" name="Google Shape;325;p11"/>
          <p:cNvSpPr/>
          <p:nvPr/>
        </p:nvSpPr>
        <p:spPr>
          <a:xfrm>
            <a:off x="8324850" y="3257550"/>
            <a:ext cx="3162300" cy="1219200"/>
          </a:xfrm>
          <a:prstGeom prst="roundRect">
            <a:avLst>
              <a:gd fmla="val 0" name="adj"/>
            </a:avLst>
          </a:prstGeom>
          <a:solidFill>
            <a:srgbClr val="FFFBEB"/>
          </a:solidFill>
          <a:ln cap="flat" cmpd="sng" w="9525">
            <a:solidFill>
              <a:srgbClr val="FDE68A"/>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6" name="Google Shape;326;p11"/>
          <p:cNvSpPr txBox="1"/>
          <p:nvPr/>
        </p:nvSpPr>
        <p:spPr>
          <a:xfrm>
            <a:off x="8420100" y="3333750"/>
            <a:ext cx="29718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00" u="none" strike="noStrike">
                <a:solidFill>
                  <a:srgbClr val="B45309"/>
                </a:solidFill>
                <a:latin typeface="Helvetica Neue"/>
                <a:ea typeface="Helvetica Neue"/>
                <a:cs typeface="Helvetica Neue"/>
                <a:sym typeface="Helvetica Neue"/>
              </a:rPr>
              <a:t>[Policy Track] </a:t>
            </a:r>
            <a:r>
              <a:rPr b="1" i="0" lang="en-US" sz="1200" u="none" strike="noStrike">
                <a:solidFill>
                  <a:srgbClr val="12314B"/>
                </a:solidFill>
                <a:latin typeface="Helvetica Neue"/>
                <a:ea typeface="Helvetica Neue"/>
                <a:cs typeface="Helvetica Neue"/>
                <a:sym typeface="Helvetica Neue"/>
              </a:rPr>
              <a:t>Minor Consent, Retention &amp; Expiration</a:t>
            </a:r>
            <a:endParaRPr b="1" i="0" sz="1000" u="none" strike="noStrike">
              <a:solidFill>
                <a:srgbClr val="B45309"/>
              </a:solidFill>
              <a:latin typeface="Helvetica Neue"/>
              <a:ea typeface="Helvetica Neue"/>
              <a:cs typeface="Helvetica Neue"/>
              <a:sym typeface="Helvetica Neue"/>
            </a:endParaRPr>
          </a:p>
          <a:p>
            <a:pPr indent="0" lvl="0" marL="0" marR="0" rtl="0" algn="l">
              <a:lnSpc>
                <a:spcPct val="115000"/>
              </a:lnSpc>
              <a:spcBef>
                <a:spcPts val="600"/>
              </a:spcBef>
              <a:spcAft>
                <a:spcPts val="0"/>
              </a:spcAft>
              <a:buNone/>
            </a:pPr>
            <a:r>
              <a:rPr b="0" i="0" lang="en-US" sz="1050" u="none" strike="noStrike">
                <a:solidFill>
                  <a:srgbClr val="4B6375"/>
                </a:solidFill>
                <a:latin typeface="Helvetica Neue"/>
                <a:ea typeface="Helvetica Neue"/>
                <a:cs typeface="Helvetica Neue"/>
                <a:sym typeface="Helvetica Neue"/>
              </a:rPr>
              <a:t>60m Room B: Minor/dependent consent directives, link lifetime limits, data retention, and cross-border audit rules.</a:t>
            </a:r>
            <a:endParaRPr b="1" i="0" sz="1000" u="none" strike="noStrike">
              <a:solidFill>
                <a:srgbClr val="B45309"/>
              </a:solidFill>
              <a:latin typeface="Helvetica Neue"/>
              <a:ea typeface="Helvetica Neue"/>
              <a:cs typeface="Helvetica Neue"/>
              <a:sym typeface="Helvetica Neue"/>
            </a:endParaRPr>
          </a:p>
        </p:txBody>
      </p:sp>
      <p:cxnSp>
        <p:nvCxnSpPr>
          <p:cNvPr id="327" name="Google Shape;327;p11"/>
          <p:cNvCxnSpPr/>
          <p:nvPr/>
        </p:nvCxnSpPr>
        <p:spPr>
          <a:xfrm>
            <a:off x="723900" y="4552950"/>
            <a:ext cx="10763400" cy="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328" name="Google Shape;328;p11"/>
          <p:cNvSpPr txBox="1"/>
          <p:nvPr/>
        </p:nvSpPr>
        <p:spPr>
          <a:xfrm>
            <a:off x="723900" y="4667250"/>
            <a:ext cx="1333500" cy="1219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300" u="none" strike="noStrike">
                <a:solidFill>
                  <a:srgbClr val="008F99"/>
                </a:solidFill>
                <a:latin typeface="Helvetica Neue"/>
                <a:ea typeface="Helvetica Neue"/>
                <a:cs typeface="Helvetica Neue"/>
                <a:sym typeface="Helvetica Neue"/>
              </a:rPr>
              <a:t>11:00–12:30</a:t>
            </a:r>
            <a:endParaRPr b="1" i="0" sz="1300" u="none" strike="noStrike">
              <a:solidFill>
                <a:srgbClr val="008F99"/>
              </a:solidFill>
              <a:latin typeface="Helvetica Neue"/>
              <a:ea typeface="Helvetica Neue"/>
              <a:cs typeface="Helvetica Neue"/>
              <a:sym typeface="Helvetica Neue"/>
            </a:endParaRPr>
          </a:p>
          <a:p>
            <a:pPr indent="0" lvl="0" marL="0" marR="0" rtl="0" algn="l">
              <a:lnSpc>
                <a:spcPct val="100000"/>
              </a:lnSpc>
              <a:spcBef>
                <a:spcPts val="400"/>
              </a:spcBef>
              <a:spcAft>
                <a:spcPts val="0"/>
              </a:spcAft>
              <a:buNone/>
            </a:pPr>
            <a:r>
              <a:rPr b="0" i="0" lang="en-US" sz="1150" u="none" strike="noStrike">
                <a:solidFill>
                  <a:srgbClr val="12314B"/>
                </a:solidFill>
                <a:latin typeface="Helvetica Neue"/>
                <a:ea typeface="Helvetica Neue"/>
                <a:cs typeface="Helvetica Neue"/>
                <a:sym typeface="Helvetica Neue"/>
              </a:rPr>
              <a:t>Projectathon</a:t>
            </a:r>
            <a:endParaRPr b="1" i="0" sz="1300" u="none" strike="noStrike">
              <a:solidFill>
                <a:srgbClr val="008F99"/>
              </a:solidFill>
              <a:latin typeface="Helvetica Neue"/>
              <a:ea typeface="Helvetica Neue"/>
              <a:cs typeface="Helvetica Neue"/>
              <a:sym typeface="Helvetica Neue"/>
            </a:endParaRPr>
          </a:p>
        </p:txBody>
      </p:sp>
      <p:sp>
        <p:nvSpPr>
          <p:cNvPr id="329" name="Google Shape;329;p11"/>
          <p:cNvSpPr/>
          <p:nvPr/>
        </p:nvSpPr>
        <p:spPr>
          <a:xfrm>
            <a:off x="2133600" y="4667250"/>
            <a:ext cx="2857500" cy="1219200"/>
          </a:xfrm>
          <a:prstGeom prst="roundRect">
            <a:avLst>
              <a:gd fmla="val 0" name="adj"/>
            </a:avLst>
          </a:prstGeom>
          <a:solidFill>
            <a:srgbClr val="F8FAFC"/>
          </a:solidFill>
          <a:ln cap="flat" cmpd="sng" w="9525">
            <a:solidFill>
              <a:srgbClr val="CBD7D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30" name="Google Shape;330;p11"/>
          <p:cNvSpPr txBox="1"/>
          <p:nvPr/>
        </p:nvSpPr>
        <p:spPr>
          <a:xfrm>
            <a:off x="2228850" y="4743450"/>
            <a:ext cx="26670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00" u="none" strike="noStrike">
                <a:solidFill>
                  <a:srgbClr val="1E3A8A"/>
                </a:solidFill>
                <a:latin typeface="Helvetica Neue"/>
                <a:ea typeface="Helvetica Neue"/>
                <a:cs typeface="Helvetica Neue"/>
                <a:sym typeface="Helvetica Neue"/>
              </a:rPr>
              <a:t>[Testing &amp; Policy] </a:t>
            </a:r>
            <a:r>
              <a:rPr b="1" i="0" lang="en-US" sz="1200" u="none" strike="noStrike">
                <a:solidFill>
                  <a:srgbClr val="12314B"/>
                </a:solidFill>
                <a:latin typeface="Helvetica Neue"/>
                <a:ea typeface="Helvetica Neue"/>
                <a:cs typeface="Helvetica Neue"/>
                <a:sym typeface="Helvetica Neue"/>
              </a:rPr>
              <a:t>J5: Projectathon Practicum (Part 1)</a:t>
            </a:r>
            <a:endParaRPr b="1" i="0" sz="1000" u="none" strike="noStrike">
              <a:solidFill>
                <a:srgbClr val="1E3A8A"/>
              </a:solidFill>
              <a:latin typeface="Helvetica Neue"/>
              <a:ea typeface="Helvetica Neue"/>
              <a:cs typeface="Helvetica Neue"/>
              <a:sym typeface="Helvetica Neue"/>
            </a:endParaRPr>
          </a:p>
          <a:p>
            <a:pPr indent="0" lvl="0" marL="0" marR="0" rtl="0" algn="l">
              <a:lnSpc>
                <a:spcPct val="115000"/>
              </a:lnSpc>
              <a:spcBef>
                <a:spcPts val="600"/>
              </a:spcBef>
              <a:spcAft>
                <a:spcPts val="0"/>
              </a:spcAft>
              <a:buNone/>
            </a:pPr>
            <a:r>
              <a:rPr b="0" i="0" lang="en-US" sz="1050" u="none" strike="noStrike">
                <a:solidFill>
                  <a:srgbClr val="4B6375"/>
                </a:solidFill>
                <a:latin typeface="Helvetica Neue"/>
                <a:ea typeface="Helvetica Neue"/>
                <a:cs typeface="Helvetica Neue"/>
                <a:sym typeface="Helvetica Neue"/>
              </a:rPr>
              <a:t>Hands-on exchange testing across sandbox stations and national implementation readiness assessments.</a:t>
            </a:r>
            <a:endParaRPr b="1" i="0" sz="1000" u="none" strike="noStrike">
              <a:solidFill>
                <a:srgbClr val="1E3A8A"/>
              </a:solidFill>
              <a:latin typeface="Helvetica Neue"/>
              <a:ea typeface="Helvetica Neue"/>
              <a:cs typeface="Helvetica Neue"/>
              <a:sym typeface="Helvetica Neue"/>
            </a:endParaRPr>
          </a:p>
        </p:txBody>
      </p:sp>
      <p:sp>
        <p:nvSpPr>
          <p:cNvPr id="331" name="Google Shape;331;p11"/>
          <p:cNvSpPr/>
          <p:nvPr/>
        </p:nvSpPr>
        <p:spPr>
          <a:xfrm>
            <a:off x="5067300" y="4667250"/>
            <a:ext cx="3181200" cy="1219200"/>
          </a:xfrm>
          <a:prstGeom prst="roundRect">
            <a:avLst>
              <a:gd fmla="val 0" name="adj"/>
            </a:avLst>
          </a:prstGeom>
          <a:solidFill>
            <a:srgbClr val="F0FDFA"/>
          </a:solidFill>
          <a:ln cap="flat" cmpd="sng" w="9525">
            <a:solidFill>
              <a:srgbClr val="99F6E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32" name="Google Shape;332;p11"/>
          <p:cNvSpPr txBox="1"/>
          <p:nvPr/>
        </p:nvSpPr>
        <p:spPr>
          <a:xfrm>
            <a:off x="5162550" y="4743450"/>
            <a:ext cx="29910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000" u="none" strike="noStrike">
                <a:solidFill>
                  <a:srgbClr val="0F766E"/>
                </a:solidFill>
                <a:latin typeface="Helvetica Neue"/>
                <a:ea typeface="Helvetica Neue"/>
                <a:cs typeface="Helvetica Neue"/>
                <a:sym typeface="Helvetica Neue"/>
              </a:rPr>
              <a:t>[Tech Track] </a:t>
            </a:r>
            <a:r>
              <a:rPr b="1" i="0" lang="en-US" sz="1200" u="none" strike="noStrike">
                <a:solidFill>
                  <a:srgbClr val="12314B"/>
                </a:solidFill>
                <a:latin typeface="Helvetica Neue"/>
                <a:ea typeface="Helvetica Neue"/>
                <a:cs typeface="Helvetica Neue"/>
                <a:sym typeface="Helvetica Neue"/>
              </a:rPr>
              <a:t>Stations 1 &amp; 2: FHIR Ingestion, APIs &amp; Triage</a:t>
            </a:r>
            <a:endParaRPr b="1" i="0" sz="1200" u="none" strike="noStrike">
              <a:solidFill>
                <a:srgbClr val="12314B"/>
              </a:solidFill>
              <a:latin typeface="Helvetica Neue"/>
              <a:ea typeface="Helvetica Neue"/>
              <a:cs typeface="Helvetica Neue"/>
              <a:sym typeface="Helvetica Neue"/>
            </a:endParaRPr>
          </a:p>
          <a:p>
            <a:pPr indent="0" lvl="0" marL="0" marR="0" rtl="0" algn="l">
              <a:lnSpc>
                <a:spcPct val="115000"/>
              </a:lnSpc>
              <a:spcBef>
                <a:spcPts val="600"/>
              </a:spcBef>
              <a:spcAft>
                <a:spcPts val="0"/>
              </a:spcAft>
              <a:buNone/>
            </a:pPr>
            <a:r>
              <a:rPr b="0" i="0" lang="en-US" sz="1050" u="none" strike="noStrike">
                <a:solidFill>
                  <a:srgbClr val="4B6375"/>
                </a:solidFill>
                <a:latin typeface="Helvetica Neue"/>
                <a:ea typeface="Helvetica Neue"/>
                <a:cs typeface="Helvetica Neue"/>
                <a:sym typeface="Helvetica Neue"/>
              </a:rPr>
              <a:t>90m Sandbox: Station 1 source-to-FHIR submit &amp; profile validation; Station 2 read/update REST APIs &amp; clinic issue triage.</a:t>
            </a:r>
            <a:endParaRPr b="0" i="0" sz="1000" u="none" strike="noStrike">
              <a:solidFill>
                <a:srgbClr val="0F766E"/>
              </a:solidFill>
              <a:latin typeface="Helvetica Neue"/>
              <a:ea typeface="Helvetica Neue"/>
              <a:cs typeface="Helvetica Neue"/>
              <a:sym typeface="Helvetica Neue"/>
            </a:endParaRPr>
          </a:p>
        </p:txBody>
      </p:sp>
      <p:sp>
        <p:nvSpPr>
          <p:cNvPr id="333" name="Google Shape;333;p11"/>
          <p:cNvSpPr/>
          <p:nvPr/>
        </p:nvSpPr>
        <p:spPr>
          <a:xfrm>
            <a:off x="8324850" y="4667250"/>
            <a:ext cx="3162300" cy="1219200"/>
          </a:xfrm>
          <a:prstGeom prst="roundRect">
            <a:avLst>
              <a:gd fmla="val 0" name="adj"/>
            </a:avLst>
          </a:prstGeom>
          <a:solidFill>
            <a:srgbClr val="FFFBEB"/>
          </a:solidFill>
          <a:ln cap="flat" cmpd="sng" w="9525">
            <a:solidFill>
              <a:srgbClr val="FDE68A"/>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34" name="Google Shape;334;p11"/>
          <p:cNvSpPr txBox="1"/>
          <p:nvPr/>
        </p:nvSpPr>
        <p:spPr>
          <a:xfrm>
            <a:off x="8420100" y="4743450"/>
            <a:ext cx="29718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00" u="none" strike="noStrike">
                <a:solidFill>
                  <a:srgbClr val="B45309"/>
                </a:solidFill>
                <a:latin typeface="Helvetica Neue"/>
                <a:ea typeface="Helvetica Neue"/>
                <a:cs typeface="Helvetica Neue"/>
                <a:sym typeface="Helvetica Neue"/>
              </a:rPr>
              <a:t>[Policy Track] </a:t>
            </a:r>
            <a:r>
              <a:rPr b="1" i="0" lang="en-US" sz="1200" u="none" strike="noStrike">
                <a:solidFill>
                  <a:srgbClr val="12314B"/>
                </a:solidFill>
                <a:latin typeface="Helvetica Neue"/>
                <a:ea typeface="Helvetica Neue"/>
                <a:cs typeface="Helvetica Neue"/>
                <a:sym typeface="Helvetica Neue"/>
              </a:rPr>
              <a:t>Readiness Assessment &amp; Governance Check</a:t>
            </a:r>
            <a:endParaRPr b="1" i="0" sz="1000" u="none" strike="noStrike">
              <a:solidFill>
                <a:srgbClr val="B45309"/>
              </a:solidFill>
              <a:latin typeface="Helvetica Neue"/>
              <a:ea typeface="Helvetica Neue"/>
              <a:cs typeface="Helvetica Neue"/>
              <a:sym typeface="Helvetica Neue"/>
            </a:endParaRPr>
          </a:p>
          <a:p>
            <a:pPr indent="0" lvl="0" marL="0" marR="0" rtl="0" algn="l">
              <a:lnSpc>
                <a:spcPct val="115000"/>
              </a:lnSpc>
              <a:spcBef>
                <a:spcPts val="600"/>
              </a:spcBef>
              <a:spcAft>
                <a:spcPts val="0"/>
              </a:spcAft>
              <a:buNone/>
            </a:pPr>
            <a:r>
              <a:rPr b="0" i="0" lang="en-US" sz="1050" u="none" strike="noStrike">
                <a:solidFill>
                  <a:srgbClr val="4B6375"/>
                </a:solidFill>
                <a:latin typeface="Helvetica Neue"/>
                <a:ea typeface="Helvetica Neue"/>
                <a:cs typeface="Helvetica Neue"/>
                <a:sym typeface="Helvetica Neue"/>
              </a:rPr>
              <a:t>90m Room B: National readiness scorecards, institutional governance checklists, and legal interoperability mandates.</a:t>
            </a:r>
            <a:endParaRPr b="1" i="0" sz="1000" u="none" strike="noStrike">
              <a:solidFill>
                <a:srgbClr val="B45309"/>
              </a:solidFill>
              <a:latin typeface="Helvetica Neue"/>
              <a:ea typeface="Helvetica Neue"/>
              <a:cs typeface="Helvetica Neue"/>
              <a:sym typeface="Helvetica Neue"/>
            </a:endParaRPr>
          </a:p>
        </p:txBody>
      </p:sp>
      <p:sp>
        <p:nvSpPr>
          <p:cNvPr id="335" name="Google Shape;335;p11"/>
          <p:cNvSpPr txBox="1"/>
          <p:nvPr/>
        </p:nvSpPr>
        <p:spPr>
          <a:xfrm>
            <a:off x="742950" y="6019800"/>
            <a:ext cx="10572900" cy="2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150">
                <a:solidFill>
                  <a:srgbClr val="607383"/>
                </a:solidFill>
                <a:latin typeface="Helvetica Neue"/>
                <a:ea typeface="Helvetica Neue"/>
                <a:cs typeface="Helvetica Neue"/>
                <a:sym typeface="Helvetica Neue"/>
              </a:rPr>
              <a:t>Morning Break 10:45–11:00     Lunch 12:30–13:30</a:t>
            </a:r>
            <a:endParaRPr sz="1150">
              <a:solidFill>
                <a:srgbClr val="607383"/>
              </a:solidFill>
              <a:latin typeface="Helvetica Neue"/>
              <a:ea typeface="Helvetica Neue"/>
              <a:cs typeface="Helvetica Neue"/>
              <a:sym typeface="Helvetica Neue"/>
            </a:endParaRPr>
          </a:p>
        </p:txBody>
      </p:sp>
      <p:cxnSp>
        <p:nvCxnSpPr>
          <p:cNvPr id="336" name="Google Shape;336;p11"/>
          <p:cNvCxnSpPr/>
          <p:nvPr/>
        </p:nvCxnSpPr>
        <p:spPr>
          <a:xfrm>
            <a:off x="609600" y="6429375"/>
            <a:ext cx="10953900" cy="0"/>
          </a:xfrm>
          <a:prstGeom prst="straightConnector1">
            <a:avLst/>
          </a:prstGeom>
          <a:solidFill>
            <a:srgbClr val="FFFFFF"/>
          </a:solidFill>
          <a:ln cap="flat" cmpd="sng" w="9525">
            <a:solidFill>
              <a:srgbClr val="CBD7DC"/>
            </a:solidFill>
            <a:prstDash val="solid"/>
            <a:round/>
            <a:headEnd len="sm" w="sm" type="none"/>
            <a:tailEnd len="sm" w="sm" type="none"/>
          </a:ln>
        </p:spPr>
      </p:cxnSp>
      <p:sp>
        <p:nvSpPr>
          <p:cNvPr id="337" name="Google Shape;337;p11"/>
          <p:cNvSpPr txBox="1"/>
          <p:nvPr/>
        </p:nvSpPr>
        <p:spPr>
          <a:xfrm>
            <a:off x="704850" y="6572250"/>
            <a:ext cx="66675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90">
                <a:solidFill>
                  <a:srgbClr val="607383"/>
                </a:solidFill>
                <a:latin typeface="Helvetica Neue"/>
                <a:ea typeface="Helvetica Neue"/>
                <a:cs typeface="Helvetica Neue"/>
                <a:sym typeface="Helvetica Neue"/>
              </a:rPr>
              <a:t>Thailand technologist workstream, partner preparation • Integrated E2E Journeys</a:t>
            </a:r>
            <a:endParaRPr sz="1090">
              <a:solidFill>
                <a:srgbClr val="607383"/>
              </a:solidFill>
              <a:latin typeface="Helvetica Neue"/>
              <a:ea typeface="Helvetica Neue"/>
              <a:cs typeface="Helvetica Neue"/>
              <a:sym typeface="Helvetica Neue"/>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12"/>
          <p:cNvSpPr txBox="1"/>
          <p:nvPr/>
        </p:nvSpPr>
        <p:spPr>
          <a:xfrm>
            <a:off x="704850" y="428625"/>
            <a:ext cx="99060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600">
                <a:solidFill>
                  <a:srgbClr val="12314B"/>
                </a:solidFill>
                <a:latin typeface="Helvetica Neue"/>
                <a:ea typeface="Helvetica Neue"/>
                <a:cs typeface="Helvetica Neue"/>
                <a:sym typeface="Helvetica Neue"/>
              </a:rPr>
              <a:t>Day 2 agenda, afternoon (integrated tracks)</a:t>
            </a:r>
            <a:endParaRPr b="1" sz="2600">
              <a:solidFill>
                <a:srgbClr val="12314B"/>
              </a:solidFill>
              <a:latin typeface="Helvetica Neue"/>
              <a:ea typeface="Helvetica Neue"/>
              <a:cs typeface="Helvetica Neue"/>
              <a:sym typeface="Helvetica Neue"/>
            </a:endParaRPr>
          </a:p>
        </p:txBody>
      </p:sp>
      <p:sp>
        <p:nvSpPr>
          <p:cNvPr id="347" name="Google Shape;347;p12"/>
          <p:cNvSpPr txBox="1"/>
          <p:nvPr/>
        </p:nvSpPr>
        <p:spPr>
          <a:xfrm>
            <a:off x="10763250" y="485775"/>
            <a:ext cx="762000" cy="285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1" lang="en-US" sz="1250">
                <a:solidFill>
                  <a:srgbClr val="008F99"/>
                </a:solidFill>
                <a:latin typeface="Helvetica Neue"/>
                <a:ea typeface="Helvetica Neue"/>
                <a:cs typeface="Helvetica Neue"/>
                <a:sym typeface="Helvetica Neue"/>
              </a:rPr>
              <a:t>10-ALT</a:t>
            </a:r>
            <a:endParaRPr b="1" sz="1250">
              <a:solidFill>
                <a:srgbClr val="008F99"/>
              </a:solidFill>
              <a:latin typeface="Helvetica Neue"/>
              <a:ea typeface="Helvetica Neue"/>
              <a:cs typeface="Helvetica Neue"/>
              <a:sym typeface="Helvetica Neue"/>
            </a:endParaRPr>
          </a:p>
        </p:txBody>
      </p:sp>
      <p:sp>
        <p:nvSpPr>
          <p:cNvPr id="348" name="Google Shape;348;p12"/>
          <p:cNvSpPr txBox="1"/>
          <p:nvPr/>
        </p:nvSpPr>
        <p:spPr>
          <a:xfrm>
            <a:off x="723900" y="971550"/>
            <a:ext cx="104775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400" u="none" strike="noStrike">
                <a:solidFill>
                  <a:srgbClr val="607383"/>
                </a:solidFill>
                <a:latin typeface="Helvetica Neue"/>
                <a:ea typeface="Helvetica Neue"/>
                <a:cs typeface="Helvetica Neue"/>
                <a:sym typeface="Helvetica Neue"/>
              </a:rPr>
              <a:t>WHO-ITB testing (Station 3), ICVP certificate extension, assembly &amp; shared demonstration</a:t>
            </a:r>
            <a:endParaRPr b="0" i="0" sz="1400" u="none" strike="noStrike">
              <a:solidFill>
                <a:srgbClr val="607383"/>
              </a:solidFill>
              <a:latin typeface="Helvetica Neue"/>
              <a:ea typeface="Helvetica Neue"/>
              <a:cs typeface="Helvetica Neue"/>
              <a:sym typeface="Helvetica Neue"/>
            </a:endParaRPr>
          </a:p>
        </p:txBody>
      </p:sp>
      <p:cxnSp>
        <p:nvCxnSpPr>
          <p:cNvPr id="349" name="Google Shape;349;p12"/>
          <p:cNvCxnSpPr/>
          <p:nvPr/>
        </p:nvCxnSpPr>
        <p:spPr>
          <a:xfrm>
            <a:off x="609600" y="1276350"/>
            <a:ext cx="876300" cy="0"/>
          </a:xfrm>
          <a:prstGeom prst="straightConnector1">
            <a:avLst/>
          </a:prstGeom>
          <a:solidFill>
            <a:srgbClr val="FFFFFF"/>
          </a:solidFill>
          <a:ln cap="flat" cmpd="sng" w="38100">
            <a:solidFill>
              <a:srgbClr val="008F99"/>
            </a:solidFill>
            <a:prstDash val="solid"/>
            <a:round/>
            <a:headEnd len="sm" w="sm" type="none"/>
            <a:tailEnd len="sm" w="sm" type="none"/>
          </a:ln>
        </p:spPr>
      </p:cxnSp>
      <p:sp>
        <p:nvSpPr>
          <p:cNvPr id="350" name="Google Shape;350;p12"/>
          <p:cNvSpPr txBox="1"/>
          <p:nvPr/>
        </p:nvSpPr>
        <p:spPr>
          <a:xfrm>
            <a:off x="723900" y="1485900"/>
            <a:ext cx="1333500" cy="2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008F99"/>
                </a:solidFill>
                <a:latin typeface="Helvetica Neue"/>
                <a:ea typeface="Helvetica Neue"/>
                <a:cs typeface="Helvetica Neue"/>
                <a:sym typeface="Helvetica Neue"/>
              </a:rPr>
              <a:t>TIME &amp; JOURNEY</a:t>
            </a:r>
            <a:endParaRPr b="1" sz="1100">
              <a:solidFill>
                <a:srgbClr val="008F99"/>
              </a:solidFill>
              <a:latin typeface="Helvetica Neue"/>
              <a:ea typeface="Helvetica Neue"/>
              <a:cs typeface="Helvetica Neue"/>
              <a:sym typeface="Helvetica Neue"/>
            </a:endParaRPr>
          </a:p>
        </p:txBody>
      </p:sp>
      <p:sp>
        <p:nvSpPr>
          <p:cNvPr id="351" name="Google Shape;351;p12"/>
          <p:cNvSpPr txBox="1"/>
          <p:nvPr/>
        </p:nvSpPr>
        <p:spPr>
          <a:xfrm>
            <a:off x="2133600" y="1485900"/>
            <a:ext cx="2857500" cy="2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008F99"/>
                </a:solidFill>
                <a:latin typeface="Helvetica Neue"/>
                <a:ea typeface="Helvetica Neue"/>
                <a:cs typeface="Helvetica Neue"/>
                <a:sym typeface="Helvetica Neue"/>
              </a:rPr>
              <a:t>PLENARY ANCHOR &amp; SCOPE</a:t>
            </a:r>
            <a:endParaRPr b="1" sz="1100">
              <a:solidFill>
                <a:srgbClr val="008F99"/>
              </a:solidFill>
              <a:latin typeface="Helvetica Neue"/>
              <a:ea typeface="Helvetica Neue"/>
              <a:cs typeface="Helvetica Neue"/>
              <a:sym typeface="Helvetica Neue"/>
            </a:endParaRPr>
          </a:p>
        </p:txBody>
      </p:sp>
      <p:sp>
        <p:nvSpPr>
          <p:cNvPr id="352" name="Google Shape;352;p12"/>
          <p:cNvSpPr txBox="1"/>
          <p:nvPr/>
        </p:nvSpPr>
        <p:spPr>
          <a:xfrm>
            <a:off x="5067300" y="1485900"/>
            <a:ext cx="3181200" cy="2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008F99"/>
                </a:solidFill>
                <a:latin typeface="Helvetica Neue"/>
                <a:ea typeface="Helvetica Neue"/>
                <a:cs typeface="Helvetica Neue"/>
                <a:sym typeface="Helvetica Neue"/>
              </a:rPr>
              <a:t>TECHNICAL TRACK (ROOM A)</a:t>
            </a:r>
            <a:endParaRPr b="1" sz="1100">
              <a:solidFill>
                <a:srgbClr val="008F99"/>
              </a:solidFill>
              <a:latin typeface="Helvetica Neue"/>
              <a:ea typeface="Helvetica Neue"/>
              <a:cs typeface="Helvetica Neue"/>
              <a:sym typeface="Helvetica Neue"/>
            </a:endParaRPr>
          </a:p>
        </p:txBody>
      </p:sp>
      <p:sp>
        <p:nvSpPr>
          <p:cNvPr id="353" name="Google Shape;353;p12"/>
          <p:cNvSpPr txBox="1"/>
          <p:nvPr/>
        </p:nvSpPr>
        <p:spPr>
          <a:xfrm>
            <a:off x="8324850" y="1485900"/>
            <a:ext cx="3162300" cy="2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008F99"/>
                </a:solidFill>
                <a:latin typeface="Helvetica Neue"/>
                <a:ea typeface="Helvetica Neue"/>
                <a:cs typeface="Helvetica Neue"/>
                <a:sym typeface="Helvetica Neue"/>
              </a:rPr>
              <a:t>POLICY &amp; GOVERNANCE TRACK (ROOM B)</a:t>
            </a:r>
            <a:endParaRPr b="1" sz="1100">
              <a:solidFill>
                <a:srgbClr val="008F99"/>
              </a:solidFill>
              <a:latin typeface="Helvetica Neue"/>
              <a:ea typeface="Helvetica Neue"/>
              <a:cs typeface="Helvetica Neue"/>
              <a:sym typeface="Helvetica Neue"/>
            </a:endParaRPr>
          </a:p>
        </p:txBody>
      </p:sp>
      <p:cxnSp>
        <p:nvCxnSpPr>
          <p:cNvPr id="354" name="Google Shape;354;p12"/>
          <p:cNvCxnSpPr/>
          <p:nvPr/>
        </p:nvCxnSpPr>
        <p:spPr>
          <a:xfrm>
            <a:off x="723900" y="1733550"/>
            <a:ext cx="10763400" cy="0"/>
          </a:xfrm>
          <a:prstGeom prst="straightConnector1">
            <a:avLst/>
          </a:prstGeom>
          <a:solidFill>
            <a:srgbClr val="FFFFFF"/>
          </a:solidFill>
          <a:ln cap="flat" cmpd="sng" w="9525">
            <a:solidFill>
              <a:srgbClr val="CBD7DC"/>
            </a:solidFill>
            <a:prstDash val="solid"/>
            <a:round/>
            <a:headEnd len="sm" w="sm" type="none"/>
            <a:tailEnd len="sm" w="sm" type="none"/>
          </a:ln>
        </p:spPr>
      </p:cxnSp>
      <p:sp>
        <p:nvSpPr>
          <p:cNvPr id="355" name="Google Shape;355;p12"/>
          <p:cNvSpPr txBox="1"/>
          <p:nvPr/>
        </p:nvSpPr>
        <p:spPr>
          <a:xfrm>
            <a:off x="723900" y="1847850"/>
            <a:ext cx="1333500" cy="1219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300" u="none" strike="noStrike">
                <a:solidFill>
                  <a:srgbClr val="008F99"/>
                </a:solidFill>
                <a:latin typeface="Helvetica Neue"/>
                <a:ea typeface="Helvetica Neue"/>
                <a:cs typeface="Helvetica Neue"/>
                <a:sym typeface="Helvetica Neue"/>
              </a:rPr>
              <a:t>13:30–15:00</a:t>
            </a:r>
            <a:endParaRPr b="1" i="0" sz="1300" u="none" strike="noStrike">
              <a:solidFill>
                <a:srgbClr val="008F99"/>
              </a:solidFill>
              <a:latin typeface="Helvetica Neue"/>
              <a:ea typeface="Helvetica Neue"/>
              <a:cs typeface="Helvetica Neue"/>
              <a:sym typeface="Helvetica Neue"/>
            </a:endParaRPr>
          </a:p>
          <a:p>
            <a:pPr indent="0" lvl="0" marL="0" marR="0" rtl="0" algn="l">
              <a:lnSpc>
                <a:spcPct val="100000"/>
              </a:lnSpc>
              <a:spcBef>
                <a:spcPts val="400"/>
              </a:spcBef>
              <a:spcAft>
                <a:spcPts val="0"/>
              </a:spcAft>
              <a:buNone/>
            </a:pPr>
            <a:r>
              <a:rPr b="0" i="0" lang="en-US" sz="1150" u="none" strike="noStrike">
                <a:solidFill>
                  <a:srgbClr val="12314B"/>
                </a:solidFill>
                <a:latin typeface="Helvetica Neue"/>
                <a:ea typeface="Helvetica Neue"/>
                <a:cs typeface="Helvetica Neue"/>
                <a:sym typeface="Helvetica Neue"/>
              </a:rPr>
              <a:t>Projectathon</a:t>
            </a:r>
            <a:endParaRPr b="1" i="0" sz="1300" u="none" strike="noStrike">
              <a:solidFill>
                <a:srgbClr val="008F99"/>
              </a:solidFill>
              <a:latin typeface="Helvetica Neue"/>
              <a:ea typeface="Helvetica Neue"/>
              <a:cs typeface="Helvetica Neue"/>
              <a:sym typeface="Helvetica Neue"/>
            </a:endParaRPr>
          </a:p>
        </p:txBody>
      </p:sp>
      <p:sp>
        <p:nvSpPr>
          <p:cNvPr id="356" name="Google Shape;356;p12"/>
          <p:cNvSpPr/>
          <p:nvPr/>
        </p:nvSpPr>
        <p:spPr>
          <a:xfrm>
            <a:off x="2133600" y="1847850"/>
            <a:ext cx="2857500" cy="1219200"/>
          </a:xfrm>
          <a:prstGeom prst="roundRect">
            <a:avLst>
              <a:gd fmla="val 0" name="adj"/>
            </a:avLst>
          </a:prstGeom>
          <a:solidFill>
            <a:srgbClr val="F8FAFC"/>
          </a:solidFill>
          <a:ln cap="flat" cmpd="sng" w="9525">
            <a:solidFill>
              <a:srgbClr val="CBD7D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7" name="Google Shape;357;p12"/>
          <p:cNvSpPr txBox="1"/>
          <p:nvPr/>
        </p:nvSpPr>
        <p:spPr>
          <a:xfrm>
            <a:off x="2228850" y="1924050"/>
            <a:ext cx="26670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00" u="none" strike="noStrike">
                <a:solidFill>
                  <a:srgbClr val="1E3A8A"/>
                </a:solidFill>
                <a:latin typeface="Helvetica Neue"/>
                <a:ea typeface="Helvetica Neue"/>
                <a:cs typeface="Helvetica Neue"/>
                <a:sym typeface="Helvetica Neue"/>
              </a:rPr>
              <a:t>[Testing &amp; Policy] </a:t>
            </a:r>
            <a:r>
              <a:rPr b="0" i="0" lang="en-US" sz="1200" u="none" strike="noStrike">
                <a:solidFill>
                  <a:srgbClr val="12314B"/>
                </a:solidFill>
                <a:latin typeface="Helvetica Neue"/>
                <a:ea typeface="Helvetica Neue"/>
                <a:cs typeface="Helvetica Neue"/>
                <a:sym typeface="Helvetica Neue"/>
              </a:rPr>
              <a:t>J5: Advanced Interoperability (Station 3)</a:t>
            </a:r>
            <a:endParaRPr b="1" i="0" sz="1000" u="none" strike="noStrike">
              <a:solidFill>
                <a:srgbClr val="1E3A8A"/>
              </a:solidFill>
              <a:latin typeface="Helvetica Neue"/>
              <a:ea typeface="Helvetica Neue"/>
              <a:cs typeface="Helvetica Neue"/>
              <a:sym typeface="Helvetica Neue"/>
            </a:endParaRPr>
          </a:p>
          <a:p>
            <a:pPr indent="0" lvl="0" marL="0" marR="0" rtl="0" algn="l">
              <a:lnSpc>
                <a:spcPct val="115000"/>
              </a:lnSpc>
              <a:spcBef>
                <a:spcPts val="600"/>
              </a:spcBef>
              <a:spcAft>
                <a:spcPts val="0"/>
              </a:spcAft>
              <a:buNone/>
            </a:pPr>
            <a:r>
              <a:rPr b="0" i="0" lang="en-US" sz="1050" u="none" strike="noStrike">
                <a:solidFill>
                  <a:srgbClr val="4B6375"/>
                </a:solidFill>
                <a:latin typeface="Helvetica Neue"/>
                <a:ea typeface="Helvetica Neue"/>
                <a:cs typeface="Helvetica Neue"/>
                <a:sym typeface="Helvetica Neue"/>
              </a:rPr>
              <a:t>Executing global compliance suites and formulating 24-month regional interoperability capacity roadmaps.</a:t>
            </a:r>
            <a:endParaRPr b="1" i="0" sz="1000" u="none" strike="noStrike">
              <a:solidFill>
                <a:srgbClr val="1E3A8A"/>
              </a:solidFill>
              <a:latin typeface="Helvetica Neue"/>
              <a:ea typeface="Helvetica Neue"/>
              <a:cs typeface="Helvetica Neue"/>
              <a:sym typeface="Helvetica Neue"/>
            </a:endParaRPr>
          </a:p>
        </p:txBody>
      </p:sp>
      <p:sp>
        <p:nvSpPr>
          <p:cNvPr id="358" name="Google Shape;358;p12"/>
          <p:cNvSpPr/>
          <p:nvPr/>
        </p:nvSpPr>
        <p:spPr>
          <a:xfrm>
            <a:off x="5067300" y="1847850"/>
            <a:ext cx="3181200" cy="1219200"/>
          </a:xfrm>
          <a:prstGeom prst="roundRect">
            <a:avLst>
              <a:gd fmla="val 0" name="adj"/>
            </a:avLst>
          </a:prstGeom>
          <a:solidFill>
            <a:srgbClr val="F0FDFA"/>
          </a:solidFill>
          <a:ln cap="flat" cmpd="sng" w="9525">
            <a:solidFill>
              <a:srgbClr val="99F6E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9" name="Google Shape;359;p12"/>
          <p:cNvSpPr txBox="1"/>
          <p:nvPr/>
        </p:nvSpPr>
        <p:spPr>
          <a:xfrm>
            <a:off x="5162550" y="1924050"/>
            <a:ext cx="29910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000" u="none" strike="noStrike">
                <a:solidFill>
                  <a:srgbClr val="0F766E"/>
                </a:solidFill>
                <a:latin typeface="Helvetica Neue"/>
                <a:ea typeface="Helvetica Neue"/>
                <a:cs typeface="Helvetica Neue"/>
                <a:sym typeface="Helvetica Neue"/>
              </a:rPr>
              <a:t>[Tech Track] </a:t>
            </a:r>
            <a:r>
              <a:rPr b="1" i="0" lang="en-US" sz="1200" u="none" strike="noStrike">
                <a:solidFill>
                  <a:srgbClr val="12314B"/>
                </a:solidFill>
                <a:latin typeface="Helvetica Neue"/>
                <a:ea typeface="Helvetica Neue"/>
                <a:cs typeface="Helvetica Neue"/>
                <a:sym typeface="Helvetica Neue"/>
              </a:rPr>
              <a:t>Station 3: WHO-ITB &amp; ICVP / IPS Test Suites</a:t>
            </a:r>
            <a:endParaRPr b="1" i="0" sz="1200" u="none" strike="noStrike">
              <a:solidFill>
                <a:srgbClr val="12314B"/>
              </a:solidFill>
              <a:latin typeface="Helvetica Neue"/>
              <a:ea typeface="Helvetica Neue"/>
              <a:cs typeface="Helvetica Neue"/>
              <a:sym typeface="Helvetica Neue"/>
            </a:endParaRPr>
          </a:p>
          <a:p>
            <a:pPr indent="0" lvl="0" marL="0" marR="0" rtl="0" algn="l">
              <a:lnSpc>
                <a:spcPct val="115000"/>
              </a:lnSpc>
              <a:spcBef>
                <a:spcPts val="600"/>
              </a:spcBef>
              <a:spcAft>
                <a:spcPts val="0"/>
              </a:spcAft>
              <a:buNone/>
            </a:pPr>
            <a:r>
              <a:rPr b="0" i="0" lang="en-US" sz="1050" u="none" strike="noStrike">
                <a:solidFill>
                  <a:srgbClr val="4B6375"/>
                </a:solidFill>
                <a:latin typeface="Helvetica Neue"/>
                <a:ea typeface="Helvetica Neue"/>
                <a:cs typeface="Helvetica Neue"/>
                <a:sym typeface="Helvetica Neue"/>
              </a:rPr>
              <a:t>90m Sandbox: Gazelle WHO-ITB test suites, ICVP digital certificate validation, trust vs content checks &amp; test reports.</a:t>
            </a:r>
            <a:endParaRPr b="0" i="0" sz="1000" u="none" strike="noStrike">
              <a:solidFill>
                <a:srgbClr val="0F766E"/>
              </a:solidFill>
              <a:latin typeface="Helvetica Neue"/>
              <a:ea typeface="Helvetica Neue"/>
              <a:cs typeface="Helvetica Neue"/>
              <a:sym typeface="Helvetica Neue"/>
            </a:endParaRPr>
          </a:p>
        </p:txBody>
      </p:sp>
      <p:sp>
        <p:nvSpPr>
          <p:cNvPr id="360" name="Google Shape;360;p12"/>
          <p:cNvSpPr/>
          <p:nvPr/>
        </p:nvSpPr>
        <p:spPr>
          <a:xfrm>
            <a:off x="8324850" y="1847850"/>
            <a:ext cx="3162300" cy="1219200"/>
          </a:xfrm>
          <a:prstGeom prst="roundRect">
            <a:avLst>
              <a:gd fmla="val 0" name="adj"/>
            </a:avLst>
          </a:prstGeom>
          <a:solidFill>
            <a:srgbClr val="FFFBEB"/>
          </a:solidFill>
          <a:ln cap="flat" cmpd="sng" w="9525">
            <a:solidFill>
              <a:srgbClr val="FDE68A"/>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1" name="Google Shape;361;p12"/>
          <p:cNvSpPr txBox="1"/>
          <p:nvPr/>
        </p:nvSpPr>
        <p:spPr>
          <a:xfrm>
            <a:off x="8420100" y="1924050"/>
            <a:ext cx="29718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00" u="none" strike="noStrike">
                <a:solidFill>
                  <a:srgbClr val="B45309"/>
                </a:solidFill>
                <a:latin typeface="Helvetica Neue"/>
                <a:ea typeface="Helvetica Neue"/>
                <a:cs typeface="Helvetica Neue"/>
                <a:sym typeface="Helvetica Neue"/>
              </a:rPr>
              <a:t>[Policy Track] </a:t>
            </a:r>
            <a:r>
              <a:rPr b="1" i="0" lang="en-US" sz="1200" u="none" strike="noStrike">
                <a:solidFill>
                  <a:srgbClr val="12314B"/>
                </a:solidFill>
                <a:latin typeface="Helvetica Neue"/>
                <a:ea typeface="Helvetica Neue"/>
                <a:cs typeface="Helvetica Neue"/>
                <a:sym typeface="Helvetica Neue"/>
              </a:rPr>
              <a:t>Regional Capacity &amp; 24-Month Roadmap</a:t>
            </a:r>
            <a:endParaRPr b="1" i="0" sz="1000" u="none" strike="noStrike">
              <a:solidFill>
                <a:srgbClr val="B45309"/>
              </a:solidFill>
              <a:latin typeface="Helvetica Neue"/>
              <a:ea typeface="Helvetica Neue"/>
              <a:cs typeface="Helvetica Neue"/>
              <a:sym typeface="Helvetica Neue"/>
            </a:endParaRPr>
          </a:p>
          <a:p>
            <a:pPr indent="0" lvl="0" marL="0" marR="0" rtl="0" algn="l">
              <a:lnSpc>
                <a:spcPct val="115000"/>
              </a:lnSpc>
              <a:spcBef>
                <a:spcPts val="600"/>
              </a:spcBef>
              <a:spcAft>
                <a:spcPts val="0"/>
              </a:spcAft>
              <a:buNone/>
            </a:pPr>
            <a:r>
              <a:rPr b="0" i="0" lang="en-US" sz="1050" u="none" strike="noStrike">
                <a:solidFill>
                  <a:srgbClr val="4B6375"/>
                </a:solidFill>
                <a:latin typeface="Helvetica Neue"/>
                <a:ea typeface="Helvetica Neue"/>
                <a:cs typeface="Helvetica Neue"/>
                <a:sym typeface="Helvetica Neue"/>
              </a:rPr>
              <a:t>90m Room B: Sustained regional capacity building, ASEAN digital trust council, and policy harmonization roadmap.</a:t>
            </a:r>
            <a:endParaRPr b="1" i="0" sz="1000" u="none" strike="noStrike">
              <a:solidFill>
                <a:srgbClr val="B45309"/>
              </a:solidFill>
              <a:latin typeface="Helvetica Neue"/>
              <a:ea typeface="Helvetica Neue"/>
              <a:cs typeface="Helvetica Neue"/>
              <a:sym typeface="Helvetica Neue"/>
            </a:endParaRPr>
          </a:p>
        </p:txBody>
      </p:sp>
      <p:cxnSp>
        <p:nvCxnSpPr>
          <p:cNvPr id="362" name="Google Shape;362;p12"/>
          <p:cNvCxnSpPr/>
          <p:nvPr/>
        </p:nvCxnSpPr>
        <p:spPr>
          <a:xfrm>
            <a:off x="723900" y="3143250"/>
            <a:ext cx="10763400" cy="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363" name="Google Shape;363;p12"/>
          <p:cNvSpPr txBox="1"/>
          <p:nvPr/>
        </p:nvSpPr>
        <p:spPr>
          <a:xfrm>
            <a:off x="723900" y="3257550"/>
            <a:ext cx="1333500" cy="1219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300" u="none" strike="noStrike">
                <a:solidFill>
                  <a:srgbClr val="008F99"/>
                </a:solidFill>
                <a:latin typeface="Helvetica Neue"/>
                <a:ea typeface="Helvetica Neue"/>
                <a:cs typeface="Helvetica Neue"/>
                <a:sym typeface="Helvetica Neue"/>
              </a:rPr>
              <a:t>15:15–16:00</a:t>
            </a:r>
            <a:endParaRPr b="1" i="0" sz="1300" u="none" strike="noStrike">
              <a:solidFill>
                <a:srgbClr val="008F99"/>
              </a:solidFill>
              <a:latin typeface="Helvetica Neue"/>
              <a:ea typeface="Helvetica Neue"/>
              <a:cs typeface="Helvetica Neue"/>
              <a:sym typeface="Helvetica Neue"/>
            </a:endParaRPr>
          </a:p>
          <a:p>
            <a:pPr indent="0" lvl="0" marL="0" marR="0" rtl="0" algn="l">
              <a:lnSpc>
                <a:spcPct val="100000"/>
              </a:lnSpc>
              <a:spcBef>
                <a:spcPts val="400"/>
              </a:spcBef>
              <a:spcAft>
                <a:spcPts val="0"/>
              </a:spcAft>
              <a:buNone/>
            </a:pPr>
            <a:r>
              <a:rPr b="0" i="0" lang="en-US" sz="1150" u="none" strike="noStrike">
                <a:solidFill>
                  <a:srgbClr val="12314B"/>
                </a:solidFill>
                <a:latin typeface="Helvetica Neue"/>
                <a:ea typeface="Helvetica Neue"/>
                <a:cs typeface="Helvetica Neue"/>
                <a:sym typeface="Helvetica Neue"/>
              </a:rPr>
              <a:t>Assembly</a:t>
            </a:r>
            <a:endParaRPr b="1" i="0" sz="1300" u="none" strike="noStrike">
              <a:solidFill>
                <a:srgbClr val="008F99"/>
              </a:solidFill>
              <a:latin typeface="Helvetica Neue"/>
              <a:ea typeface="Helvetica Neue"/>
              <a:cs typeface="Helvetica Neue"/>
              <a:sym typeface="Helvetica Neue"/>
            </a:endParaRPr>
          </a:p>
        </p:txBody>
      </p:sp>
      <p:sp>
        <p:nvSpPr>
          <p:cNvPr id="364" name="Google Shape;364;p12"/>
          <p:cNvSpPr/>
          <p:nvPr/>
        </p:nvSpPr>
        <p:spPr>
          <a:xfrm>
            <a:off x="2133600" y="3257550"/>
            <a:ext cx="2857500" cy="1219200"/>
          </a:xfrm>
          <a:prstGeom prst="roundRect">
            <a:avLst>
              <a:gd fmla="val 0" name="adj"/>
            </a:avLst>
          </a:prstGeom>
          <a:solidFill>
            <a:srgbClr val="F8FAFC"/>
          </a:solidFill>
          <a:ln cap="flat" cmpd="sng" w="9525">
            <a:solidFill>
              <a:srgbClr val="CBD7D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5" name="Google Shape;365;p12"/>
          <p:cNvSpPr txBox="1"/>
          <p:nvPr/>
        </p:nvSpPr>
        <p:spPr>
          <a:xfrm>
            <a:off x="2228850" y="3333750"/>
            <a:ext cx="26670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00" u="none" strike="noStrike">
                <a:solidFill>
                  <a:srgbClr val="1E3A8A"/>
                </a:solidFill>
                <a:latin typeface="Helvetica Neue"/>
                <a:ea typeface="Helvetica Neue"/>
                <a:cs typeface="Helvetica Neue"/>
                <a:sym typeface="Helvetica Neue"/>
              </a:rPr>
              <a:t>[Joint Assembly] </a:t>
            </a:r>
            <a:r>
              <a:rPr b="1" i="0" lang="en-US" sz="1200" u="none" strike="noStrike">
                <a:solidFill>
                  <a:srgbClr val="12314B"/>
                </a:solidFill>
                <a:latin typeface="Helvetica Neue"/>
                <a:ea typeface="Helvetica Neue"/>
                <a:cs typeface="Helvetica Neue"/>
                <a:sym typeface="Helvetica Neue"/>
              </a:rPr>
              <a:t>J1–J5 Demonstration Assembly Plenary</a:t>
            </a:r>
            <a:endParaRPr b="1" i="0" sz="1000" u="none" strike="noStrike">
              <a:solidFill>
                <a:srgbClr val="1E3A8A"/>
              </a:solidFill>
              <a:latin typeface="Helvetica Neue"/>
              <a:ea typeface="Helvetica Neue"/>
              <a:cs typeface="Helvetica Neue"/>
              <a:sym typeface="Helvetica Neue"/>
            </a:endParaRPr>
          </a:p>
          <a:p>
            <a:pPr indent="0" lvl="0" marL="0" marR="0" rtl="0" algn="l">
              <a:lnSpc>
                <a:spcPct val="115000"/>
              </a:lnSpc>
              <a:spcBef>
                <a:spcPts val="600"/>
              </a:spcBef>
              <a:spcAft>
                <a:spcPts val="0"/>
              </a:spcAft>
              <a:buNone/>
            </a:pPr>
            <a:r>
              <a:rPr b="0" i="0" lang="en-US" sz="1050" u="none" strike="noStrike">
                <a:solidFill>
                  <a:srgbClr val="4B6375"/>
                </a:solidFill>
                <a:latin typeface="Helvetica Neue"/>
                <a:ea typeface="Helvetica Neue"/>
                <a:cs typeface="Helvetica Neue"/>
                <a:sym typeface="Helvetica Neue"/>
              </a:rPr>
              <a:t>45m Grand Ballroom: Rehearsing full cross-border flow and aligning ministerial briefing messages.</a:t>
            </a:r>
            <a:endParaRPr b="1" i="0" sz="1000" u="none" strike="noStrike">
              <a:solidFill>
                <a:srgbClr val="1E3A8A"/>
              </a:solidFill>
              <a:latin typeface="Helvetica Neue"/>
              <a:ea typeface="Helvetica Neue"/>
              <a:cs typeface="Helvetica Neue"/>
              <a:sym typeface="Helvetica Neue"/>
            </a:endParaRPr>
          </a:p>
        </p:txBody>
      </p:sp>
      <p:sp>
        <p:nvSpPr>
          <p:cNvPr id="366" name="Google Shape;366;p12"/>
          <p:cNvSpPr/>
          <p:nvPr/>
        </p:nvSpPr>
        <p:spPr>
          <a:xfrm>
            <a:off x="5067300" y="3257550"/>
            <a:ext cx="3181200" cy="1219200"/>
          </a:xfrm>
          <a:prstGeom prst="roundRect">
            <a:avLst>
              <a:gd fmla="val 0" name="adj"/>
            </a:avLst>
          </a:prstGeom>
          <a:solidFill>
            <a:srgbClr val="F0FDFA"/>
          </a:solidFill>
          <a:ln cap="flat" cmpd="sng" w="9525">
            <a:solidFill>
              <a:srgbClr val="CBD7D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7" name="Google Shape;367;p12"/>
          <p:cNvSpPr txBox="1"/>
          <p:nvPr/>
        </p:nvSpPr>
        <p:spPr>
          <a:xfrm>
            <a:off x="5162550" y="3333750"/>
            <a:ext cx="29910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00" u="none" strike="noStrike">
                <a:solidFill>
                  <a:srgbClr val="0F766E"/>
                </a:solidFill>
                <a:latin typeface="Helvetica Neue"/>
                <a:ea typeface="Helvetica Neue"/>
                <a:cs typeface="Helvetica Neue"/>
                <a:sym typeface="Helvetica Neue"/>
              </a:rPr>
              <a:t>[Ballroom] </a:t>
            </a:r>
            <a:r>
              <a:rPr b="1" i="0" lang="en-US" sz="1200" u="none" strike="noStrike">
                <a:solidFill>
                  <a:srgbClr val="12314B"/>
                </a:solidFill>
                <a:latin typeface="Helvetica Neue"/>
                <a:ea typeface="Helvetica Neue"/>
                <a:cs typeface="Helvetica Neue"/>
                <a:sym typeface="Helvetica Neue"/>
              </a:rPr>
              <a:t>Live Cross-Border Dry-Run</a:t>
            </a:r>
            <a:endParaRPr b="1" i="0" sz="1000" u="none" strike="noStrike">
              <a:solidFill>
                <a:srgbClr val="0F766E"/>
              </a:solidFill>
              <a:latin typeface="Helvetica Neue"/>
              <a:ea typeface="Helvetica Neue"/>
              <a:cs typeface="Helvetica Neue"/>
              <a:sym typeface="Helvetica Neue"/>
            </a:endParaRPr>
          </a:p>
          <a:p>
            <a:pPr indent="0" lvl="0" marL="0" marR="0" rtl="0" algn="l">
              <a:lnSpc>
                <a:spcPct val="115000"/>
              </a:lnSpc>
              <a:spcBef>
                <a:spcPts val="600"/>
              </a:spcBef>
              <a:spcAft>
                <a:spcPts val="0"/>
              </a:spcAft>
              <a:buNone/>
            </a:pPr>
            <a:r>
              <a:rPr b="0" i="0" lang="en-US" sz="1050" u="none" strike="noStrike">
                <a:solidFill>
                  <a:srgbClr val="4B6375"/>
                </a:solidFill>
                <a:latin typeface="Helvetica Neue"/>
                <a:ea typeface="Helvetica Neue"/>
                <a:cs typeface="Helvetica Neue"/>
                <a:sym typeface="Helvetica Neue"/>
              </a:rPr>
              <a:t>End-to-end rehearsal across physical devices: J1 birth to J4 mobile travel to J5 clinic verification.</a:t>
            </a:r>
            <a:endParaRPr b="1" i="0" sz="1000" u="none" strike="noStrike">
              <a:solidFill>
                <a:srgbClr val="0F766E"/>
              </a:solidFill>
              <a:latin typeface="Helvetica Neue"/>
              <a:ea typeface="Helvetica Neue"/>
              <a:cs typeface="Helvetica Neue"/>
              <a:sym typeface="Helvetica Neue"/>
            </a:endParaRPr>
          </a:p>
        </p:txBody>
      </p:sp>
      <p:sp>
        <p:nvSpPr>
          <p:cNvPr id="368" name="Google Shape;368;p12"/>
          <p:cNvSpPr/>
          <p:nvPr/>
        </p:nvSpPr>
        <p:spPr>
          <a:xfrm>
            <a:off x="8324850" y="3257550"/>
            <a:ext cx="3162300" cy="1219200"/>
          </a:xfrm>
          <a:prstGeom prst="roundRect">
            <a:avLst>
              <a:gd fmla="val 0" name="adj"/>
            </a:avLst>
          </a:prstGeom>
          <a:solidFill>
            <a:srgbClr val="F8FAFC"/>
          </a:solidFill>
          <a:ln cap="flat" cmpd="sng" w="9525">
            <a:solidFill>
              <a:srgbClr val="CBD7D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9" name="Google Shape;369;p12"/>
          <p:cNvSpPr txBox="1"/>
          <p:nvPr/>
        </p:nvSpPr>
        <p:spPr>
          <a:xfrm>
            <a:off x="8420100" y="3333750"/>
            <a:ext cx="29718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00" u="none" strike="noStrike">
                <a:solidFill>
                  <a:srgbClr val="B45309"/>
                </a:solidFill>
                <a:latin typeface="Helvetica Neue"/>
                <a:ea typeface="Helvetica Neue"/>
                <a:cs typeface="Helvetica Neue"/>
                <a:sym typeface="Helvetica Neue"/>
              </a:rPr>
              <a:t>[Ballroom] </a:t>
            </a:r>
            <a:r>
              <a:rPr b="1" i="0" lang="en-US" sz="1200" u="none" strike="noStrike">
                <a:solidFill>
                  <a:srgbClr val="12314B"/>
                </a:solidFill>
                <a:latin typeface="Helvetica Neue"/>
                <a:ea typeface="Helvetica Neue"/>
                <a:cs typeface="Helvetica Neue"/>
                <a:sym typeface="Helvetica Neue"/>
              </a:rPr>
              <a:t>Ministerial Briefing &amp; Declaration</a:t>
            </a:r>
            <a:endParaRPr b="1" i="0" sz="1000" u="none" strike="noStrike">
              <a:solidFill>
                <a:srgbClr val="B45309"/>
              </a:solidFill>
              <a:latin typeface="Helvetica Neue"/>
              <a:ea typeface="Helvetica Neue"/>
              <a:cs typeface="Helvetica Neue"/>
              <a:sym typeface="Helvetica Neue"/>
            </a:endParaRPr>
          </a:p>
          <a:p>
            <a:pPr indent="0" lvl="0" marL="0" marR="0" rtl="0" algn="l">
              <a:lnSpc>
                <a:spcPct val="115000"/>
              </a:lnSpc>
              <a:spcBef>
                <a:spcPts val="600"/>
              </a:spcBef>
              <a:spcAft>
                <a:spcPts val="0"/>
              </a:spcAft>
              <a:buNone/>
            </a:pPr>
            <a:r>
              <a:rPr b="0" i="0" lang="en-US" sz="1050" u="none" strike="noStrike">
                <a:solidFill>
                  <a:srgbClr val="4B6375"/>
                </a:solidFill>
                <a:latin typeface="Helvetica Neue"/>
                <a:ea typeface="Helvetica Neue"/>
                <a:cs typeface="Helvetica Neue"/>
                <a:sym typeface="Helvetica Neue"/>
              </a:rPr>
              <a:t>Final review of harmonized policy recommendations and high-level regional communiqué statements.</a:t>
            </a:r>
            <a:endParaRPr b="1" i="0" sz="1000" u="none" strike="noStrike">
              <a:solidFill>
                <a:srgbClr val="B45309"/>
              </a:solidFill>
              <a:latin typeface="Helvetica Neue"/>
              <a:ea typeface="Helvetica Neue"/>
              <a:cs typeface="Helvetica Neue"/>
              <a:sym typeface="Helvetica Neue"/>
            </a:endParaRPr>
          </a:p>
        </p:txBody>
      </p:sp>
      <p:cxnSp>
        <p:nvCxnSpPr>
          <p:cNvPr id="370" name="Google Shape;370;p12"/>
          <p:cNvCxnSpPr/>
          <p:nvPr/>
        </p:nvCxnSpPr>
        <p:spPr>
          <a:xfrm>
            <a:off x="723900" y="4552950"/>
            <a:ext cx="10763400" cy="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371" name="Google Shape;371;p12"/>
          <p:cNvSpPr txBox="1"/>
          <p:nvPr/>
        </p:nvSpPr>
        <p:spPr>
          <a:xfrm>
            <a:off x="723900" y="4667250"/>
            <a:ext cx="1333500" cy="1219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300" u="none" strike="noStrike">
                <a:solidFill>
                  <a:srgbClr val="008F99"/>
                </a:solidFill>
                <a:latin typeface="Helvetica Neue"/>
                <a:ea typeface="Helvetica Neue"/>
                <a:cs typeface="Helvetica Neue"/>
                <a:sym typeface="Helvetica Neue"/>
              </a:rPr>
              <a:t>16:00–17:00</a:t>
            </a:r>
            <a:endParaRPr b="1" i="0" sz="1300" u="none" strike="noStrike">
              <a:solidFill>
                <a:srgbClr val="008F99"/>
              </a:solidFill>
              <a:latin typeface="Helvetica Neue"/>
              <a:ea typeface="Helvetica Neue"/>
              <a:cs typeface="Helvetica Neue"/>
              <a:sym typeface="Helvetica Neue"/>
            </a:endParaRPr>
          </a:p>
          <a:p>
            <a:pPr indent="0" lvl="0" marL="0" marR="0" rtl="0" algn="l">
              <a:lnSpc>
                <a:spcPct val="100000"/>
              </a:lnSpc>
              <a:spcBef>
                <a:spcPts val="400"/>
              </a:spcBef>
              <a:spcAft>
                <a:spcPts val="0"/>
              </a:spcAft>
              <a:buNone/>
            </a:pPr>
            <a:r>
              <a:rPr b="0" i="0" lang="en-US" sz="1150" u="none" strike="noStrike">
                <a:solidFill>
                  <a:srgbClr val="12314B"/>
                </a:solidFill>
                <a:latin typeface="Helvetica Neue"/>
                <a:ea typeface="Helvetica Neue"/>
                <a:cs typeface="Helvetica Neue"/>
                <a:sym typeface="Helvetica Neue"/>
              </a:rPr>
              <a:t>Culmination</a:t>
            </a:r>
            <a:endParaRPr b="1" i="0" sz="1300" u="none" strike="noStrike">
              <a:solidFill>
                <a:srgbClr val="008F99"/>
              </a:solidFill>
              <a:latin typeface="Helvetica Neue"/>
              <a:ea typeface="Helvetica Neue"/>
              <a:cs typeface="Helvetica Neue"/>
              <a:sym typeface="Helvetica Neue"/>
            </a:endParaRPr>
          </a:p>
        </p:txBody>
      </p:sp>
      <p:sp>
        <p:nvSpPr>
          <p:cNvPr id="372" name="Google Shape;372;p12"/>
          <p:cNvSpPr/>
          <p:nvPr/>
        </p:nvSpPr>
        <p:spPr>
          <a:xfrm>
            <a:off x="2133600" y="4667250"/>
            <a:ext cx="2857500" cy="1219200"/>
          </a:xfrm>
          <a:prstGeom prst="roundRect">
            <a:avLst>
              <a:gd fmla="val 0" name="adj"/>
            </a:avLst>
          </a:prstGeom>
          <a:solidFill>
            <a:srgbClr val="F8FAFC"/>
          </a:solidFill>
          <a:ln cap="flat" cmpd="sng" w="9525">
            <a:solidFill>
              <a:srgbClr val="CBD7D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3" name="Google Shape;373;p12"/>
          <p:cNvSpPr txBox="1"/>
          <p:nvPr/>
        </p:nvSpPr>
        <p:spPr>
          <a:xfrm>
            <a:off x="2228850" y="4743450"/>
            <a:ext cx="26670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00" u="none" strike="noStrike">
                <a:solidFill>
                  <a:srgbClr val="1E3A8A"/>
                </a:solidFill>
                <a:latin typeface="Helvetica Neue"/>
                <a:ea typeface="Helvetica Neue"/>
                <a:cs typeface="Helvetica Neue"/>
                <a:sym typeface="Helvetica Neue"/>
              </a:rPr>
              <a:t>[Closing Plenary] </a:t>
            </a:r>
            <a:r>
              <a:rPr b="1" i="0" lang="en-US" sz="1200" u="none" strike="noStrike">
                <a:solidFill>
                  <a:srgbClr val="12314B"/>
                </a:solidFill>
                <a:latin typeface="Helvetica Neue"/>
                <a:ea typeface="Helvetica Neue"/>
                <a:cs typeface="Helvetica Neue"/>
                <a:sym typeface="Helvetica Neue"/>
              </a:rPr>
              <a:t>Joint Demonstration &amp; Closing Communiqué</a:t>
            </a:r>
            <a:endParaRPr b="1" i="0" sz="1000" u="none" strike="noStrike">
              <a:solidFill>
                <a:srgbClr val="1E3A8A"/>
              </a:solidFill>
              <a:latin typeface="Helvetica Neue"/>
              <a:ea typeface="Helvetica Neue"/>
              <a:cs typeface="Helvetica Neue"/>
              <a:sym typeface="Helvetica Neue"/>
            </a:endParaRPr>
          </a:p>
          <a:p>
            <a:pPr indent="0" lvl="0" marL="0" marR="0" rtl="0" algn="l">
              <a:lnSpc>
                <a:spcPct val="115000"/>
              </a:lnSpc>
              <a:spcBef>
                <a:spcPts val="600"/>
              </a:spcBef>
              <a:spcAft>
                <a:spcPts val="0"/>
              </a:spcAft>
              <a:buNone/>
            </a:pPr>
            <a:r>
              <a:rPr b="0" i="0" lang="en-US" sz="1050" u="none" strike="noStrike">
                <a:solidFill>
                  <a:srgbClr val="4B6375"/>
                </a:solidFill>
                <a:latin typeface="Helvetica Neue"/>
                <a:ea typeface="Helvetica Neue"/>
                <a:cs typeface="Helvetica Neue"/>
                <a:sym typeface="Helvetica Neue"/>
              </a:rPr>
              <a:t>60m Grand Ballroom: Live proof-of-concept demonstration and signing of regional adoption declaration.</a:t>
            </a:r>
            <a:endParaRPr b="1" i="0" sz="1000" u="none" strike="noStrike">
              <a:solidFill>
                <a:srgbClr val="1E3A8A"/>
              </a:solidFill>
              <a:latin typeface="Helvetica Neue"/>
              <a:ea typeface="Helvetica Neue"/>
              <a:cs typeface="Helvetica Neue"/>
              <a:sym typeface="Helvetica Neue"/>
            </a:endParaRPr>
          </a:p>
        </p:txBody>
      </p:sp>
      <p:sp>
        <p:nvSpPr>
          <p:cNvPr id="374" name="Google Shape;374;p12"/>
          <p:cNvSpPr/>
          <p:nvPr/>
        </p:nvSpPr>
        <p:spPr>
          <a:xfrm>
            <a:off x="5067300" y="4667250"/>
            <a:ext cx="3181200" cy="1219200"/>
          </a:xfrm>
          <a:prstGeom prst="roundRect">
            <a:avLst>
              <a:gd fmla="val 0" name="adj"/>
            </a:avLst>
          </a:prstGeom>
          <a:solidFill>
            <a:srgbClr val="F0FDFA"/>
          </a:solidFill>
          <a:ln cap="flat" cmpd="sng" w="9525">
            <a:solidFill>
              <a:srgbClr val="CBD7D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5" name="Google Shape;375;p12"/>
          <p:cNvSpPr txBox="1"/>
          <p:nvPr/>
        </p:nvSpPr>
        <p:spPr>
          <a:xfrm>
            <a:off x="5162550" y="4743450"/>
            <a:ext cx="29910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00" u="none" strike="noStrike">
                <a:solidFill>
                  <a:srgbClr val="0F766E"/>
                </a:solidFill>
                <a:latin typeface="Helvetica Neue"/>
                <a:ea typeface="Helvetica Neue"/>
                <a:cs typeface="Helvetica Neue"/>
                <a:sym typeface="Helvetica Neue"/>
              </a:rPr>
              <a:t>[Ballroom] </a:t>
            </a:r>
            <a:r>
              <a:rPr b="1" i="0" lang="en-US" sz="1200" u="none" strike="noStrike">
                <a:solidFill>
                  <a:srgbClr val="12314B"/>
                </a:solidFill>
                <a:latin typeface="Helvetica Neue"/>
                <a:ea typeface="Helvetica Neue"/>
                <a:cs typeface="Helvetica Neue"/>
                <a:sym typeface="Helvetica Neue"/>
              </a:rPr>
              <a:t>Regional Connected Journey Showcase</a:t>
            </a:r>
            <a:endParaRPr b="1" i="0" sz="1000" u="none" strike="noStrike">
              <a:solidFill>
                <a:srgbClr val="0F766E"/>
              </a:solidFill>
              <a:latin typeface="Helvetica Neue"/>
              <a:ea typeface="Helvetica Neue"/>
              <a:cs typeface="Helvetica Neue"/>
              <a:sym typeface="Helvetica Neue"/>
            </a:endParaRPr>
          </a:p>
          <a:p>
            <a:pPr indent="0" lvl="0" marL="0" marR="0" rtl="0" algn="l">
              <a:lnSpc>
                <a:spcPct val="115000"/>
              </a:lnSpc>
              <a:spcBef>
                <a:spcPts val="600"/>
              </a:spcBef>
              <a:spcAft>
                <a:spcPts val="0"/>
              </a:spcAft>
              <a:buNone/>
            </a:pPr>
            <a:r>
              <a:rPr b="0" i="0" lang="en-US" sz="1050" u="none" strike="noStrike">
                <a:solidFill>
                  <a:srgbClr val="4B6375"/>
                </a:solidFill>
                <a:latin typeface="Helvetica Neue"/>
                <a:ea typeface="Helvetica Neue"/>
                <a:cs typeface="Helvetica Neue"/>
                <a:sym typeface="Helvetica Neue"/>
              </a:rPr>
              <a:t>Live showcase of multi-country health data exchange connecting national registries across ASEAN member states.</a:t>
            </a:r>
            <a:endParaRPr b="1" i="0" sz="1000" u="none" strike="noStrike">
              <a:solidFill>
                <a:srgbClr val="0F766E"/>
              </a:solidFill>
              <a:latin typeface="Helvetica Neue"/>
              <a:ea typeface="Helvetica Neue"/>
              <a:cs typeface="Helvetica Neue"/>
              <a:sym typeface="Helvetica Neue"/>
            </a:endParaRPr>
          </a:p>
        </p:txBody>
      </p:sp>
      <p:sp>
        <p:nvSpPr>
          <p:cNvPr id="376" name="Google Shape;376;p12"/>
          <p:cNvSpPr/>
          <p:nvPr/>
        </p:nvSpPr>
        <p:spPr>
          <a:xfrm>
            <a:off x="8324850" y="4667250"/>
            <a:ext cx="3162300" cy="1219200"/>
          </a:xfrm>
          <a:prstGeom prst="roundRect">
            <a:avLst>
              <a:gd fmla="val 0" name="adj"/>
            </a:avLst>
          </a:prstGeom>
          <a:solidFill>
            <a:srgbClr val="F8FAFC"/>
          </a:solidFill>
          <a:ln cap="flat" cmpd="sng" w="9525">
            <a:solidFill>
              <a:srgbClr val="CBD7DC"/>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7" name="Google Shape;377;p12"/>
          <p:cNvSpPr txBox="1"/>
          <p:nvPr/>
        </p:nvSpPr>
        <p:spPr>
          <a:xfrm>
            <a:off x="8420100" y="4743450"/>
            <a:ext cx="2971800" cy="106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00" u="none" strike="noStrike">
                <a:solidFill>
                  <a:srgbClr val="B45309"/>
                </a:solidFill>
                <a:latin typeface="Helvetica Neue"/>
                <a:ea typeface="Helvetica Neue"/>
                <a:cs typeface="Helvetica Neue"/>
                <a:sym typeface="Helvetica Neue"/>
              </a:rPr>
              <a:t>[Ballroom] </a:t>
            </a:r>
            <a:r>
              <a:rPr b="1" i="0" lang="en-US" sz="1200" u="none" strike="noStrike">
                <a:solidFill>
                  <a:srgbClr val="12314B"/>
                </a:solidFill>
                <a:latin typeface="Helvetica Neue"/>
                <a:ea typeface="Helvetica Neue"/>
                <a:cs typeface="Helvetica Neue"/>
                <a:sym typeface="Helvetica Neue"/>
              </a:rPr>
              <a:t>High-Level Policy Recommendations</a:t>
            </a:r>
            <a:endParaRPr b="1" i="0" sz="1000" u="none" strike="noStrike">
              <a:solidFill>
                <a:srgbClr val="B45309"/>
              </a:solidFill>
              <a:latin typeface="Helvetica Neue"/>
              <a:ea typeface="Helvetica Neue"/>
              <a:cs typeface="Helvetica Neue"/>
              <a:sym typeface="Helvetica Neue"/>
            </a:endParaRPr>
          </a:p>
          <a:p>
            <a:pPr indent="0" lvl="0" marL="0" marR="0" rtl="0" algn="l">
              <a:lnSpc>
                <a:spcPct val="115000"/>
              </a:lnSpc>
              <a:spcBef>
                <a:spcPts val="600"/>
              </a:spcBef>
              <a:spcAft>
                <a:spcPts val="0"/>
              </a:spcAft>
              <a:buNone/>
            </a:pPr>
            <a:r>
              <a:rPr b="0" i="0" lang="en-US" sz="1050" u="none" strike="noStrike">
                <a:solidFill>
                  <a:srgbClr val="4B6375"/>
                </a:solidFill>
                <a:latin typeface="Helvetica Neue"/>
                <a:ea typeface="Helvetica Neue"/>
                <a:cs typeface="Helvetica Neue"/>
                <a:sym typeface="Helvetica Neue"/>
              </a:rPr>
              <a:t>Presentation of ministerial adoption roadmap, regional trust council charter, and formal closing communiqué.</a:t>
            </a:r>
            <a:endParaRPr b="1" i="0" sz="1000" u="none" strike="noStrike">
              <a:solidFill>
                <a:srgbClr val="B45309"/>
              </a:solidFill>
              <a:latin typeface="Helvetica Neue"/>
              <a:ea typeface="Helvetica Neue"/>
              <a:cs typeface="Helvetica Neue"/>
              <a:sym typeface="Helvetica Neue"/>
            </a:endParaRPr>
          </a:p>
        </p:txBody>
      </p:sp>
      <p:sp>
        <p:nvSpPr>
          <p:cNvPr id="378" name="Google Shape;378;p12"/>
          <p:cNvSpPr txBox="1"/>
          <p:nvPr/>
        </p:nvSpPr>
        <p:spPr>
          <a:xfrm>
            <a:off x="742950" y="6019800"/>
            <a:ext cx="10572900" cy="2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150">
                <a:solidFill>
                  <a:srgbClr val="607383"/>
                </a:solidFill>
                <a:latin typeface="Helvetica Neue"/>
                <a:ea typeface="Helvetica Neue"/>
                <a:cs typeface="Helvetica Neue"/>
                <a:sym typeface="Helvetica Neue"/>
              </a:rPr>
              <a:t>Afternoon Break 15:00–15:15     Demonstration Assembly 15:15</a:t>
            </a:r>
            <a:endParaRPr sz="1150">
              <a:solidFill>
                <a:srgbClr val="607383"/>
              </a:solidFill>
              <a:latin typeface="Helvetica Neue"/>
              <a:ea typeface="Helvetica Neue"/>
              <a:cs typeface="Helvetica Neue"/>
              <a:sym typeface="Helvetica Neue"/>
            </a:endParaRPr>
          </a:p>
        </p:txBody>
      </p:sp>
      <p:cxnSp>
        <p:nvCxnSpPr>
          <p:cNvPr id="379" name="Google Shape;379;p12"/>
          <p:cNvCxnSpPr/>
          <p:nvPr/>
        </p:nvCxnSpPr>
        <p:spPr>
          <a:xfrm>
            <a:off x="609600" y="6429375"/>
            <a:ext cx="10953900" cy="0"/>
          </a:xfrm>
          <a:prstGeom prst="straightConnector1">
            <a:avLst/>
          </a:prstGeom>
          <a:solidFill>
            <a:srgbClr val="FFFFFF"/>
          </a:solidFill>
          <a:ln cap="flat" cmpd="sng" w="9525">
            <a:solidFill>
              <a:srgbClr val="CBD7DC"/>
            </a:solidFill>
            <a:prstDash val="solid"/>
            <a:round/>
            <a:headEnd len="sm" w="sm" type="none"/>
            <a:tailEnd len="sm" w="sm" type="none"/>
          </a:ln>
        </p:spPr>
      </p:cxnSp>
      <p:sp>
        <p:nvSpPr>
          <p:cNvPr id="380" name="Google Shape;380;p12"/>
          <p:cNvSpPr txBox="1"/>
          <p:nvPr/>
        </p:nvSpPr>
        <p:spPr>
          <a:xfrm>
            <a:off x="704850" y="6572250"/>
            <a:ext cx="66675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90">
                <a:solidFill>
                  <a:srgbClr val="607383"/>
                </a:solidFill>
                <a:latin typeface="Helvetica Neue"/>
                <a:ea typeface="Helvetica Neue"/>
                <a:cs typeface="Helvetica Neue"/>
                <a:sym typeface="Helvetica Neue"/>
              </a:rPr>
              <a:t>Thailand technologist workstream, partner preparation • Integrated E2E Journeys</a:t>
            </a:r>
            <a:endParaRPr sz="1090">
              <a:solidFill>
                <a:srgbClr val="607383"/>
              </a:solidFill>
              <a:latin typeface="Helvetica Neue"/>
              <a:ea typeface="Helvetica Neue"/>
              <a:cs typeface="Helvetica Neue"/>
              <a:sym typeface="Helvetica Neu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385" name="Shape 385"/>
        <p:cNvGrpSpPr/>
        <p:nvPr/>
      </p:nvGrpSpPr>
      <p:grpSpPr>
        <a:xfrm>
          <a:off x="0" y="0"/>
          <a:ext cx="0" cy="0"/>
          <a:chOff x="0" y="0"/>
          <a:chExt cx="0" cy="0"/>
        </a:xfrm>
      </p:grpSpPr>
      <p:sp>
        <p:nvSpPr>
          <p:cNvPr id="386" name="Google Shape;386;p13"/>
          <p:cNvSpPr/>
          <p:nvPr/>
        </p:nvSpPr>
        <p:spPr>
          <a:xfrm>
            <a:off x="704850" y="428625"/>
            <a:ext cx="9906000" cy="523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925">
                <a:solidFill>
                  <a:srgbClr val="12314B"/>
                </a:solidFill>
                <a:latin typeface="Helvetica Neue"/>
                <a:ea typeface="Helvetica Neue"/>
                <a:cs typeface="Helvetica Neue"/>
                <a:sym typeface="Helvetica Neue"/>
              </a:rPr>
              <a:t>Day 1 learning objectives, morning</a:t>
            </a:r>
            <a:endParaRPr/>
          </a:p>
        </p:txBody>
      </p:sp>
      <p:sp>
        <p:nvSpPr>
          <p:cNvPr id="387" name="Google Shape;387;p13"/>
          <p:cNvSpPr/>
          <p:nvPr/>
        </p:nvSpPr>
        <p:spPr>
          <a:xfrm>
            <a:off x="11144250" y="485775"/>
            <a:ext cx="381000" cy="2857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en-US" sz="1275">
                <a:solidFill>
                  <a:srgbClr val="008F99"/>
                </a:solidFill>
                <a:latin typeface="Helvetica Neue"/>
                <a:ea typeface="Helvetica Neue"/>
                <a:cs typeface="Helvetica Neue"/>
                <a:sym typeface="Helvetica Neue"/>
              </a:rPr>
              <a:t>07</a:t>
            </a:r>
            <a:endParaRPr/>
          </a:p>
        </p:txBody>
      </p:sp>
      <p:sp>
        <p:nvSpPr>
          <p:cNvPr id="388" name="Google Shape;388;p13"/>
          <p:cNvSpPr/>
          <p:nvPr/>
        </p:nvSpPr>
        <p:spPr>
          <a:xfrm>
            <a:off x="723900" y="971550"/>
            <a:ext cx="1047750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00">
                <a:solidFill>
                  <a:srgbClr val="607383"/>
                </a:solidFill>
                <a:latin typeface="Helvetica Neue"/>
                <a:ea typeface="Helvetica Neue"/>
                <a:cs typeface="Helvetica Neue"/>
                <a:sym typeface="Helvetica Neue"/>
              </a:rPr>
              <a:t>Shared foundations and a mapped immunization record</a:t>
            </a:r>
            <a:endParaRPr/>
          </a:p>
        </p:txBody>
      </p:sp>
      <p:cxnSp>
        <p:nvCxnSpPr>
          <p:cNvPr id="389" name="Google Shape;389;p13"/>
          <p:cNvCxnSpPr/>
          <p:nvPr/>
        </p:nvCxnSpPr>
        <p:spPr>
          <a:xfrm>
            <a:off x="609600" y="1276350"/>
            <a:ext cx="876300" cy="0"/>
          </a:xfrm>
          <a:prstGeom prst="straightConnector1">
            <a:avLst/>
          </a:prstGeom>
          <a:noFill/>
          <a:ln cap="flat" cmpd="sng" w="38100">
            <a:solidFill>
              <a:srgbClr val="008F99"/>
            </a:solidFill>
            <a:prstDash val="solid"/>
            <a:round/>
            <a:headEnd len="sm" w="sm" type="none"/>
            <a:tailEnd len="sm" w="sm" type="none"/>
          </a:ln>
        </p:spPr>
      </p:cxnSp>
      <p:sp>
        <p:nvSpPr>
          <p:cNvPr id="390" name="Google Shape;390;p13"/>
          <p:cNvSpPr/>
          <p:nvPr/>
        </p:nvSpPr>
        <p:spPr>
          <a:xfrm>
            <a:off x="742950" y="1562100"/>
            <a:ext cx="1381125"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008F99"/>
                </a:solidFill>
                <a:latin typeface="Helvetica Neue"/>
                <a:ea typeface="Helvetica Neue"/>
                <a:cs typeface="Helvetica Neue"/>
                <a:sym typeface="Helvetica Neue"/>
              </a:rPr>
              <a:t>TIME</a:t>
            </a:r>
            <a:endParaRPr/>
          </a:p>
        </p:txBody>
      </p:sp>
      <p:sp>
        <p:nvSpPr>
          <p:cNvPr id="391" name="Google Shape;391;p13"/>
          <p:cNvSpPr/>
          <p:nvPr/>
        </p:nvSpPr>
        <p:spPr>
          <a:xfrm>
            <a:off x="2381250" y="1562100"/>
            <a:ext cx="2524125"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008F99"/>
                </a:solidFill>
                <a:latin typeface="Helvetica Neue"/>
                <a:ea typeface="Helvetica Neue"/>
                <a:cs typeface="Helvetica Neue"/>
                <a:sym typeface="Helvetica Neue"/>
              </a:rPr>
              <a:t>SESSION</a:t>
            </a:r>
            <a:endParaRPr/>
          </a:p>
        </p:txBody>
      </p:sp>
      <p:sp>
        <p:nvSpPr>
          <p:cNvPr id="392" name="Google Shape;392;p13"/>
          <p:cNvSpPr/>
          <p:nvPr/>
        </p:nvSpPr>
        <p:spPr>
          <a:xfrm>
            <a:off x="5238750" y="1562100"/>
            <a:ext cx="619125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008F99"/>
                </a:solidFill>
                <a:latin typeface="Helvetica Neue"/>
                <a:ea typeface="Helvetica Neue"/>
                <a:cs typeface="Helvetica Neue"/>
                <a:sym typeface="Helvetica Neue"/>
              </a:rPr>
              <a:t>LEARNING OBJECTIVE AND EVIDENCE</a:t>
            </a:r>
            <a:endParaRPr/>
          </a:p>
        </p:txBody>
      </p:sp>
      <p:cxnSp>
        <p:nvCxnSpPr>
          <p:cNvPr id="393" name="Google Shape;393;p13"/>
          <p:cNvCxnSpPr/>
          <p:nvPr/>
        </p:nvCxnSpPr>
        <p:spPr>
          <a:xfrm>
            <a:off x="723900" y="1819275"/>
            <a:ext cx="10763250" cy="0"/>
          </a:xfrm>
          <a:prstGeom prst="straightConnector1">
            <a:avLst/>
          </a:prstGeom>
          <a:noFill/>
          <a:ln cap="flat" cmpd="sng" w="9525">
            <a:solidFill>
              <a:srgbClr val="CBD7DC"/>
            </a:solidFill>
            <a:prstDash val="solid"/>
            <a:round/>
            <a:headEnd len="sm" w="sm" type="none"/>
            <a:tailEnd len="sm" w="sm" type="none"/>
          </a:ln>
        </p:spPr>
      </p:cxnSp>
      <p:sp>
        <p:nvSpPr>
          <p:cNvPr id="394" name="Google Shape;394;p13"/>
          <p:cNvSpPr/>
          <p:nvPr/>
        </p:nvSpPr>
        <p:spPr>
          <a:xfrm>
            <a:off x="742950" y="2009775"/>
            <a:ext cx="1476375"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008F99"/>
                </a:solidFill>
                <a:latin typeface="Helvetica Neue"/>
                <a:ea typeface="Helvetica Neue"/>
                <a:cs typeface="Helvetica Neue"/>
                <a:sym typeface="Helvetica Neue"/>
              </a:rPr>
              <a:t>09:00–09:30</a:t>
            </a:r>
            <a:endParaRPr/>
          </a:p>
        </p:txBody>
      </p:sp>
      <p:sp>
        <p:nvSpPr>
          <p:cNvPr id="395" name="Google Shape;395;p13"/>
          <p:cNvSpPr/>
          <p:nvPr/>
        </p:nvSpPr>
        <p:spPr>
          <a:xfrm>
            <a:off x="2381250" y="2009775"/>
            <a:ext cx="26193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50">
                <a:solidFill>
                  <a:srgbClr val="12314B"/>
                </a:solidFill>
                <a:latin typeface="Helvetica Neue"/>
                <a:ea typeface="Helvetica Neue"/>
                <a:cs typeface="Helvetica Neue"/>
                <a:sym typeface="Helvetica Neue"/>
              </a:rPr>
              <a:t>Patient journey and scope</a:t>
            </a:r>
            <a:endParaRPr/>
          </a:p>
        </p:txBody>
      </p:sp>
      <p:sp>
        <p:nvSpPr>
          <p:cNvPr id="396" name="Google Shape;396;p13"/>
          <p:cNvSpPr/>
          <p:nvPr/>
        </p:nvSpPr>
        <p:spPr>
          <a:xfrm>
            <a:off x="5238750" y="2009775"/>
            <a:ext cx="6238875" cy="514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88">
                <a:solidFill>
                  <a:srgbClr val="12314B"/>
                </a:solidFill>
                <a:latin typeface="Helvetica Neue"/>
                <a:ea typeface="Helvetica Neue"/>
                <a:cs typeface="Helvetica Neue"/>
                <a:sym typeface="Helvetica Neue"/>
              </a:rPr>
              <a:t>Identify the immunization events and data needed across the shared patient journey.</a:t>
            </a:r>
            <a:endParaRPr/>
          </a:p>
        </p:txBody>
      </p:sp>
      <p:sp>
        <p:nvSpPr>
          <p:cNvPr id="397" name="Google Shape;397;p13"/>
          <p:cNvSpPr/>
          <p:nvPr/>
        </p:nvSpPr>
        <p:spPr>
          <a:xfrm>
            <a:off x="5238750" y="2533650"/>
            <a:ext cx="61912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38">
                <a:solidFill>
                  <a:srgbClr val="607383"/>
                </a:solidFill>
                <a:latin typeface="Helvetica Neue"/>
                <a:ea typeface="Helvetica Neue"/>
                <a:cs typeface="Helvetica Neue"/>
                <a:sym typeface="Helvetica Neue"/>
              </a:rPr>
              <a:t>Evidence: annotated journey and agreed core scenario</a:t>
            </a:r>
            <a:endParaRPr/>
          </a:p>
        </p:txBody>
      </p:sp>
      <p:cxnSp>
        <p:nvCxnSpPr>
          <p:cNvPr id="398" name="Google Shape;398;p13"/>
          <p:cNvCxnSpPr/>
          <p:nvPr/>
        </p:nvCxnSpPr>
        <p:spPr>
          <a:xfrm>
            <a:off x="723900" y="2847975"/>
            <a:ext cx="10763250" cy="0"/>
          </a:xfrm>
          <a:prstGeom prst="straightConnector1">
            <a:avLst/>
          </a:prstGeom>
          <a:noFill/>
          <a:ln cap="flat" cmpd="sng" w="9525">
            <a:solidFill>
              <a:srgbClr val="CBD7DC"/>
            </a:solidFill>
            <a:prstDash val="solid"/>
            <a:round/>
            <a:headEnd len="sm" w="sm" type="none"/>
            <a:tailEnd len="sm" w="sm" type="none"/>
          </a:ln>
        </p:spPr>
      </p:cxnSp>
      <p:sp>
        <p:nvSpPr>
          <p:cNvPr id="399" name="Google Shape;399;p13"/>
          <p:cNvSpPr/>
          <p:nvPr/>
        </p:nvSpPr>
        <p:spPr>
          <a:xfrm>
            <a:off x="742950" y="2943225"/>
            <a:ext cx="1476375"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008F99"/>
                </a:solidFill>
                <a:latin typeface="Helvetica Neue"/>
                <a:ea typeface="Helvetica Neue"/>
                <a:cs typeface="Helvetica Neue"/>
                <a:sym typeface="Helvetica Neue"/>
              </a:rPr>
              <a:t>09:30–10:15</a:t>
            </a:r>
            <a:endParaRPr/>
          </a:p>
        </p:txBody>
      </p:sp>
      <p:sp>
        <p:nvSpPr>
          <p:cNvPr id="400" name="Google Shape;400;p13"/>
          <p:cNvSpPr/>
          <p:nvPr/>
        </p:nvSpPr>
        <p:spPr>
          <a:xfrm>
            <a:off x="2381250" y="2943225"/>
            <a:ext cx="26193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50">
                <a:solidFill>
                  <a:srgbClr val="12314B"/>
                </a:solidFill>
                <a:latin typeface="Helvetica Neue"/>
                <a:ea typeface="Helvetica Neue"/>
                <a:cs typeface="Helvetica Neue"/>
                <a:sym typeface="Helvetica Neue"/>
              </a:rPr>
              <a:t>FHIR foundations</a:t>
            </a:r>
            <a:endParaRPr/>
          </a:p>
        </p:txBody>
      </p:sp>
      <p:sp>
        <p:nvSpPr>
          <p:cNvPr id="401" name="Google Shape;401;p13"/>
          <p:cNvSpPr/>
          <p:nvPr/>
        </p:nvSpPr>
        <p:spPr>
          <a:xfrm>
            <a:off x="5238750" y="2943225"/>
            <a:ext cx="6238875" cy="514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88">
                <a:solidFill>
                  <a:srgbClr val="12314B"/>
                </a:solidFill>
                <a:latin typeface="Helvetica Neue"/>
                <a:ea typeface="Helvetica Neue"/>
                <a:cs typeface="Helvetica Neue"/>
                <a:sym typeface="Helvetica Neue"/>
              </a:rPr>
              <a:t>Trace Patient and Immunization resources through the prepared FHIR service.</a:t>
            </a:r>
            <a:endParaRPr/>
          </a:p>
        </p:txBody>
      </p:sp>
      <p:sp>
        <p:nvSpPr>
          <p:cNvPr id="402" name="Google Shape;402;p13"/>
          <p:cNvSpPr/>
          <p:nvPr/>
        </p:nvSpPr>
        <p:spPr>
          <a:xfrm>
            <a:off x="5238750" y="3467100"/>
            <a:ext cx="61912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38">
                <a:solidFill>
                  <a:srgbClr val="607383"/>
                </a:solidFill>
                <a:latin typeface="Helvetica Neue"/>
                <a:ea typeface="Helvetica Neue"/>
                <a:cs typeface="Helvetica Neue"/>
                <a:sym typeface="Helvetica Neue"/>
              </a:rPr>
              <a:t>Evidence: annotated resources and references</a:t>
            </a:r>
            <a:endParaRPr/>
          </a:p>
        </p:txBody>
      </p:sp>
      <p:cxnSp>
        <p:nvCxnSpPr>
          <p:cNvPr id="403" name="Google Shape;403;p13"/>
          <p:cNvCxnSpPr/>
          <p:nvPr/>
        </p:nvCxnSpPr>
        <p:spPr>
          <a:xfrm>
            <a:off x="723900" y="3781425"/>
            <a:ext cx="10763250" cy="0"/>
          </a:xfrm>
          <a:prstGeom prst="straightConnector1">
            <a:avLst/>
          </a:prstGeom>
          <a:noFill/>
          <a:ln cap="flat" cmpd="sng" w="9525">
            <a:solidFill>
              <a:srgbClr val="CBD7DC"/>
            </a:solidFill>
            <a:prstDash val="solid"/>
            <a:round/>
            <a:headEnd len="sm" w="sm" type="none"/>
            <a:tailEnd len="sm" w="sm" type="none"/>
          </a:ln>
        </p:spPr>
      </p:cxnSp>
      <p:sp>
        <p:nvSpPr>
          <p:cNvPr id="404" name="Google Shape;404;p13"/>
          <p:cNvSpPr/>
          <p:nvPr/>
        </p:nvSpPr>
        <p:spPr>
          <a:xfrm>
            <a:off x="742950" y="3876675"/>
            <a:ext cx="1476375"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008F99"/>
                </a:solidFill>
                <a:latin typeface="Helvetica Neue"/>
                <a:ea typeface="Helvetica Neue"/>
                <a:cs typeface="Helvetica Neue"/>
                <a:sym typeface="Helvetica Neue"/>
              </a:rPr>
              <a:t>10:30–11:15</a:t>
            </a:r>
            <a:endParaRPr/>
          </a:p>
        </p:txBody>
      </p:sp>
      <p:sp>
        <p:nvSpPr>
          <p:cNvPr id="405" name="Google Shape;405;p13"/>
          <p:cNvSpPr/>
          <p:nvPr/>
        </p:nvSpPr>
        <p:spPr>
          <a:xfrm>
            <a:off x="2381250" y="3876675"/>
            <a:ext cx="26193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50">
                <a:solidFill>
                  <a:srgbClr val="12314B"/>
                </a:solidFill>
                <a:latin typeface="Helvetica Neue"/>
                <a:ea typeface="Helvetica Neue"/>
                <a:cs typeface="Helvetica Neue"/>
                <a:sym typeface="Helvetica Neue"/>
              </a:rPr>
              <a:t>Terminology and profiles</a:t>
            </a:r>
            <a:endParaRPr/>
          </a:p>
        </p:txBody>
      </p:sp>
      <p:sp>
        <p:nvSpPr>
          <p:cNvPr id="406" name="Google Shape;406;p13"/>
          <p:cNvSpPr/>
          <p:nvPr/>
        </p:nvSpPr>
        <p:spPr>
          <a:xfrm>
            <a:off x="5238750" y="3876675"/>
            <a:ext cx="6238875" cy="514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88">
                <a:solidFill>
                  <a:srgbClr val="12314B"/>
                </a:solidFill>
                <a:latin typeface="Helvetica Neue"/>
                <a:ea typeface="Helvetica Neue"/>
                <a:cs typeface="Helvetica Neue"/>
                <a:sym typeface="Helvetica Neue"/>
              </a:rPr>
              <a:t>Read an implementation guide, correct a coded example and explain a validation message.</a:t>
            </a:r>
            <a:endParaRPr/>
          </a:p>
        </p:txBody>
      </p:sp>
      <p:sp>
        <p:nvSpPr>
          <p:cNvPr id="407" name="Google Shape;407;p13"/>
          <p:cNvSpPr/>
          <p:nvPr/>
        </p:nvSpPr>
        <p:spPr>
          <a:xfrm>
            <a:off x="5238750" y="4400550"/>
            <a:ext cx="61912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38">
                <a:solidFill>
                  <a:srgbClr val="607383"/>
                </a:solidFill>
                <a:latin typeface="Helvetica Neue"/>
                <a:ea typeface="Helvetica Neue"/>
                <a:cs typeface="Helvetica Neue"/>
                <a:sym typeface="Helvetica Neue"/>
              </a:rPr>
              <a:t>Evidence: corrected example and terminology decision</a:t>
            </a:r>
            <a:endParaRPr/>
          </a:p>
        </p:txBody>
      </p:sp>
      <p:cxnSp>
        <p:nvCxnSpPr>
          <p:cNvPr id="408" name="Google Shape;408;p13"/>
          <p:cNvCxnSpPr/>
          <p:nvPr/>
        </p:nvCxnSpPr>
        <p:spPr>
          <a:xfrm>
            <a:off x="723900" y="4714875"/>
            <a:ext cx="10763250" cy="0"/>
          </a:xfrm>
          <a:prstGeom prst="straightConnector1">
            <a:avLst/>
          </a:prstGeom>
          <a:noFill/>
          <a:ln cap="flat" cmpd="sng" w="9525">
            <a:solidFill>
              <a:srgbClr val="CBD7DC"/>
            </a:solidFill>
            <a:prstDash val="solid"/>
            <a:round/>
            <a:headEnd len="sm" w="sm" type="none"/>
            <a:tailEnd len="sm" w="sm" type="none"/>
          </a:ln>
        </p:spPr>
      </p:cxnSp>
      <p:sp>
        <p:nvSpPr>
          <p:cNvPr id="409" name="Google Shape;409;p13"/>
          <p:cNvSpPr/>
          <p:nvPr/>
        </p:nvSpPr>
        <p:spPr>
          <a:xfrm>
            <a:off x="742950" y="4810125"/>
            <a:ext cx="1476375"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008F99"/>
                </a:solidFill>
                <a:latin typeface="Helvetica Neue"/>
                <a:ea typeface="Helvetica Neue"/>
                <a:cs typeface="Helvetica Neue"/>
                <a:sym typeface="Helvetica Neue"/>
              </a:rPr>
              <a:t>11:15–12:15</a:t>
            </a:r>
            <a:endParaRPr/>
          </a:p>
        </p:txBody>
      </p:sp>
      <p:sp>
        <p:nvSpPr>
          <p:cNvPr id="410" name="Google Shape;410;p13"/>
          <p:cNvSpPr/>
          <p:nvPr/>
        </p:nvSpPr>
        <p:spPr>
          <a:xfrm>
            <a:off x="2381250" y="4810125"/>
            <a:ext cx="26193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50">
                <a:solidFill>
                  <a:srgbClr val="12314B"/>
                </a:solidFill>
                <a:latin typeface="Helvetica Neue"/>
                <a:ea typeface="Helvetica Neue"/>
                <a:cs typeface="Helvetica Neue"/>
                <a:sym typeface="Helvetica Neue"/>
              </a:rPr>
              <a:t>Existing data to FHIR</a:t>
            </a:r>
            <a:endParaRPr/>
          </a:p>
        </p:txBody>
      </p:sp>
      <p:sp>
        <p:nvSpPr>
          <p:cNvPr id="411" name="Google Shape;411;p13"/>
          <p:cNvSpPr/>
          <p:nvPr/>
        </p:nvSpPr>
        <p:spPr>
          <a:xfrm>
            <a:off x="5238750" y="4810125"/>
            <a:ext cx="6238875" cy="514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88">
                <a:solidFill>
                  <a:srgbClr val="12314B"/>
                </a:solidFill>
                <a:latin typeface="Helvetica Neue"/>
                <a:ea typeface="Helvetica Neue"/>
                <a:cs typeface="Helvetica Neue"/>
                <a:sym typeface="Helvetica Neue"/>
              </a:rPr>
              <a:t>Map a fictional registry record to FHIR and compare a FHIR façade with a FHIR-native approach.</a:t>
            </a:r>
            <a:endParaRPr/>
          </a:p>
        </p:txBody>
      </p:sp>
      <p:sp>
        <p:nvSpPr>
          <p:cNvPr id="412" name="Google Shape;412;p13"/>
          <p:cNvSpPr/>
          <p:nvPr/>
        </p:nvSpPr>
        <p:spPr>
          <a:xfrm>
            <a:off x="5238750" y="5334000"/>
            <a:ext cx="61912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38">
                <a:solidFill>
                  <a:srgbClr val="607383"/>
                </a:solidFill>
                <a:latin typeface="Helvetica Neue"/>
                <a:ea typeface="Helvetica Neue"/>
                <a:cs typeface="Helvetica Neue"/>
                <a:sym typeface="Helvetica Neue"/>
              </a:rPr>
              <a:t>Evidence: mapping worksheet and approach choice</a:t>
            </a:r>
            <a:endParaRPr/>
          </a:p>
        </p:txBody>
      </p:sp>
      <p:cxnSp>
        <p:nvCxnSpPr>
          <p:cNvPr id="413" name="Google Shape;413;p13"/>
          <p:cNvCxnSpPr/>
          <p:nvPr/>
        </p:nvCxnSpPr>
        <p:spPr>
          <a:xfrm>
            <a:off x="723900" y="5648325"/>
            <a:ext cx="10763250" cy="0"/>
          </a:xfrm>
          <a:prstGeom prst="straightConnector1">
            <a:avLst/>
          </a:prstGeom>
          <a:noFill/>
          <a:ln cap="flat" cmpd="sng" w="9525">
            <a:solidFill>
              <a:srgbClr val="CBD7DC"/>
            </a:solidFill>
            <a:prstDash val="solid"/>
            <a:round/>
            <a:headEnd len="sm" w="sm" type="none"/>
            <a:tailEnd len="sm" w="sm" type="none"/>
          </a:ln>
        </p:spPr>
      </p:cxnSp>
      <p:sp>
        <p:nvSpPr>
          <p:cNvPr id="414" name="Google Shape;414;p13"/>
          <p:cNvSpPr/>
          <p:nvPr/>
        </p:nvSpPr>
        <p:spPr>
          <a:xfrm>
            <a:off x="742950" y="5905500"/>
            <a:ext cx="1057275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607383"/>
                </a:solidFill>
                <a:latin typeface="Helvetica Neue"/>
                <a:ea typeface="Helvetica Neue"/>
                <a:cs typeface="Helvetica Neue"/>
                <a:sym typeface="Helvetica Neue"/>
              </a:rPr>
              <a:t>Break 10:15–10:30     Lunch 12:15–13:15</a:t>
            </a:r>
            <a:endParaRPr/>
          </a:p>
        </p:txBody>
      </p:sp>
      <p:cxnSp>
        <p:nvCxnSpPr>
          <p:cNvPr id="415" name="Google Shape;415;p13"/>
          <p:cNvCxnSpPr/>
          <p:nvPr/>
        </p:nvCxnSpPr>
        <p:spPr>
          <a:xfrm>
            <a:off x="609600" y="6477000"/>
            <a:ext cx="10953750" cy="0"/>
          </a:xfrm>
          <a:prstGeom prst="straightConnector1">
            <a:avLst/>
          </a:prstGeom>
          <a:noFill/>
          <a:ln cap="flat" cmpd="sng" w="9525">
            <a:solidFill>
              <a:srgbClr val="CBD7DC"/>
            </a:solidFill>
            <a:prstDash val="solid"/>
            <a:round/>
            <a:headEnd len="sm" w="sm" type="none"/>
            <a:tailEnd len="sm" w="sm" type="none"/>
          </a:ln>
        </p:spPr>
      </p:cxnSp>
      <p:sp>
        <p:nvSpPr>
          <p:cNvPr id="416" name="Google Shape;416;p13"/>
          <p:cNvSpPr/>
          <p:nvPr/>
        </p:nvSpPr>
        <p:spPr>
          <a:xfrm>
            <a:off x="704850" y="6619875"/>
            <a:ext cx="66675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088">
                <a:solidFill>
                  <a:srgbClr val="607383"/>
                </a:solidFill>
                <a:latin typeface="Helvetica Neue"/>
                <a:ea typeface="Helvetica Neue"/>
                <a:cs typeface="Helvetica Neue"/>
                <a:sym typeface="Helvetica Neue"/>
              </a:rPr>
              <a:t>Thailand technologist workstream, partner preparation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421" name="Shape 421"/>
        <p:cNvGrpSpPr/>
        <p:nvPr/>
      </p:nvGrpSpPr>
      <p:grpSpPr>
        <a:xfrm>
          <a:off x="0" y="0"/>
          <a:ext cx="0" cy="0"/>
          <a:chOff x="0" y="0"/>
          <a:chExt cx="0" cy="0"/>
        </a:xfrm>
      </p:grpSpPr>
      <p:sp>
        <p:nvSpPr>
          <p:cNvPr id="422" name="Google Shape;422;p14"/>
          <p:cNvSpPr/>
          <p:nvPr/>
        </p:nvSpPr>
        <p:spPr>
          <a:xfrm>
            <a:off x="704850" y="428625"/>
            <a:ext cx="9906000" cy="523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925">
                <a:solidFill>
                  <a:srgbClr val="12314B"/>
                </a:solidFill>
                <a:latin typeface="Helvetica Neue"/>
                <a:ea typeface="Helvetica Neue"/>
                <a:cs typeface="Helvetica Neue"/>
                <a:sym typeface="Helvetica Neue"/>
              </a:rPr>
              <a:t>Day 1 learning objectives, afternoon</a:t>
            </a:r>
            <a:endParaRPr/>
          </a:p>
        </p:txBody>
      </p:sp>
      <p:sp>
        <p:nvSpPr>
          <p:cNvPr id="423" name="Google Shape;423;p14"/>
          <p:cNvSpPr/>
          <p:nvPr/>
        </p:nvSpPr>
        <p:spPr>
          <a:xfrm>
            <a:off x="11144250" y="485775"/>
            <a:ext cx="381000" cy="2857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en-US" sz="1275">
                <a:solidFill>
                  <a:srgbClr val="008F99"/>
                </a:solidFill>
                <a:latin typeface="Helvetica Neue"/>
                <a:ea typeface="Helvetica Neue"/>
                <a:cs typeface="Helvetica Neue"/>
                <a:sym typeface="Helvetica Neue"/>
              </a:rPr>
              <a:t>08</a:t>
            </a:r>
            <a:endParaRPr/>
          </a:p>
        </p:txBody>
      </p:sp>
      <p:sp>
        <p:nvSpPr>
          <p:cNvPr id="424" name="Google Shape;424;p14"/>
          <p:cNvSpPr/>
          <p:nvPr/>
        </p:nvSpPr>
        <p:spPr>
          <a:xfrm>
            <a:off x="723900" y="971550"/>
            <a:ext cx="1047750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00">
                <a:solidFill>
                  <a:srgbClr val="607383"/>
                </a:solidFill>
                <a:latin typeface="Helvetica Neue"/>
                <a:ea typeface="Helvetica Neue"/>
                <a:cs typeface="Helvetica Neue"/>
                <a:sym typeface="Helvetica Neue"/>
              </a:rPr>
              <a:t>Transformation, validation and open reference tooling</a:t>
            </a:r>
            <a:endParaRPr/>
          </a:p>
        </p:txBody>
      </p:sp>
      <p:cxnSp>
        <p:nvCxnSpPr>
          <p:cNvPr id="425" name="Google Shape;425;p14"/>
          <p:cNvCxnSpPr/>
          <p:nvPr/>
        </p:nvCxnSpPr>
        <p:spPr>
          <a:xfrm>
            <a:off x="609600" y="1276350"/>
            <a:ext cx="876300" cy="0"/>
          </a:xfrm>
          <a:prstGeom prst="straightConnector1">
            <a:avLst/>
          </a:prstGeom>
          <a:noFill/>
          <a:ln cap="flat" cmpd="sng" w="38100">
            <a:solidFill>
              <a:srgbClr val="008F99"/>
            </a:solidFill>
            <a:prstDash val="solid"/>
            <a:round/>
            <a:headEnd len="sm" w="sm" type="none"/>
            <a:tailEnd len="sm" w="sm" type="none"/>
          </a:ln>
        </p:spPr>
      </p:cxnSp>
      <p:sp>
        <p:nvSpPr>
          <p:cNvPr id="426" name="Google Shape;426;p14"/>
          <p:cNvSpPr/>
          <p:nvPr/>
        </p:nvSpPr>
        <p:spPr>
          <a:xfrm>
            <a:off x="742950" y="1562100"/>
            <a:ext cx="1381125"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008F99"/>
                </a:solidFill>
                <a:latin typeface="Helvetica Neue"/>
                <a:ea typeface="Helvetica Neue"/>
                <a:cs typeface="Helvetica Neue"/>
                <a:sym typeface="Helvetica Neue"/>
              </a:rPr>
              <a:t>TIME</a:t>
            </a:r>
            <a:endParaRPr/>
          </a:p>
        </p:txBody>
      </p:sp>
      <p:sp>
        <p:nvSpPr>
          <p:cNvPr id="427" name="Google Shape;427;p14"/>
          <p:cNvSpPr/>
          <p:nvPr/>
        </p:nvSpPr>
        <p:spPr>
          <a:xfrm>
            <a:off x="2381250" y="1562100"/>
            <a:ext cx="2524125"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008F99"/>
                </a:solidFill>
                <a:latin typeface="Helvetica Neue"/>
                <a:ea typeface="Helvetica Neue"/>
                <a:cs typeface="Helvetica Neue"/>
                <a:sym typeface="Helvetica Neue"/>
              </a:rPr>
              <a:t>SESSION</a:t>
            </a:r>
            <a:endParaRPr/>
          </a:p>
        </p:txBody>
      </p:sp>
      <p:sp>
        <p:nvSpPr>
          <p:cNvPr id="428" name="Google Shape;428;p14"/>
          <p:cNvSpPr/>
          <p:nvPr/>
        </p:nvSpPr>
        <p:spPr>
          <a:xfrm>
            <a:off x="5238750" y="1562100"/>
            <a:ext cx="619125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008F99"/>
                </a:solidFill>
                <a:latin typeface="Helvetica Neue"/>
                <a:ea typeface="Helvetica Neue"/>
                <a:cs typeface="Helvetica Neue"/>
                <a:sym typeface="Helvetica Neue"/>
              </a:rPr>
              <a:t>LEARNING OBJECTIVE AND EVIDENCE</a:t>
            </a:r>
            <a:endParaRPr/>
          </a:p>
        </p:txBody>
      </p:sp>
      <p:cxnSp>
        <p:nvCxnSpPr>
          <p:cNvPr id="429" name="Google Shape;429;p14"/>
          <p:cNvCxnSpPr/>
          <p:nvPr/>
        </p:nvCxnSpPr>
        <p:spPr>
          <a:xfrm>
            <a:off x="723900" y="1819275"/>
            <a:ext cx="10763250" cy="0"/>
          </a:xfrm>
          <a:prstGeom prst="straightConnector1">
            <a:avLst/>
          </a:prstGeom>
          <a:noFill/>
          <a:ln cap="flat" cmpd="sng" w="9525">
            <a:solidFill>
              <a:srgbClr val="CBD7DC"/>
            </a:solidFill>
            <a:prstDash val="solid"/>
            <a:round/>
            <a:headEnd len="sm" w="sm" type="none"/>
            <a:tailEnd len="sm" w="sm" type="none"/>
          </a:ln>
        </p:spPr>
      </p:cxnSp>
      <p:sp>
        <p:nvSpPr>
          <p:cNvPr id="430" name="Google Shape;430;p14"/>
          <p:cNvSpPr/>
          <p:nvPr/>
        </p:nvSpPr>
        <p:spPr>
          <a:xfrm>
            <a:off x="742950" y="2009775"/>
            <a:ext cx="1476375"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008F99"/>
                </a:solidFill>
                <a:latin typeface="Helvetica Neue"/>
                <a:ea typeface="Helvetica Neue"/>
                <a:cs typeface="Helvetica Neue"/>
                <a:sym typeface="Helvetica Neue"/>
              </a:rPr>
              <a:t>13:15–14:30</a:t>
            </a:r>
            <a:endParaRPr/>
          </a:p>
        </p:txBody>
      </p:sp>
      <p:sp>
        <p:nvSpPr>
          <p:cNvPr id="431" name="Google Shape;431;p14"/>
          <p:cNvSpPr/>
          <p:nvPr/>
        </p:nvSpPr>
        <p:spPr>
          <a:xfrm>
            <a:off x="2381250" y="2009775"/>
            <a:ext cx="26193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50">
                <a:solidFill>
                  <a:srgbClr val="12314B"/>
                </a:solidFill>
                <a:latin typeface="Helvetica Neue"/>
                <a:ea typeface="Helvetica Neue"/>
                <a:cs typeface="Helvetica Neue"/>
                <a:sym typeface="Helvetica Neue"/>
              </a:rPr>
              <a:t>Mapping and transformation lab</a:t>
            </a:r>
            <a:endParaRPr/>
          </a:p>
        </p:txBody>
      </p:sp>
      <p:sp>
        <p:nvSpPr>
          <p:cNvPr id="432" name="Google Shape;432;p14"/>
          <p:cNvSpPr/>
          <p:nvPr/>
        </p:nvSpPr>
        <p:spPr>
          <a:xfrm>
            <a:off x="5238750" y="2009775"/>
            <a:ext cx="6238875" cy="514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88">
                <a:solidFill>
                  <a:srgbClr val="12314B"/>
                </a:solidFill>
                <a:latin typeface="Helvetica Neue"/>
                <a:ea typeface="Helvetica Neue"/>
                <a:cs typeface="Helvetica Neue"/>
                <a:sym typeface="Helvetica Neue"/>
              </a:rPr>
              <a:t>Run a prepared StructureMap or equivalent transformation, compare the FHIR output and repair one discrepancy.</a:t>
            </a:r>
            <a:endParaRPr/>
          </a:p>
        </p:txBody>
      </p:sp>
      <p:sp>
        <p:nvSpPr>
          <p:cNvPr id="433" name="Google Shape;433;p14"/>
          <p:cNvSpPr/>
          <p:nvPr/>
        </p:nvSpPr>
        <p:spPr>
          <a:xfrm>
            <a:off x="5238750" y="2533650"/>
            <a:ext cx="61912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38">
                <a:solidFill>
                  <a:srgbClr val="607383"/>
                </a:solidFill>
                <a:latin typeface="Helvetica Neue"/>
                <a:ea typeface="Helvetica Neue"/>
                <a:cs typeface="Helvetica Neue"/>
                <a:sym typeface="Helvetica Neue"/>
              </a:rPr>
              <a:t>Evidence: transformed example and discrepancy log</a:t>
            </a:r>
            <a:endParaRPr/>
          </a:p>
        </p:txBody>
      </p:sp>
      <p:cxnSp>
        <p:nvCxnSpPr>
          <p:cNvPr id="434" name="Google Shape;434;p14"/>
          <p:cNvCxnSpPr/>
          <p:nvPr/>
        </p:nvCxnSpPr>
        <p:spPr>
          <a:xfrm>
            <a:off x="723900" y="2847975"/>
            <a:ext cx="10763250" cy="0"/>
          </a:xfrm>
          <a:prstGeom prst="straightConnector1">
            <a:avLst/>
          </a:prstGeom>
          <a:noFill/>
          <a:ln cap="flat" cmpd="sng" w="9525">
            <a:solidFill>
              <a:srgbClr val="CBD7DC"/>
            </a:solidFill>
            <a:prstDash val="solid"/>
            <a:round/>
            <a:headEnd len="sm" w="sm" type="none"/>
            <a:tailEnd len="sm" w="sm" type="none"/>
          </a:ln>
        </p:spPr>
      </p:cxnSp>
      <p:sp>
        <p:nvSpPr>
          <p:cNvPr id="435" name="Google Shape;435;p14"/>
          <p:cNvSpPr/>
          <p:nvPr/>
        </p:nvSpPr>
        <p:spPr>
          <a:xfrm>
            <a:off x="742950" y="2943225"/>
            <a:ext cx="1476375"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008F99"/>
                </a:solidFill>
                <a:latin typeface="Helvetica Neue"/>
                <a:ea typeface="Helvetica Neue"/>
                <a:cs typeface="Helvetica Neue"/>
                <a:sym typeface="Helvetica Neue"/>
              </a:rPr>
              <a:t>14:45–15:30</a:t>
            </a:r>
            <a:endParaRPr/>
          </a:p>
        </p:txBody>
      </p:sp>
      <p:sp>
        <p:nvSpPr>
          <p:cNvPr id="436" name="Google Shape;436;p14"/>
          <p:cNvSpPr/>
          <p:nvPr/>
        </p:nvSpPr>
        <p:spPr>
          <a:xfrm>
            <a:off x="2381250" y="2943225"/>
            <a:ext cx="26193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50">
                <a:solidFill>
                  <a:srgbClr val="12314B"/>
                </a:solidFill>
                <a:latin typeface="Helvetica Neue"/>
                <a:ea typeface="Helvetica Neue"/>
                <a:cs typeface="Helvetica Neue"/>
                <a:sym typeface="Helvetica Neue"/>
              </a:rPr>
              <a:t>Open tooling and validation</a:t>
            </a:r>
            <a:endParaRPr/>
          </a:p>
        </p:txBody>
      </p:sp>
      <p:sp>
        <p:nvSpPr>
          <p:cNvPr id="437" name="Google Shape;437;p14"/>
          <p:cNvSpPr/>
          <p:nvPr/>
        </p:nvSpPr>
        <p:spPr>
          <a:xfrm>
            <a:off x="5238750" y="2943225"/>
            <a:ext cx="6238875" cy="514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88">
                <a:solidFill>
                  <a:srgbClr val="12314B"/>
                </a:solidFill>
                <a:latin typeface="Helvetica Neue"/>
                <a:ea typeface="Helvetica Neue"/>
                <a:cs typeface="Helvetica Neue"/>
                <a:sym typeface="Helvetica Neue"/>
              </a:rPr>
              <a:t>Inspect a FHIR transaction in a stable OHS reference demo, then run the agreed validator.</a:t>
            </a:r>
            <a:endParaRPr/>
          </a:p>
        </p:txBody>
      </p:sp>
      <p:sp>
        <p:nvSpPr>
          <p:cNvPr id="438" name="Google Shape;438;p14"/>
          <p:cNvSpPr/>
          <p:nvPr/>
        </p:nvSpPr>
        <p:spPr>
          <a:xfrm>
            <a:off x="5238750" y="3467100"/>
            <a:ext cx="61912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38">
                <a:solidFill>
                  <a:srgbClr val="607383"/>
                </a:solidFill>
                <a:latin typeface="Helvetica Neue"/>
                <a:ea typeface="Helvetica Neue"/>
                <a:cs typeface="Helvetica Neue"/>
                <a:sym typeface="Helvetica Neue"/>
              </a:rPr>
              <a:t>Evidence: transaction trace and validation result</a:t>
            </a:r>
            <a:endParaRPr/>
          </a:p>
        </p:txBody>
      </p:sp>
      <p:cxnSp>
        <p:nvCxnSpPr>
          <p:cNvPr id="439" name="Google Shape;439;p14"/>
          <p:cNvCxnSpPr/>
          <p:nvPr/>
        </p:nvCxnSpPr>
        <p:spPr>
          <a:xfrm>
            <a:off x="723900" y="3781425"/>
            <a:ext cx="10763250" cy="0"/>
          </a:xfrm>
          <a:prstGeom prst="straightConnector1">
            <a:avLst/>
          </a:prstGeom>
          <a:noFill/>
          <a:ln cap="flat" cmpd="sng" w="9525">
            <a:solidFill>
              <a:srgbClr val="CBD7DC"/>
            </a:solidFill>
            <a:prstDash val="solid"/>
            <a:round/>
            <a:headEnd len="sm" w="sm" type="none"/>
            <a:tailEnd len="sm" w="sm" type="none"/>
          </a:ln>
        </p:spPr>
      </p:cxnSp>
      <p:sp>
        <p:nvSpPr>
          <p:cNvPr id="440" name="Google Shape;440;p14"/>
          <p:cNvSpPr/>
          <p:nvPr/>
        </p:nvSpPr>
        <p:spPr>
          <a:xfrm>
            <a:off x="742950" y="3876675"/>
            <a:ext cx="1476375"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008F99"/>
                </a:solidFill>
                <a:latin typeface="Helvetica Neue"/>
                <a:ea typeface="Helvetica Neue"/>
                <a:cs typeface="Helvetica Neue"/>
                <a:sym typeface="Helvetica Neue"/>
              </a:rPr>
              <a:t>15:30–16:15</a:t>
            </a:r>
            <a:endParaRPr/>
          </a:p>
        </p:txBody>
      </p:sp>
      <p:sp>
        <p:nvSpPr>
          <p:cNvPr id="441" name="Google Shape;441;p14"/>
          <p:cNvSpPr/>
          <p:nvPr/>
        </p:nvSpPr>
        <p:spPr>
          <a:xfrm>
            <a:off x="2381250" y="3876675"/>
            <a:ext cx="26193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50">
                <a:solidFill>
                  <a:srgbClr val="12314B"/>
                </a:solidFill>
                <a:latin typeface="Helvetica Neue"/>
                <a:ea typeface="Helvetica Neue"/>
                <a:cs typeface="Helvetica Neue"/>
                <a:sym typeface="Helvetica Neue"/>
              </a:rPr>
              <a:t>Differentiated lab choices</a:t>
            </a:r>
            <a:endParaRPr/>
          </a:p>
        </p:txBody>
      </p:sp>
      <p:sp>
        <p:nvSpPr>
          <p:cNvPr id="442" name="Google Shape;442;p14"/>
          <p:cNvSpPr/>
          <p:nvPr/>
        </p:nvSpPr>
        <p:spPr>
          <a:xfrm>
            <a:off x="5238750" y="3876675"/>
            <a:ext cx="6238875" cy="514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88">
                <a:solidFill>
                  <a:srgbClr val="12314B"/>
                </a:solidFill>
                <a:latin typeface="Helvetica Neue"/>
                <a:ea typeface="Helvetica Neue"/>
                <a:cs typeface="Helvetica Neue"/>
                <a:sym typeface="Helvetica Neue"/>
              </a:rPr>
              <a:t>Complete a guided task in resource repair, mapping, terminology or OHS configuration, then review a peer result.</a:t>
            </a:r>
            <a:endParaRPr/>
          </a:p>
        </p:txBody>
      </p:sp>
      <p:sp>
        <p:nvSpPr>
          <p:cNvPr id="443" name="Google Shape;443;p14"/>
          <p:cNvSpPr/>
          <p:nvPr/>
        </p:nvSpPr>
        <p:spPr>
          <a:xfrm>
            <a:off x="5238750" y="4400550"/>
            <a:ext cx="61912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38">
                <a:solidFill>
                  <a:srgbClr val="607383"/>
                </a:solidFill>
                <a:latin typeface="Helvetica Neue"/>
                <a:ea typeface="Helvetica Neue"/>
                <a:cs typeface="Helvetica Neue"/>
                <a:sym typeface="Helvetica Neue"/>
              </a:rPr>
              <a:t>Evidence: one station-ready artifact</a:t>
            </a:r>
            <a:endParaRPr/>
          </a:p>
        </p:txBody>
      </p:sp>
      <p:cxnSp>
        <p:nvCxnSpPr>
          <p:cNvPr id="444" name="Google Shape;444;p14"/>
          <p:cNvCxnSpPr/>
          <p:nvPr/>
        </p:nvCxnSpPr>
        <p:spPr>
          <a:xfrm>
            <a:off x="723900" y="4714875"/>
            <a:ext cx="10763250" cy="0"/>
          </a:xfrm>
          <a:prstGeom prst="straightConnector1">
            <a:avLst/>
          </a:prstGeom>
          <a:noFill/>
          <a:ln cap="flat" cmpd="sng" w="9525">
            <a:solidFill>
              <a:srgbClr val="CBD7DC"/>
            </a:solidFill>
            <a:prstDash val="solid"/>
            <a:round/>
            <a:headEnd len="sm" w="sm" type="none"/>
            <a:tailEnd len="sm" w="sm" type="none"/>
          </a:ln>
        </p:spPr>
      </p:cxnSp>
      <p:sp>
        <p:nvSpPr>
          <p:cNvPr id="445" name="Google Shape;445;p14"/>
          <p:cNvSpPr/>
          <p:nvPr/>
        </p:nvSpPr>
        <p:spPr>
          <a:xfrm>
            <a:off x="742950" y="4810125"/>
            <a:ext cx="1476375"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008F99"/>
                </a:solidFill>
                <a:latin typeface="Helvetica Neue"/>
                <a:ea typeface="Helvetica Neue"/>
                <a:cs typeface="Helvetica Neue"/>
                <a:sym typeface="Helvetica Neue"/>
              </a:rPr>
              <a:t>16:15–17:00</a:t>
            </a:r>
            <a:endParaRPr/>
          </a:p>
        </p:txBody>
      </p:sp>
      <p:sp>
        <p:nvSpPr>
          <p:cNvPr id="446" name="Google Shape;446;p14"/>
          <p:cNvSpPr/>
          <p:nvPr/>
        </p:nvSpPr>
        <p:spPr>
          <a:xfrm>
            <a:off x="2381250" y="4810125"/>
            <a:ext cx="26193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50">
                <a:solidFill>
                  <a:srgbClr val="12314B"/>
                </a:solidFill>
                <a:latin typeface="Helvetica Neue"/>
                <a:ea typeface="Helvetica Neue"/>
                <a:cs typeface="Helvetica Neue"/>
                <a:sym typeface="Helvetica Neue"/>
              </a:rPr>
              <a:t>Joint synthesis</a:t>
            </a:r>
            <a:endParaRPr/>
          </a:p>
        </p:txBody>
      </p:sp>
      <p:sp>
        <p:nvSpPr>
          <p:cNvPr id="447" name="Google Shape;447;p14"/>
          <p:cNvSpPr/>
          <p:nvPr/>
        </p:nvSpPr>
        <p:spPr>
          <a:xfrm>
            <a:off x="5238750" y="4810125"/>
            <a:ext cx="6238875" cy="514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88">
                <a:solidFill>
                  <a:srgbClr val="12314B"/>
                </a:solidFill>
                <a:latin typeface="Helvetica Neue"/>
                <a:ea typeface="Helvetica Neue"/>
                <a:cs typeface="Helvetica Neue"/>
                <a:sym typeface="Helvetica Neue"/>
              </a:rPr>
              <a:t>Explain a mapping choice, one test result and an unresolved issue to the planner workstream.</a:t>
            </a:r>
            <a:endParaRPr/>
          </a:p>
        </p:txBody>
      </p:sp>
      <p:sp>
        <p:nvSpPr>
          <p:cNvPr id="448" name="Google Shape;448;p14"/>
          <p:cNvSpPr/>
          <p:nvPr/>
        </p:nvSpPr>
        <p:spPr>
          <a:xfrm>
            <a:off x="5238750" y="5334000"/>
            <a:ext cx="61912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38">
                <a:solidFill>
                  <a:srgbClr val="607383"/>
                </a:solidFill>
                <a:latin typeface="Helvetica Neue"/>
                <a:ea typeface="Helvetica Neue"/>
                <a:cs typeface="Helvetica Neue"/>
                <a:sym typeface="Helvetica Neue"/>
              </a:rPr>
              <a:t>Evidence: shared evidence board and issue log</a:t>
            </a:r>
            <a:endParaRPr/>
          </a:p>
        </p:txBody>
      </p:sp>
      <p:cxnSp>
        <p:nvCxnSpPr>
          <p:cNvPr id="449" name="Google Shape;449;p14"/>
          <p:cNvCxnSpPr/>
          <p:nvPr/>
        </p:nvCxnSpPr>
        <p:spPr>
          <a:xfrm>
            <a:off x="723900" y="5648325"/>
            <a:ext cx="10763250" cy="0"/>
          </a:xfrm>
          <a:prstGeom prst="straightConnector1">
            <a:avLst/>
          </a:prstGeom>
          <a:noFill/>
          <a:ln cap="flat" cmpd="sng" w="9525">
            <a:solidFill>
              <a:srgbClr val="CBD7DC"/>
            </a:solidFill>
            <a:prstDash val="solid"/>
            <a:round/>
            <a:headEnd len="sm" w="sm" type="none"/>
            <a:tailEnd len="sm" w="sm" type="none"/>
          </a:ln>
        </p:spPr>
      </p:cxnSp>
      <p:sp>
        <p:nvSpPr>
          <p:cNvPr id="450" name="Google Shape;450;p14"/>
          <p:cNvSpPr/>
          <p:nvPr/>
        </p:nvSpPr>
        <p:spPr>
          <a:xfrm>
            <a:off x="742950" y="5905500"/>
            <a:ext cx="1057275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607383"/>
                </a:solidFill>
                <a:latin typeface="Helvetica Neue"/>
                <a:ea typeface="Helvetica Neue"/>
                <a:cs typeface="Helvetica Neue"/>
                <a:sym typeface="Helvetica Neue"/>
              </a:rPr>
              <a:t>Break 14:30–14:45     Shared checkpoint at 16:15</a:t>
            </a:r>
            <a:endParaRPr/>
          </a:p>
        </p:txBody>
      </p:sp>
      <p:cxnSp>
        <p:nvCxnSpPr>
          <p:cNvPr id="451" name="Google Shape;451;p14"/>
          <p:cNvCxnSpPr/>
          <p:nvPr/>
        </p:nvCxnSpPr>
        <p:spPr>
          <a:xfrm>
            <a:off x="609600" y="6477000"/>
            <a:ext cx="10953750" cy="0"/>
          </a:xfrm>
          <a:prstGeom prst="straightConnector1">
            <a:avLst/>
          </a:prstGeom>
          <a:noFill/>
          <a:ln cap="flat" cmpd="sng" w="9525">
            <a:solidFill>
              <a:srgbClr val="CBD7DC"/>
            </a:solidFill>
            <a:prstDash val="solid"/>
            <a:round/>
            <a:headEnd len="sm" w="sm" type="none"/>
            <a:tailEnd len="sm" w="sm" type="none"/>
          </a:ln>
        </p:spPr>
      </p:cxnSp>
      <p:sp>
        <p:nvSpPr>
          <p:cNvPr id="452" name="Google Shape;452;p14"/>
          <p:cNvSpPr/>
          <p:nvPr/>
        </p:nvSpPr>
        <p:spPr>
          <a:xfrm>
            <a:off x="704850" y="6619875"/>
            <a:ext cx="66675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088">
                <a:solidFill>
                  <a:srgbClr val="607383"/>
                </a:solidFill>
                <a:latin typeface="Helvetica Neue"/>
                <a:ea typeface="Helvetica Neue"/>
                <a:cs typeface="Helvetica Neue"/>
                <a:sym typeface="Helvetica Neue"/>
              </a:rPr>
              <a:t>Thailand technologist workstream, partner preparation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457" name="Shape 457"/>
        <p:cNvGrpSpPr/>
        <p:nvPr/>
      </p:nvGrpSpPr>
      <p:grpSpPr>
        <a:xfrm>
          <a:off x="0" y="0"/>
          <a:ext cx="0" cy="0"/>
          <a:chOff x="0" y="0"/>
          <a:chExt cx="0" cy="0"/>
        </a:xfrm>
      </p:grpSpPr>
      <p:sp>
        <p:nvSpPr>
          <p:cNvPr id="458" name="Google Shape;458;p15"/>
          <p:cNvSpPr/>
          <p:nvPr/>
        </p:nvSpPr>
        <p:spPr>
          <a:xfrm>
            <a:off x="704850" y="428625"/>
            <a:ext cx="9906000" cy="523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925">
                <a:solidFill>
                  <a:srgbClr val="12314B"/>
                </a:solidFill>
                <a:latin typeface="Helvetica Neue"/>
                <a:ea typeface="Helvetica Neue"/>
                <a:cs typeface="Helvetica Neue"/>
                <a:sym typeface="Helvetica Neue"/>
              </a:rPr>
              <a:t>Day 2 learning objectives, morning</a:t>
            </a:r>
            <a:endParaRPr/>
          </a:p>
        </p:txBody>
      </p:sp>
      <p:sp>
        <p:nvSpPr>
          <p:cNvPr id="459" name="Google Shape;459;p15"/>
          <p:cNvSpPr/>
          <p:nvPr/>
        </p:nvSpPr>
        <p:spPr>
          <a:xfrm>
            <a:off x="11144250" y="485775"/>
            <a:ext cx="381000" cy="2857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en-US" sz="1275">
                <a:solidFill>
                  <a:srgbClr val="008F99"/>
                </a:solidFill>
                <a:latin typeface="Helvetica Neue"/>
                <a:ea typeface="Helvetica Neue"/>
                <a:cs typeface="Helvetica Neue"/>
                <a:sym typeface="Helvetica Neue"/>
              </a:rPr>
              <a:t>09</a:t>
            </a:r>
            <a:endParaRPr/>
          </a:p>
        </p:txBody>
      </p:sp>
      <p:sp>
        <p:nvSpPr>
          <p:cNvPr id="460" name="Google Shape;460;p15"/>
          <p:cNvSpPr/>
          <p:nvPr/>
        </p:nvSpPr>
        <p:spPr>
          <a:xfrm>
            <a:off x="723900" y="971550"/>
            <a:ext cx="1047750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00">
                <a:solidFill>
                  <a:srgbClr val="607383"/>
                </a:solidFill>
                <a:latin typeface="Helvetica Neue"/>
                <a:ea typeface="Helvetica Neue"/>
                <a:cs typeface="Helvetica Neue"/>
                <a:sym typeface="Helvetica Neue"/>
              </a:rPr>
              <a:t>A managed Projectathon-style domestic immunization flow</a:t>
            </a:r>
            <a:endParaRPr/>
          </a:p>
        </p:txBody>
      </p:sp>
      <p:cxnSp>
        <p:nvCxnSpPr>
          <p:cNvPr id="461" name="Google Shape;461;p15"/>
          <p:cNvCxnSpPr/>
          <p:nvPr/>
        </p:nvCxnSpPr>
        <p:spPr>
          <a:xfrm>
            <a:off x="609600" y="1276350"/>
            <a:ext cx="876300" cy="0"/>
          </a:xfrm>
          <a:prstGeom prst="straightConnector1">
            <a:avLst/>
          </a:prstGeom>
          <a:noFill/>
          <a:ln cap="flat" cmpd="sng" w="38100">
            <a:solidFill>
              <a:srgbClr val="008F99"/>
            </a:solidFill>
            <a:prstDash val="solid"/>
            <a:round/>
            <a:headEnd len="sm" w="sm" type="none"/>
            <a:tailEnd len="sm" w="sm" type="none"/>
          </a:ln>
        </p:spPr>
      </p:cxnSp>
      <p:sp>
        <p:nvSpPr>
          <p:cNvPr id="462" name="Google Shape;462;p15"/>
          <p:cNvSpPr/>
          <p:nvPr/>
        </p:nvSpPr>
        <p:spPr>
          <a:xfrm>
            <a:off x="742950" y="1562100"/>
            <a:ext cx="1381125"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008F99"/>
                </a:solidFill>
                <a:latin typeface="Helvetica Neue"/>
                <a:ea typeface="Helvetica Neue"/>
                <a:cs typeface="Helvetica Neue"/>
                <a:sym typeface="Helvetica Neue"/>
              </a:rPr>
              <a:t>TIME</a:t>
            </a:r>
            <a:endParaRPr/>
          </a:p>
        </p:txBody>
      </p:sp>
      <p:sp>
        <p:nvSpPr>
          <p:cNvPr id="463" name="Google Shape;463;p15"/>
          <p:cNvSpPr/>
          <p:nvPr/>
        </p:nvSpPr>
        <p:spPr>
          <a:xfrm>
            <a:off x="2381250" y="1562100"/>
            <a:ext cx="2524125"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008F99"/>
                </a:solidFill>
                <a:latin typeface="Helvetica Neue"/>
                <a:ea typeface="Helvetica Neue"/>
                <a:cs typeface="Helvetica Neue"/>
                <a:sym typeface="Helvetica Neue"/>
              </a:rPr>
              <a:t>SESSION</a:t>
            </a:r>
            <a:endParaRPr/>
          </a:p>
        </p:txBody>
      </p:sp>
      <p:sp>
        <p:nvSpPr>
          <p:cNvPr id="464" name="Google Shape;464;p15"/>
          <p:cNvSpPr/>
          <p:nvPr/>
        </p:nvSpPr>
        <p:spPr>
          <a:xfrm>
            <a:off x="5238750" y="1562100"/>
            <a:ext cx="619125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008F99"/>
                </a:solidFill>
                <a:latin typeface="Helvetica Neue"/>
                <a:ea typeface="Helvetica Neue"/>
                <a:cs typeface="Helvetica Neue"/>
                <a:sym typeface="Helvetica Neue"/>
              </a:rPr>
              <a:t>LEARNING OBJECTIVE AND EVIDENCE</a:t>
            </a:r>
            <a:endParaRPr/>
          </a:p>
        </p:txBody>
      </p:sp>
      <p:cxnSp>
        <p:nvCxnSpPr>
          <p:cNvPr id="465" name="Google Shape;465;p15"/>
          <p:cNvCxnSpPr/>
          <p:nvPr/>
        </p:nvCxnSpPr>
        <p:spPr>
          <a:xfrm>
            <a:off x="723900" y="1819275"/>
            <a:ext cx="10763250" cy="0"/>
          </a:xfrm>
          <a:prstGeom prst="straightConnector1">
            <a:avLst/>
          </a:prstGeom>
          <a:noFill/>
          <a:ln cap="flat" cmpd="sng" w="9525">
            <a:solidFill>
              <a:srgbClr val="CBD7DC"/>
            </a:solidFill>
            <a:prstDash val="solid"/>
            <a:round/>
            <a:headEnd len="sm" w="sm" type="none"/>
            <a:tailEnd len="sm" w="sm" type="none"/>
          </a:ln>
        </p:spPr>
      </p:cxnSp>
      <p:sp>
        <p:nvSpPr>
          <p:cNvPr id="466" name="Google Shape;466;p15"/>
          <p:cNvSpPr/>
          <p:nvPr/>
        </p:nvSpPr>
        <p:spPr>
          <a:xfrm>
            <a:off x="742950" y="2009775"/>
            <a:ext cx="1476375"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008F99"/>
                </a:solidFill>
                <a:latin typeface="Helvetica Neue"/>
                <a:ea typeface="Helvetica Neue"/>
                <a:cs typeface="Helvetica Neue"/>
                <a:sym typeface="Helvetica Neue"/>
              </a:rPr>
              <a:t>09:00–09:20</a:t>
            </a:r>
            <a:endParaRPr/>
          </a:p>
        </p:txBody>
      </p:sp>
      <p:sp>
        <p:nvSpPr>
          <p:cNvPr id="467" name="Google Shape;467;p15"/>
          <p:cNvSpPr/>
          <p:nvPr/>
        </p:nvSpPr>
        <p:spPr>
          <a:xfrm>
            <a:off x="2381250" y="2009775"/>
            <a:ext cx="26193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50">
                <a:solidFill>
                  <a:srgbClr val="12314B"/>
                </a:solidFill>
                <a:latin typeface="Helvetica Neue"/>
                <a:ea typeface="Helvetica Neue"/>
                <a:cs typeface="Helvetica Neue"/>
                <a:sym typeface="Helvetica Neue"/>
              </a:rPr>
              <a:t>Practicum briefing</a:t>
            </a:r>
            <a:endParaRPr/>
          </a:p>
        </p:txBody>
      </p:sp>
      <p:sp>
        <p:nvSpPr>
          <p:cNvPr id="468" name="Google Shape;468;p15"/>
          <p:cNvSpPr/>
          <p:nvPr/>
        </p:nvSpPr>
        <p:spPr>
          <a:xfrm>
            <a:off x="5238750" y="2009775"/>
            <a:ext cx="6238875" cy="514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88">
                <a:solidFill>
                  <a:srgbClr val="12314B"/>
                </a:solidFill>
                <a:latin typeface="Helvetica Neue"/>
                <a:ea typeface="Helvetica Neue"/>
                <a:cs typeface="Helvetica Neue"/>
                <a:sym typeface="Helvetica Neue"/>
              </a:rPr>
              <a:t>State the scenario, station handoffs and acceptance criteria for the prepared flow.</a:t>
            </a:r>
            <a:endParaRPr/>
          </a:p>
        </p:txBody>
      </p:sp>
      <p:sp>
        <p:nvSpPr>
          <p:cNvPr id="469" name="Google Shape;469;p15"/>
          <p:cNvSpPr/>
          <p:nvPr/>
        </p:nvSpPr>
        <p:spPr>
          <a:xfrm>
            <a:off x="5238750" y="2533650"/>
            <a:ext cx="61912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38">
                <a:solidFill>
                  <a:srgbClr val="607383"/>
                </a:solidFill>
                <a:latin typeface="Helvetica Neue"/>
                <a:ea typeface="Helvetica Neue"/>
                <a:cs typeface="Helvetica Neue"/>
                <a:sym typeface="Helvetica Neue"/>
              </a:rPr>
              <a:t>Evidence: station plan and test checklist</a:t>
            </a:r>
            <a:endParaRPr/>
          </a:p>
        </p:txBody>
      </p:sp>
      <p:cxnSp>
        <p:nvCxnSpPr>
          <p:cNvPr id="470" name="Google Shape;470;p15"/>
          <p:cNvCxnSpPr/>
          <p:nvPr/>
        </p:nvCxnSpPr>
        <p:spPr>
          <a:xfrm>
            <a:off x="723900" y="2847975"/>
            <a:ext cx="10763250" cy="0"/>
          </a:xfrm>
          <a:prstGeom prst="straightConnector1">
            <a:avLst/>
          </a:prstGeom>
          <a:noFill/>
          <a:ln cap="flat" cmpd="sng" w="9525">
            <a:solidFill>
              <a:srgbClr val="CBD7DC"/>
            </a:solidFill>
            <a:prstDash val="solid"/>
            <a:round/>
            <a:headEnd len="sm" w="sm" type="none"/>
            <a:tailEnd len="sm" w="sm" type="none"/>
          </a:ln>
        </p:spPr>
      </p:cxnSp>
      <p:sp>
        <p:nvSpPr>
          <p:cNvPr id="471" name="Google Shape;471;p15"/>
          <p:cNvSpPr/>
          <p:nvPr/>
        </p:nvSpPr>
        <p:spPr>
          <a:xfrm>
            <a:off x="742950" y="2943225"/>
            <a:ext cx="1476375"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008F99"/>
                </a:solidFill>
                <a:latin typeface="Helvetica Neue"/>
                <a:ea typeface="Helvetica Neue"/>
                <a:cs typeface="Helvetica Neue"/>
                <a:sym typeface="Helvetica Neue"/>
              </a:rPr>
              <a:t>09:20–10:30</a:t>
            </a:r>
            <a:endParaRPr/>
          </a:p>
        </p:txBody>
      </p:sp>
      <p:sp>
        <p:nvSpPr>
          <p:cNvPr id="472" name="Google Shape;472;p15"/>
          <p:cNvSpPr/>
          <p:nvPr/>
        </p:nvSpPr>
        <p:spPr>
          <a:xfrm>
            <a:off x="2381250" y="2943225"/>
            <a:ext cx="26193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50">
                <a:solidFill>
                  <a:srgbClr val="12314B"/>
                </a:solidFill>
                <a:latin typeface="Helvetica Neue"/>
                <a:ea typeface="Helvetica Neue"/>
                <a:cs typeface="Helvetica Neue"/>
                <a:sym typeface="Helvetica Neue"/>
              </a:rPr>
              <a:t>Station 1: source to FHIR</a:t>
            </a:r>
            <a:endParaRPr/>
          </a:p>
        </p:txBody>
      </p:sp>
      <p:sp>
        <p:nvSpPr>
          <p:cNvPr id="473" name="Google Shape;473;p15"/>
          <p:cNvSpPr/>
          <p:nvPr/>
        </p:nvSpPr>
        <p:spPr>
          <a:xfrm>
            <a:off x="5238750" y="2943225"/>
            <a:ext cx="6238875" cy="514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88">
                <a:solidFill>
                  <a:srgbClr val="12314B"/>
                </a:solidFill>
                <a:latin typeface="Helvetica Neue"/>
                <a:ea typeface="Helvetica Neue"/>
                <a:cs typeface="Helvetica Neue"/>
                <a:sym typeface="Helvetica Neue"/>
              </a:rPr>
              <a:t>Submit mapped records to the prepared FHIR service and fix priority mapping or profile failures.</a:t>
            </a:r>
            <a:endParaRPr/>
          </a:p>
        </p:txBody>
      </p:sp>
      <p:sp>
        <p:nvSpPr>
          <p:cNvPr id="474" name="Google Shape;474;p15"/>
          <p:cNvSpPr/>
          <p:nvPr/>
        </p:nvSpPr>
        <p:spPr>
          <a:xfrm>
            <a:off x="5238750" y="3467100"/>
            <a:ext cx="61912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38">
                <a:solidFill>
                  <a:srgbClr val="607383"/>
                </a:solidFill>
                <a:latin typeface="Helvetica Neue"/>
                <a:ea typeface="Helvetica Neue"/>
                <a:cs typeface="Helvetica Neue"/>
                <a:sym typeface="Helvetica Neue"/>
              </a:rPr>
              <a:t>Evidence: validated resource and mapping trace</a:t>
            </a:r>
            <a:endParaRPr/>
          </a:p>
        </p:txBody>
      </p:sp>
      <p:cxnSp>
        <p:nvCxnSpPr>
          <p:cNvPr id="475" name="Google Shape;475;p15"/>
          <p:cNvCxnSpPr/>
          <p:nvPr/>
        </p:nvCxnSpPr>
        <p:spPr>
          <a:xfrm>
            <a:off x="723900" y="3781425"/>
            <a:ext cx="10763250" cy="0"/>
          </a:xfrm>
          <a:prstGeom prst="straightConnector1">
            <a:avLst/>
          </a:prstGeom>
          <a:noFill/>
          <a:ln cap="flat" cmpd="sng" w="9525">
            <a:solidFill>
              <a:srgbClr val="CBD7DC"/>
            </a:solidFill>
            <a:prstDash val="solid"/>
            <a:round/>
            <a:headEnd len="sm" w="sm" type="none"/>
            <a:tailEnd len="sm" w="sm" type="none"/>
          </a:ln>
        </p:spPr>
      </p:cxnSp>
      <p:sp>
        <p:nvSpPr>
          <p:cNvPr id="476" name="Google Shape;476;p15"/>
          <p:cNvSpPr/>
          <p:nvPr/>
        </p:nvSpPr>
        <p:spPr>
          <a:xfrm>
            <a:off x="742950" y="3876675"/>
            <a:ext cx="1476375"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008F99"/>
                </a:solidFill>
                <a:latin typeface="Helvetica Neue"/>
                <a:ea typeface="Helvetica Neue"/>
                <a:cs typeface="Helvetica Neue"/>
                <a:sym typeface="Helvetica Neue"/>
              </a:rPr>
              <a:t>10:45–12:00</a:t>
            </a:r>
            <a:endParaRPr/>
          </a:p>
        </p:txBody>
      </p:sp>
      <p:sp>
        <p:nvSpPr>
          <p:cNvPr id="477" name="Google Shape;477;p15"/>
          <p:cNvSpPr/>
          <p:nvPr/>
        </p:nvSpPr>
        <p:spPr>
          <a:xfrm>
            <a:off x="2381250" y="3876675"/>
            <a:ext cx="26193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50">
                <a:solidFill>
                  <a:srgbClr val="12314B"/>
                </a:solidFill>
                <a:latin typeface="Helvetica Neue"/>
                <a:ea typeface="Helvetica Neue"/>
                <a:cs typeface="Helvetica Neue"/>
                <a:sym typeface="Helvetica Neue"/>
              </a:rPr>
              <a:t>Station 2: use and update</a:t>
            </a:r>
            <a:endParaRPr/>
          </a:p>
        </p:txBody>
      </p:sp>
      <p:sp>
        <p:nvSpPr>
          <p:cNvPr id="478" name="Google Shape;478;p15"/>
          <p:cNvSpPr/>
          <p:nvPr/>
        </p:nvSpPr>
        <p:spPr>
          <a:xfrm>
            <a:off x="5238750" y="3876675"/>
            <a:ext cx="6238875" cy="514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88">
                <a:solidFill>
                  <a:srgbClr val="12314B"/>
                </a:solidFill>
                <a:latin typeface="Helvetica Neue"/>
                <a:ea typeface="Helvetica Neue"/>
                <a:cs typeface="Helvetica Neue"/>
                <a:sym typeface="Helvetica Neue"/>
              </a:rPr>
              <a:t>Retrieve a history, record a vaccination and retrieve it in a second prepared context.</a:t>
            </a:r>
            <a:endParaRPr/>
          </a:p>
        </p:txBody>
      </p:sp>
      <p:sp>
        <p:nvSpPr>
          <p:cNvPr id="479" name="Google Shape;479;p15"/>
          <p:cNvSpPr/>
          <p:nvPr/>
        </p:nvSpPr>
        <p:spPr>
          <a:xfrm>
            <a:off x="5238750" y="4400550"/>
            <a:ext cx="61912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38">
                <a:solidFill>
                  <a:srgbClr val="607383"/>
                </a:solidFill>
                <a:latin typeface="Helvetica Neue"/>
                <a:ea typeface="Helvetica Neue"/>
                <a:cs typeface="Helvetica Neue"/>
                <a:sym typeface="Helvetica Neue"/>
              </a:rPr>
              <a:t>Evidence: API or reference-component transaction trace</a:t>
            </a:r>
            <a:endParaRPr/>
          </a:p>
        </p:txBody>
      </p:sp>
      <p:cxnSp>
        <p:nvCxnSpPr>
          <p:cNvPr id="480" name="Google Shape;480;p15"/>
          <p:cNvCxnSpPr/>
          <p:nvPr/>
        </p:nvCxnSpPr>
        <p:spPr>
          <a:xfrm>
            <a:off x="723900" y="4714875"/>
            <a:ext cx="10763250" cy="0"/>
          </a:xfrm>
          <a:prstGeom prst="straightConnector1">
            <a:avLst/>
          </a:prstGeom>
          <a:noFill/>
          <a:ln cap="flat" cmpd="sng" w="9525">
            <a:solidFill>
              <a:srgbClr val="CBD7DC"/>
            </a:solidFill>
            <a:prstDash val="solid"/>
            <a:round/>
            <a:headEnd len="sm" w="sm" type="none"/>
            <a:tailEnd len="sm" w="sm" type="none"/>
          </a:ln>
        </p:spPr>
      </p:cxnSp>
      <p:sp>
        <p:nvSpPr>
          <p:cNvPr id="481" name="Google Shape;481;p15"/>
          <p:cNvSpPr/>
          <p:nvPr/>
        </p:nvSpPr>
        <p:spPr>
          <a:xfrm>
            <a:off x="742950" y="4810125"/>
            <a:ext cx="1476375"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008F99"/>
                </a:solidFill>
                <a:latin typeface="Helvetica Neue"/>
                <a:ea typeface="Helvetica Neue"/>
                <a:cs typeface="Helvetica Neue"/>
                <a:sym typeface="Helvetica Neue"/>
              </a:rPr>
              <a:t>12:00–12:30</a:t>
            </a:r>
            <a:endParaRPr/>
          </a:p>
        </p:txBody>
      </p:sp>
      <p:sp>
        <p:nvSpPr>
          <p:cNvPr id="482" name="Google Shape;482;p15"/>
          <p:cNvSpPr/>
          <p:nvPr/>
        </p:nvSpPr>
        <p:spPr>
          <a:xfrm>
            <a:off x="2381250" y="4810125"/>
            <a:ext cx="26193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50">
                <a:solidFill>
                  <a:srgbClr val="12314B"/>
                </a:solidFill>
                <a:latin typeface="Helvetica Neue"/>
                <a:ea typeface="Helvetica Neue"/>
                <a:cs typeface="Helvetica Neue"/>
                <a:sym typeface="Helvetica Neue"/>
              </a:rPr>
              <a:t>Technical clinic</a:t>
            </a:r>
            <a:endParaRPr/>
          </a:p>
        </p:txBody>
      </p:sp>
      <p:sp>
        <p:nvSpPr>
          <p:cNvPr id="483" name="Google Shape;483;p15"/>
          <p:cNvSpPr/>
          <p:nvPr/>
        </p:nvSpPr>
        <p:spPr>
          <a:xfrm>
            <a:off x="5238750" y="4810125"/>
            <a:ext cx="6238875" cy="514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88">
                <a:solidFill>
                  <a:srgbClr val="12314B"/>
                </a:solidFill>
                <a:latin typeface="Helvetica Neue"/>
                <a:ea typeface="Helvetica Neue"/>
                <a:cs typeface="Helvetica Neue"/>
                <a:sym typeface="Helvetica Neue"/>
              </a:rPr>
              <a:t>Triage identifier, terminology, profile and endpoint failures before the joint test block.</a:t>
            </a:r>
            <a:endParaRPr/>
          </a:p>
        </p:txBody>
      </p:sp>
      <p:sp>
        <p:nvSpPr>
          <p:cNvPr id="484" name="Google Shape;484;p15"/>
          <p:cNvSpPr/>
          <p:nvPr/>
        </p:nvSpPr>
        <p:spPr>
          <a:xfrm>
            <a:off x="5238750" y="5334000"/>
            <a:ext cx="61912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38">
                <a:solidFill>
                  <a:srgbClr val="607383"/>
                </a:solidFill>
                <a:latin typeface="Helvetica Neue"/>
                <a:ea typeface="Helvetica Neue"/>
                <a:cs typeface="Helvetica Neue"/>
                <a:sym typeface="Helvetica Neue"/>
              </a:rPr>
              <a:t>Evidence: issue ownership and go/no-go list</a:t>
            </a:r>
            <a:endParaRPr/>
          </a:p>
        </p:txBody>
      </p:sp>
      <p:cxnSp>
        <p:nvCxnSpPr>
          <p:cNvPr id="485" name="Google Shape;485;p15"/>
          <p:cNvCxnSpPr/>
          <p:nvPr/>
        </p:nvCxnSpPr>
        <p:spPr>
          <a:xfrm>
            <a:off x="723900" y="5648325"/>
            <a:ext cx="10763250" cy="0"/>
          </a:xfrm>
          <a:prstGeom prst="straightConnector1">
            <a:avLst/>
          </a:prstGeom>
          <a:noFill/>
          <a:ln cap="flat" cmpd="sng" w="9525">
            <a:solidFill>
              <a:srgbClr val="CBD7DC"/>
            </a:solidFill>
            <a:prstDash val="solid"/>
            <a:round/>
            <a:headEnd len="sm" w="sm" type="none"/>
            <a:tailEnd len="sm" w="sm" type="none"/>
          </a:ln>
        </p:spPr>
      </p:cxnSp>
      <p:sp>
        <p:nvSpPr>
          <p:cNvPr id="486" name="Google Shape;486;p15"/>
          <p:cNvSpPr/>
          <p:nvPr/>
        </p:nvSpPr>
        <p:spPr>
          <a:xfrm>
            <a:off x="742950" y="5905500"/>
            <a:ext cx="1057275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607383"/>
                </a:solidFill>
                <a:latin typeface="Helvetica Neue"/>
                <a:ea typeface="Helvetica Neue"/>
                <a:cs typeface="Helvetica Neue"/>
                <a:sym typeface="Helvetica Neue"/>
              </a:rPr>
              <a:t>Break 10:30–10:45     Lunch 12:30–13:30</a:t>
            </a:r>
            <a:endParaRPr/>
          </a:p>
        </p:txBody>
      </p:sp>
      <p:cxnSp>
        <p:nvCxnSpPr>
          <p:cNvPr id="487" name="Google Shape;487;p15"/>
          <p:cNvCxnSpPr/>
          <p:nvPr/>
        </p:nvCxnSpPr>
        <p:spPr>
          <a:xfrm>
            <a:off x="609600" y="6477000"/>
            <a:ext cx="10953750" cy="0"/>
          </a:xfrm>
          <a:prstGeom prst="straightConnector1">
            <a:avLst/>
          </a:prstGeom>
          <a:noFill/>
          <a:ln cap="flat" cmpd="sng" w="9525">
            <a:solidFill>
              <a:srgbClr val="CBD7DC"/>
            </a:solidFill>
            <a:prstDash val="solid"/>
            <a:round/>
            <a:headEnd len="sm" w="sm" type="none"/>
            <a:tailEnd len="sm" w="sm" type="none"/>
          </a:ln>
        </p:spPr>
      </p:cxnSp>
      <p:sp>
        <p:nvSpPr>
          <p:cNvPr id="488" name="Google Shape;488;p15"/>
          <p:cNvSpPr/>
          <p:nvPr/>
        </p:nvSpPr>
        <p:spPr>
          <a:xfrm>
            <a:off x="704850" y="6619875"/>
            <a:ext cx="66675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088">
                <a:solidFill>
                  <a:srgbClr val="607383"/>
                </a:solidFill>
                <a:latin typeface="Helvetica Neue"/>
                <a:ea typeface="Helvetica Neue"/>
                <a:cs typeface="Helvetica Neue"/>
                <a:sym typeface="Helvetica Neue"/>
              </a:rPr>
              <a:t>Thailand technologist workstream, partner preparation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493" name="Shape 493"/>
        <p:cNvGrpSpPr/>
        <p:nvPr/>
      </p:nvGrpSpPr>
      <p:grpSpPr>
        <a:xfrm>
          <a:off x="0" y="0"/>
          <a:ext cx="0" cy="0"/>
          <a:chOff x="0" y="0"/>
          <a:chExt cx="0" cy="0"/>
        </a:xfrm>
      </p:grpSpPr>
      <p:sp>
        <p:nvSpPr>
          <p:cNvPr id="494" name="Google Shape;494;p16"/>
          <p:cNvSpPr/>
          <p:nvPr/>
        </p:nvSpPr>
        <p:spPr>
          <a:xfrm>
            <a:off x="704850" y="428625"/>
            <a:ext cx="9906000" cy="523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925">
                <a:solidFill>
                  <a:srgbClr val="12314B"/>
                </a:solidFill>
                <a:latin typeface="Helvetica Neue"/>
                <a:ea typeface="Helvetica Neue"/>
                <a:cs typeface="Helvetica Neue"/>
                <a:sym typeface="Helvetica Neue"/>
              </a:rPr>
              <a:t>Day 2 learning objectives, afternoon</a:t>
            </a:r>
            <a:endParaRPr/>
          </a:p>
        </p:txBody>
      </p:sp>
      <p:sp>
        <p:nvSpPr>
          <p:cNvPr id="495" name="Google Shape;495;p16"/>
          <p:cNvSpPr/>
          <p:nvPr/>
        </p:nvSpPr>
        <p:spPr>
          <a:xfrm>
            <a:off x="11144250" y="485775"/>
            <a:ext cx="381000" cy="2857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en-US" sz="1275">
                <a:solidFill>
                  <a:srgbClr val="008F99"/>
                </a:solidFill>
                <a:latin typeface="Helvetica Neue"/>
                <a:ea typeface="Helvetica Neue"/>
                <a:cs typeface="Helvetica Neue"/>
                <a:sym typeface="Helvetica Neue"/>
              </a:rPr>
              <a:t>10</a:t>
            </a:r>
            <a:endParaRPr/>
          </a:p>
        </p:txBody>
      </p:sp>
      <p:sp>
        <p:nvSpPr>
          <p:cNvPr id="496" name="Google Shape;496;p16"/>
          <p:cNvSpPr/>
          <p:nvPr/>
        </p:nvSpPr>
        <p:spPr>
          <a:xfrm>
            <a:off x="723900" y="971550"/>
            <a:ext cx="1047750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00">
                <a:solidFill>
                  <a:srgbClr val="607383"/>
                </a:solidFill>
                <a:latin typeface="Helvetica Neue"/>
                <a:ea typeface="Helvetica Neue"/>
                <a:cs typeface="Helvetica Neue"/>
                <a:sym typeface="Helvetica Neue"/>
              </a:rPr>
              <a:t>Test evidence, optional certificate extension and shared demonstration</a:t>
            </a:r>
            <a:endParaRPr/>
          </a:p>
        </p:txBody>
      </p:sp>
      <p:cxnSp>
        <p:nvCxnSpPr>
          <p:cNvPr id="497" name="Google Shape;497;p16"/>
          <p:cNvCxnSpPr/>
          <p:nvPr/>
        </p:nvCxnSpPr>
        <p:spPr>
          <a:xfrm>
            <a:off x="609600" y="1276350"/>
            <a:ext cx="876300" cy="0"/>
          </a:xfrm>
          <a:prstGeom prst="straightConnector1">
            <a:avLst/>
          </a:prstGeom>
          <a:noFill/>
          <a:ln cap="flat" cmpd="sng" w="38100">
            <a:solidFill>
              <a:srgbClr val="008F99"/>
            </a:solidFill>
            <a:prstDash val="solid"/>
            <a:round/>
            <a:headEnd len="sm" w="sm" type="none"/>
            <a:tailEnd len="sm" w="sm" type="none"/>
          </a:ln>
        </p:spPr>
      </p:cxnSp>
      <p:sp>
        <p:nvSpPr>
          <p:cNvPr id="498" name="Google Shape;498;p16"/>
          <p:cNvSpPr/>
          <p:nvPr/>
        </p:nvSpPr>
        <p:spPr>
          <a:xfrm>
            <a:off x="742950" y="1562100"/>
            <a:ext cx="1381125"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008F99"/>
                </a:solidFill>
                <a:latin typeface="Helvetica Neue"/>
                <a:ea typeface="Helvetica Neue"/>
                <a:cs typeface="Helvetica Neue"/>
                <a:sym typeface="Helvetica Neue"/>
              </a:rPr>
              <a:t>TIME</a:t>
            </a:r>
            <a:endParaRPr/>
          </a:p>
        </p:txBody>
      </p:sp>
      <p:sp>
        <p:nvSpPr>
          <p:cNvPr id="499" name="Google Shape;499;p16"/>
          <p:cNvSpPr/>
          <p:nvPr/>
        </p:nvSpPr>
        <p:spPr>
          <a:xfrm>
            <a:off x="2381250" y="1562100"/>
            <a:ext cx="2524125"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008F99"/>
                </a:solidFill>
                <a:latin typeface="Helvetica Neue"/>
                <a:ea typeface="Helvetica Neue"/>
                <a:cs typeface="Helvetica Neue"/>
                <a:sym typeface="Helvetica Neue"/>
              </a:rPr>
              <a:t>SESSION</a:t>
            </a:r>
            <a:endParaRPr/>
          </a:p>
        </p:txBody>
      </p:sp>
      <p:sp>
        <p:nvSpPr>
          <p:cNvPr id="500" name="Google Shape;500;p16"/>
          <p:cNvSpPr/>
          <p:nvPr/>
        </p:nvSpPr>
        <p:spPr>
          <a:xfrm>
            <a:off x="5238750" y="1562100"/>
            <a:ext cx="619125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008F99"/>
                </a:solidFill>
                <a:latin typeface="Helvetica Neue"/>
                <a:ea typeface="Helvetica Neue"/>
                <a:cs typeface="Helvetica Neue"/>
                <a:sym typeface="Helvetica Neue"/>
              </a:rPr>
              <a:t>LEARNING OBJECTIVE AND EVIDENCE</a:t>
            </a:r>
            <a:endParaRPr/>
          </a:p>
        </p:txBody>
      </p:sp>
      <p:cxnSp>
        <p:nvCxnSpPr>
          <p:cNvPr id="501" name="Google Shape;501;p16"/>
          <p:cNvCxnSpPr/>
          <p:nvPr/>
        </p:nvCxnSpPr>
        <p:spPr>
          <a:xfrm>
            <a:off x="723900" y="1819275"/>
            <a:ext cx="10763250" cy="0"/>
          </a:xfrm>
          <a:prstGeom prst="straightConnector1">
            <a:avLst/>
          </a:prstGeom>
          <a:noFill/>
          <a:ln cap="flat" cmpd="sng" w="9525">
            <a:solidFill>
              <a:srgbClr val="CBD7DC"/>
            </a:solidFill>
            <a:prstDash val="solid"/>
            <a:round/>
            <a:headEnd len="sm" w="sm" type="none"/>
            <a:tailEnd len="sm" w="sm" type="none"/>
          </a:ln>
        </p:spPr>
      </p:cxnSp>
      <p:sp>
        <p:nvSpPr>
          <p:cNvPr id="502" name="Google Shape;502;p16"/>
          <p:cNvSpPr/>
          <p:nvPr/>
        </p:nvSpPr>
        <p:spPr>
          <a:xfrm>
            <a:off x="742950" y="2009775"/>
            <a:ext cx="1476375"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008F99"/>
                </a:solidFill>
                <a:latin typeface="Helvetica Neue"/>
                <a:ea typeface="Helvetica Neue"/>
                <a:cs typeface="Helvetica Neue"/>
                <a:sym typeface="Helvetica Neue"/>
              </a:rPr>
              <a:t>13:30–14:30</a:t>
            </a:r>
            <a:endParaRPr/>
          </a:p>
        </p:txBody>
      </p:sp>
      <p:sp>
        <p:nvSpPr>
          <p:cNvPr id="503" name="Google Shape;503;p16"/>
          <p:cNvSpPr/>
          <p:nvPr/>
        </p:nvSpPr>
        <p:spPr>
          <a:xfrm>
            <a:off x="2381250" y="2009775"/>
            <a:ext cx="26193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50">
                <a:solidFill>
                  <a:srgbClr val="12314B"/>
                </a:solidFill>
                <a:latin typeface="Helvetica Neue"/>
                <a:ea typeface="Helvetica Neue"/>
                <a:cs typeface="Helvetica Neue"/>
                <a:sym typeface="Helvetica Neue"/>
              </a:rPr>
              <a:t>Station 3: test and exchange</a:t>
            </a:r>
            <a:endParaRPr/>
          </a:p>
        </p:txBody>
      </p:sp>
      <p:sp>
        <p:nvSpPr>
          <p:cNvPr id="504" name="Google Shape;504;p16"/>
          <p:cNvSpPr/>
          <p:nvPr/>
        </p:nvSpPr>
        <p:spPr>
          <a:xfrm>
            <a:off x="5238750" y="2009775"/>
            <a:ext cx="6238875" cy="514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88">
                <a:solidFill>
                  <a:srgbClr val="12314B"/>
                </a:solidFill>
                <a:latin typeface="Helvetica Neue"/>
                <a:ea typeface="Helvetica Neue"/>
                <a:cs typeface="Helvetica Neue"/>
                <a:sym typeface="Helvetica Neue"/>
              </a:rPr>
              <a:t>Run agreed domestic FHIR checks and interpret pass, warning and failure evidence.</a:t>
            </a:r>
            <a:endParaRPr/>
          </a:p>
        </p:txBody>
      </p:sp>
      <p:sp>
        <p:nvSpPr>
          <p:cNvPr id="505" name="Google Shape;505;p16"/>
          <p:cNvSpPr/>
          <p:nvPr/>
        </p:nvSpPr>
        <p:spPr>
          <a:xfrm>
            <a:off x="5238750" y="2533650"/>
            <a:ext cx="61912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38">
                <a:solidFill>
                  <a:srgbClr val="607383"/>
                </a:solidFill>
                <a:latin typeface="Helvetica Neue"/>
                <a:ea typeface="Helvetica Neue"/>
                <a:cs typeface="Helvetica Neue"/>
                <a:sym typeface="Helvetica Neue"/>
              </a:rPr>
              <a:t>Evidence: test report with reproducible findings</a:t>
            </a:r>
            <a:endParaRPr/>
          </a:p>
        </p:txBody>
      </p:sp>
      <p:cxnSp>
        <p:nvCxnSpPr>
          <p:cNvPr id="506" name="Google Shape;506;p16"/>
          <p:cNvCxnSpPr/>
          <p:nvPr/>
        </p:nvCxnSpPr>
        <p:spPr>
          <a:xfrm>
            <a:off x="723900" y="2847975"/>
            <a:ext cx="10763250" cy="0"/>
          </a:xfrm>
          <a:prstGeom prst="straightConnector1">
            <a:avLst/>
          </a:prstGeom>
          <a:noFill/>
          <a:ln cap="flat" cmpd="sng" w="9525">
            <a:solidFill>
              <a:srgbClr val="CBD7DC"/>
            </a:solidFill>
            <a:prstDash val="solid"/>
            <a:round/>
            <a:headEnd len="sm" w="sm" type="none"/>
            <a:tailEnd len="sm" w="sm" type="none"/>
          </a:ln>
        </p:spPr>
      </p:cxnSp>
      <p:sp>
        <p:nvSpPr>
          <p:cNvPr id="507" name="Google Shape;507;p16"/>
          <p:cNvSpPr/>
          <p:nvPr/>
        </p:nvSpPr>
        <p:spPr>
          <a:xfrm>
            <a:off x="742950" y="2943225"/>
            <a:ext cx="1476375"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008F99"/>
                </a:solidFill>
                <a:latin typeface="Helvetica Neue"/>
                <a:ea typeface="Helvetica Neue"/>
                <a:cs typeface="Helvetica Neue"/>
                <a:sym typeface="Helvetica Neue"/>
              </a:rPr>
              <a:t>14:45–15:30</a:t>
            </a:r>
            <a:endParaRPr/>
          </a:p>
        </p:txBody>
      </p:sp>
      <p:sp>
        <p:nvSpPr>
          <p:cNvPr id="508" name="Google Shape;508;p16"/>
          <p:cNvSpPr/>
          <p:nvPr/>
        </p:nvSpPr>
        <p:spPr>
          <a:xfrm>
            <a:off x="2381250" y="2943225"/>
            <a:ext cx="26193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50">
                <a:solidFill>
                  <a:srgbClr val="12314B"/>
                </a:solidFill>
                <a:latin typeface="Helvetica Neue"/>
                <a:ea typeface="Helvetica Neue"/>
                <a:cs typeface="Helvetica Neue"/>
                <a:sym typeface="Helvetica Neue"/>
              </a:rPr>
              <a:t>ICVP extension or hardening</a:t>
            </a:r>
            <a:endParaRPr/>
          </a:p>
        </p:txBody>
      </p:sp>
      <p:sp>
        <p:nvSpPr>
          <p:cNvPr id="509" name="Google Shape;509;p16"/>
          <p:cNvSpPr/>
          <p:nvPr/>
        </p:nvSpPr>
        <p:spPr>
          <a:xfrm>
            <a:off x="5238750" y="2943225"/>
            <a:ext cx="6238875" cy="514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88">
                <a:solidFill>
                  <a:srgbClr val="12314B"/>
                </a:solidFill>
                <a:latin typeface="Helvetica Neue"/>
                <a:ea typeface="Helvetica Neue"/>
                <a:cs typeface="Helvetica Neue"/>
                <a:sym typeface="Helvetica Neue"/>
              </a:rPr>
              <a:t>If ready, run a sample ICVP test and explain the separate roles of content and trust </a:t>
            </a:r>
            <a:r>
              <a:rPr b="0" lang="en-US" sz="1388">
                <a:solidFill>
                  <a:srgbClr val="12314B"/>
                </a:solidFill>
                <a:latin typeface="Helvetica Neue"/>
                <a:ea typeface="Helvetica Neue"/>
                <a:cs typeface="Helvetica Neue"/>
                <a:sym typeface="Helvetica Neue"/>
              </a:rPr>
              <a:t>verification</a:t>
            </a:r>
            <a:r>
              <a:rPr b="0" lang="en-US" sz="1388">
                <a:solidFill>
                  <a:srgbClr val="12314B"/>
                </a:solidFill>
                <a:latin typeface="Helvetica Neue"/>
                <a:ea typeface="Helvetica Neue"/>
                <a:cs typeface="Helvetica Neue"/>
                <a:sym typeface="Helvetica Neue"/>
              </a:rPr>
              <a:t>.</a:t>
            </a:r>
            <a:endParaRPr/>
          </a:p>
        </p:txBody>
      </p:sp>
      <p:sp>
        <p:nvSpPr>
          <p:cNvPr id="510" name="Google Shape;510;p16"/>
          <p:cNvSpPr/>
          <p:nvPr/>
        </p:nvSpPr>
        <p:spPr>
          <a:xfrm>
            <a:off x="5238750" y="3467100"/>
            <a:ext cx="61912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38">
                <a:solidFill>
                  <a:srgbClr val="607383"/>
                </a:solidFill>
                <a:latin typeface="Helvetica Neue"/>
                <a:ea typeface="Helvetica Neue"/>
                <a:cs typeface="Helvetica Neue"/>
                <a:sym typeface="Helvetica Neue"/>
              </a:rPr>
              <a:t>Evidence: WHO-ITB result or improved domestic flow</a:t>
            </a:r>
            <a:endParaRPr/>
          </a:p>
        </p:txBody>
      </p:sp>
      <p:cxnSp>
        <p:nvCxnSpPr>
          <p:cNvPr id="511" name="Google Shape;511;p16"/>
          <p:cNvCxnSpPr/>
          <p:nvPr/>
        </p:nvCxnSpPr>
        <p:spPr>
          <a:xfrm>
            <a:off x="723900" y="3781425"/>
            <a:ext cx="10763250" cy="0"/>
          </a:xfrm>
          <a:prstGeom prst="straightConnector1">
            <a:avLst/>
          </a:prstGeom>
          <a:noFill/>
          <a:ln cap="flat" cmpd="sng" w="9525">
            <a:solidFill>
              <a:srgbClr val="CBD7DC"/>
            </a:solidFill>
            <a:prstDash val="solid"/>
            <a:round/>
            <a:headEnd len="sm" w="sm" type="none"/>
            <a:tailEnd len="sm" w="sm" type="none"/>
          </a:ln>
        </p:spPr>
      </p:cxnSp>
      <p:sp>
        <p:nvSpPr>
          <p:cNvPr id="512" name="Google Shape;512;p16"/>
          <p:cNvSpPr/>
          <p:nvPr/>
        </p:nvSpPr>
        <p:spPr>
          <a:xfrm>
            <a:off x="742950" y="3876675"/>
            <a:ext cx="1476375"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008F99"/>
                </a:solidFill>
                <a:latin typeface="Helvetica Neue"/>
                <a:ea typeface="Helvetica Neue"/>
                <a:cs typeface="Helvetica Neue"/>
                <a:sym typeface="Helvetica Neue"/>
              </a:rPr>
              <a:t>15:30–16:15</a:t>
            </a:r>
            <a:endParaRPr/>
          </a:p>
        </p:txBody>
      </p:sp>
      <p:sp>
        <p:nvSpPr>
          <p:cNvPr id="513" name="Google Shape;513;p16"/>
          <p:cNvSpPr/>
          <p:nvPr/>
        </p:nvSpPr>
        <p:spPr>
          <a:xfrm>
            <a:off x="2381250" y="3876675"/>
            <a:ext cx="26193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50">
                <a:solidFill>
                  <a:srgbClr val="12314B"/>
                </a:solidFill>
                <a:latin typeface="Helvetica Neue"/>
                <a:ea typeface="Helvetica Neue"/>
                <a:cs typeface="Helvetica Neue"/>
                <a:sym typeface="Helvetica Neue"/>
              </a:rPr>
              <a:t>Demonstration assembly</a:t>
            </a:r>
            <a:endParaRPr/>
          </a:p>
        </p:txBody>
      </p:sp>
      <p:sp>
        <p:nvSpPr>
          <p:cNvPr id="514" name="Google Shape;514;p16"/>
          <p:cNvSpPr/>
          <p:nvPr/>
        </p:nvSpPr>
        <p:spPr>
          <a:xfrm>
            <a:off x="5238750" y="3876675"/>
            <a:ext cx="6238875" cy="514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88">
                <a:solidFill>
                  <a:srgbClr val="12314B"/>
                </a:solidFill>
                <a:latin typeface="Helvetica Neue"/>
                <a:ea typeface="Helvetica Neue"/>
                <a:cs typeface="Helvetica Neue"/>
                <a:sym typeface="Helvetica Neue"/>
              </a:rPr>
              <a:t>Rehearse the handoffs and identify which parts partners prepared, configured or tested.</a:t>
            </a:r>
            <a:endParaRPr/>
          </a:p>
        </p:txBody>
      </p:sp>
      <p:sp>
        <p:nvSpPr>
          <p:cNvPr id="515" name="Google Shape;515;p16"/>
          <p:cNvSpPr/>
          <p:nvPr/>
        </p:nvSpPr>
        <p:spPr>
          <a:xfrm>
            <a:off x="5238750" y="4400550"/>
            <a:ext cx="61912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38">
                <a:solidFill>
                  <a:srgbClr val="607383"/>
                </a:solidFill>
                <a:latin typeface="Helvetica Neue"/>
                <a:ea typeface="Helvetica Neue"/>
                <a:cs typeface="Helvetica Neue"/>
                <a:sym typeface="Helvetica Neue"/>
              </a:rPr>
              <a:t>Evidence: one end-to-end demonstration script</a:t>
            </a:r>
            <a:endParaRPr/>
          </a:p>
        </p:txBody>
      </p:sp>
      <p:cxnSp>
        <p:nvCxnSpPr>
          <p:cNvPr id="516" name="Google Shape;516;p16"/>
          <p:cNvCxnSpPr/>
          <p:nvPr/>
        </p:nvCxnSpPr>
        <p:spPr>
          <a:xfrm>
            <a:off x="723900" y="4714875"/>
            <a:ext cx="10763250" cy="0"/>
          </a:xfrm>
          <a:prstGeom prst="straightConnector1">
            <a:avLst/>
          </a:prstGeom>
          <a:noFill/>
          <a:ln cap="flat" cmpd="sng" w="9525">
            <a:solidFill>
              <a:srgbClr val="CBD7DC"/>
            </a:solidFill>
            <a:prstDash val="solid"/>
            <a:round/>
            <a:headEnd len="sm" w="sm" type="none"/>
            <a:tailEnd len="sm" w="sm" type="none"/>
          </a:ln>
        </p:spPr>
      </p:cxnSp>
      <p:sp>
        <p:nvSpPr>
          <p:cNvPr id="517" name="Google Shape;517;p16"/>
          <p:cNvSpPr/>
          <p:nvPr/>
        </p:nvSpPr>
        <p:spPr>
          <a:xfrm>
            <a:off x="742950" y="4810125"/>
            <a:ext cx="1476375"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008F99"/>
                </a:solidFill>
                <a:latin typeface="Helvetica Neue"/>
                <a:ea typeface="Helvetica Neue"/>
                <a:cs typeface="Helvetica Neue"/>
                <a:sym typeface="Helvetica Neue"/>
              </a:rPr>
              <a:t>16:15–17:00</a:t>
            </a:r>
            <a:endParaRPr/>
          </a:p>
        </p:txBody>
      </p:sp>
      <p:sp>
        <p:nvSpPr>
          <p:cNvPr id="518" name="Google Shape;518;p16"/>
          <p:cNvSpPr/>
          <p:nvPr/>
        </p:nvSpPr>
        <p:spPr>
          <a:xfrm>
            <a:off x="2381250" y="4810125"/>
            <a:ext cx="2619375"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50">
                <a:solidFill>
                  <a:srgbClr val="12314B"/>
                </a:solidFill>
                <a:latin typeface="Helvetica Neue"/>
                <a:ea typeface="Helvetica Neue"/>
                <a:cs typeface="Helvetica Neue"/>
                <a:sym typeface="Helvetica Neue"/>
              </a:rPr>
              <a:t>Joint demonstration</a:t>
            </a:r>
            <a:endParaRPr/>
          </a:p>
        </p:txBody>
      </p:sp>
      <p:sp>
        <p:nvSpPr>
          <p:cNvPr id="519" name="Google Shape;519;p16"/>
          <p:cNvSpPr/>
          <p:nvPr/>
        </p:nvSpPr>
        <p:spPr>
          <a:xfrm>
            <a:off x="5238750" y="4810125"/>
            <a:ext cx="6238875" cy="5143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388">
                <a:solidFill>
                  <a:srgbClr val="12314B"/>
                </a:solidFill>
                <a:latin typeface="Helvetica Neue"/>
                <a:ea typeface="Helvetica Neue"/>
                <a:cs typeface="Helvetica Neue"/>
                <a:sym typeface="Helvetica Neue"/>
              </a:rPr>
              <a:t>P</a:t>
            </a:r>
            <a:r>
              <a:rPr b="0" lang="en-US" sz="1388">
                <a:solidFill>
                  <a:srgbClr val="12314B"/>
                </a:solidFill>
                <a:latin typeface="Helvetica Neue"/>
                <a:ea typeface="Helvetica Neue"/>
                <a:cs typeface="Helvetica Neue"/>
                <a:sym typeface="Helvetica Neue"/>
              </a:rPr>
              <a:t>resent</a:t>
            </a:r>
            <a:r>
              <a:rPr b="0" lang="en-US" sz="1388">
                <a:solidFill>
                  <a:srgbClr val="12314B"/>
                </a:solidFill>
                <a:latin typeface="Helvetica Neue"/>
                <a:ea typeface="Helvetica Neue"/>
                <a:cs typeface="Helvetica Neue"/>
                <a:sym typeface="Helvetica Neue"/>
              </a:rPr>
              <a:t> the shared flow, test evidence, remaining gaps and next steps with planners.</a:t>
            </a:r>
            <a:endParaRPr/>
          </a:p>
        </p:txBody>
      </p:sp>
      <p:sp>
        <p:nvSpPr>
          <p:cNvPr id="520" name="Google Shape;520;p16"/>
          <p:cNvSpPr/>
          <p:nvPr/>
        </p:nvSpPr>
        <p:spPr>
          <a:xfrm>
            <a:off x="5238750" y="5334000"/>
            <a:ext cx="61912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38">
                <a:solidFill>
                  <a:srgbClr val="607383"/>
                </a:solidFill>
                <a:latin typeface="Helvetica Neue"/>
                <a:ea typeface="Helvetica Neue"/>
                <a:cs typeface="Helvetica Neue"/>
                <a:sym typeface="Helvetica Neue"/>
              </a:rPr>
              <a:t>Evidence: decision and issue log for follow-up</a:t>
            </a:r>
            <a:endParaRPr/>
          </a:p>
        </p:txBody>
      </p:sp>
      <p:cxnSp>
        <p:nvCxnSpPr>
          <p:cNvPr id="521" name="Google Shape;521;p16"/>
          <p:cNvCxnSpPr/>
          <p:nvPr/>
        </p:nvCxnSpPr>
        <p:spPr>
          <a:xfrm>
            <a:off x="723900" y="5648325"/>
            <a:ext cx="10763250" cy="0"/>
          </a:xfrm>
          <a:prstGeom prst="straightConnector1">
            <a:avLst/>
          </a:prstGeom>
          <a:noFill/>
          <a:ln cap="flat" cmpd="sng" w="9525">
            <a:solidFill>
              <a:srgbClr val="CBD7DC"/>
            </a:solidFill>
            <a:prstDash val="solid"/>
            <a:round/>
            <a:headEnd len="sm" w="sm" type="none"/>
            <a:tailEnd len="sm" w="sm" type="none"/>
          </a:ln>
        </p:spPr>
      </p:cxnSp>
      <p:sp>
        <p:nvSpPr>
          <p:cNvPr id="522" name="Google Shape;522;p16"/>
          <p:cNvSpPr/>
          <p:nvPr/>
        </p:nvSpPr>
        <p:spPr>
          <a:xfrm>
            <a:off x="742950" y="5905500"/>
            <a:ext cx="10572750" cy="209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200">
                <a:solidFill>
                  <a:srgbClr val="607383"/>
                </a:solidFill>
                <a:latin typeface="Helvetica Neue"/>
                <a:ea typeface="Helvetica Neue"/>
                <a:cs typeface="Helvetica Neue"/>
                <a:sym typeface="Helvetica Neue"/>
              </a:rPr>
              <a:t>Break 14:30–14:45     Domestic hardening replaces the extension if assets are not ready</a:t>
            </a:r>
            <a:endParaRPr/>
          </a:p>
        </p:txBody>
      </p:sp>
      <p:cxnSp>
        <p:nvCxnSpPr>
          <p:cNvPr id="523" name="Google Shape;523;p16"/>
          <p:cNvCxnSpPr/>
          <p:nvPr/>
        </p:nvCxnSpPr>
        <p:spPr>
          <a:xfrm>
            <a:off x="609600" y="6477000"/>
            <a:ext cx="10953750" cy="0"/>
          </a:xfrm>
          <a:prstGeom prst="straightConnector1">
            <a:avLst/>
          </a:prstGeom>
          <a:noFill/>
          <a:ln cap="flat" cmpd="sng" w="9525">
            <a:solidFill>
              <a:srgbClr val="CBD7DC"/>
            </a:solidFill>
            <a:prstDash val="solid"/>
            <a:round/>
            <a:headEnd len="sm" w="sm" type="none"/>
            <a:tailEnd len="sm" w="sm" type="none"/>
          </a:ln>
        </p:spPr>
      </p:cxnSp>
      <p:sp>
        <p:nvSpPr>
          <p:cNvPr id="524" name="Google Shape;524;p16"/>
          <p:cNvSpPr/>
          <p:nvPr/>
        </p:nvSpPr>
        <p:spPr>
          <a:xfrm>
            <a:off x="704850" y="6619875"/>
            <a:ext cx="6667500" cy="171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088">
                <a:solidFill>
                  <a:srgbClr val="607383"/>
                </a:solidFill>
                <a:latin typeface="Helvetica Neue"/>
                <a:ea typeface="Helvetica Neue"/>
                <a:cs typeface="Helvetica Neue"/>
                <a:sym typeface="Helvetica Neue"/>
              </a:rPr>
              <a:t>Thailand technologist workstream, partner preparation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9" name="Shape 529"/>
        <p:cNvGrpSpPr/>
        <p:nvPr/>
      </p:nvGrpSpPr>
      <p:grpSpPr>
        <a:xfrm>
          <a:off x="0" y="0"/>
          <a:ext cx="0" cy="0"/>
          <a:chOff x="0" y="0"/>
          <a:chExt cx="0" cy="0"/>
        </a:xfrm>
      </p:grpSpPr>
      <p:sp>
        <p:nvSpPr>
          <p:cNvPr id="530" name="Google Shape;530;p17"/>
          <p:cNvSpPr/>
          <p:nvPr/>
        </p:nvSpPr>
        <p:spPr>
          <a:xfrm>
            <a:off x="609600" y="361950"/>
            <a:ext cx="10382250" cy="495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2550"/>
              <a:buFont typeface="Helvetica Neue"/>
              <a:buNone/>
            </a:pPr>
            <a:r>
              <a:rPr b="1" lang="en-US" sz="2550">
                <a:solidFill>
                  <a:srgbClr val="12304A"/>
                </a:solidFill>
                <a:latin typeface="Helvetica Neue"/>
                <a:ea typeface="Helvetica Neue"/>
                <a:cs typeface="Helvetica Neue"/>
                <a:sym typeface="Helvetica Neue"/>
              </a:rPr>
              <a:t>Cohort and lab design</a:t>
            </a:r>
            <a:endParaRPr/>
          </a:p>
        </p:txBody>
      </p:sp>
      <p:sp>
        <p:nvSpPr>
          <p:cNvPr id="531" name="Google Shape;531;p17"/>
          <p:cNvSpPr/>
          <p:nvPr/>
        </p:nvSpPr>
        <p:spPr>
          <a:xfrm>
            <a:off x="628650" y="885825"/>
            <a:ext cx="1038225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6D7A"/>
              </a:buClr>
              <a:buSzPts val="1350"/>
              <a:buFont typeface="Helvetica Neue"/>
              <a:buNone/>
            </a:pPr>
            <a:r>
              <a:rPr b="0" lang="en-US" sz="1350">
                <a:solidFill>
                  <a:srgbClr val="5A6D7A"/>
                </a:solidFill>
                <a:latin typeface="Helvetica Neue"/>
                <a:ea typeface="Helvetica Neue"/>
                <a:cs typeface="Helvetica Neue"/>
                <a:sym typeface="Helvetica Neue"/>
              </a:rPr>
              <a:t>All participants share the same foundations, then choose tasks that match their readiness</a:t>
            </a:r>
            <a:endParaRPr/>
          </a:p>
        </p:txBody>
      </p:sp>
      <p:sp>
        <p:nvSpPr>
          <p:cNvPr id="532" name="Google Shape;532;p17"/>
          <p:cNvSpPr/>
          <p:nvPr/>
        </p:nvSpPr>
        <p:spPr>
          <a:xfrm>
            <a:off x="609600" y="1257300"/>
            <a:ext cx="876300" cy="47625"/>
          </a:xfrm>
          <a:prstGeom prst="rect">
            <a:avLst/>
          </a:prstGeom>
          <a:solidFill>
            <a:srgbClr val="008C9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533" name="Google Shape;533;p17"/>
          <p:cNvSpPr/>
          <p:nvPr/>
        </p:nvSpPr>
        <p:spPr>
          <a:xfrm>
            <a:off x="11201400" y="457200"/>
            <a:ext cx="4572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8C95"/>
              </a:buClr>
              <a:buSzPts val="1050"/>
              <a:buFont typeface="Helvetica Neue"/>
              <a:buNone/>
            </a:pPr>
            <a:r>
              <a:rPr b="1" lang="en-US" sz="1050">
                <a:solidFill>
                  <a:srgbClr val="008C95"/>
                </a:solidFill>
                <a:latin typeface="Helvetica Neue"/>
                <a:ea typeface="Helvetica Neue"/>
                <a:cs typeface="Helvetica Neue"/>
                <a:sym typeface="Helvetica Neue"/>
              </a:rPr>
              <a:t>11</a:t>
            </a:r>
            <a:endParaRPr/>
          </a:p>
        </p:txBody>
      </p:sp>
      <p:sp>
        <p:nvSpPr>
          <p:cNvPr id="534" name="Google Shape;534;p17"/>
          <p:cNvSpPr/>
          <p:nvPr/>
        </p:nvSpPr>
        <p:spPr>
          <a:xfrm>
            <a:off x="685800" y="1543050"/>
            <a:ext cx="314325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8C95"/>
              </a:buClr>
              <a:buSzPts val="1200"/>
              <a:buFont typeface="Helvetica Neue"/>
              <a:buNone/>
            </a:pPr>
            <a:r>
              <a:rPr b="1" lang="en-US" sz="1200">
                <a:solidFill>
                  <a:srgbClr val="008C95"/>
                </a:solidFill>
                <a:latin typeface="Helvetica Neue"/>
                <a:ea typeface="Helvetica Neue"/>
                <a:cs typeface="Helvetica Neue"/>
                <a:sym typeface="Helvetica Neue"/>
              </a:rPr>
              <a:t>ADVANCE PROFILE</a:t>
            </a:r>
            <a:endParaRPr/>
          </a:p>
        </p:txBody>
      </p:sp>
      <p:sp>
        <p:nvSpPr>
          <p:cNvPr id="535" name="Google Shape;535;p17"/>
          <p:cNvSpPr/>
          <p:nvPr/>
        </p:nvSpPr>
        <p:spPr>
          <a:xfrm>
            <a:off x="685800" y="1943100"/>
            <a:ext cx="4667250"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575"/>
              <a:buFont typeface="Helvetica Neue"/>
              <a:buNone/>
            </a:pPr>
            <a:r>
              <a:rPr b="1" lang="en-US" sz="1575">
                <a:solidFill>
                  <a:srgbClr val="12304A"/>
                </a:solidFill>
                <a:latin typeface="Helvetica Neue"/>
                <a:ea typeface="Helvetica Neue"/>
                <a:cs typeface="Helvetica Neue"/>
                <a:sym typeface="Helvetica Neue"/>
              </a:rPr>
              <a:t>Survey each participant before the workshop. Use the results to set scaffolding and facilitator ratios.</a:t>
            </a:r>
            <a:endParaRPr/>
          </a:p>
        </p:txBody>
      </p:sp>
      <p:sp>
        <p:nvSpPr>
          <p:cNvPr id="536" name="Google Shape;536;p17"/>
          <p:cNvSpPr/>
          <p:nvPr/>
        </p:nvSpPr>
        <p:spPr>
          <a:xfrm>
            <a:off x="723900" y="2819400"/>
            <a:ext cx="209550" cy="209550"/>
          </a:xfrm>
          <a:prstGeom prst="roundRect">
            <a:avLst>
              <a:gd fmla="val 50000" name="adj"/>
            </a:avLst>
          </a:prstGeom>
          <a:solidFill>
            <a:srgbClr val="008C9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537" name="Google Shape;537;p17"/>
          <p:cNvSpPr/>
          <p:nvPr/>
        </p:nvSpPr>
        <p:spPr>
          <a:xfrm>
            <a:off x="1066800" y="2771775"/>
            <a:ext cx="409575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275"/>
              <a:buFont typeface="Helvetica Neue"/>
              <a:buNone/>
            </a:pPr>
            <a:r>
              <a:rPr b="0" lang="en-US" sz="1275">
                <a:solidFill>
                  <a:srgbClr val="193044"/>
                </a:solidFill>
                <a:latin typeface="Helvetica Neue"/>
                <a:ea typeface="Helvetica Neue"/>
                <a:cs typeface="Helvetica Neue"/>
                <a:sym typeface="Helvetica Neue"/>
              </a:rPr>
              <a:t>FHIR and API experience</a:t>
            </a:r>
            <a:endParaRPr/>
          </a:p>
        </p:txBody>
      </p:sp>
      <p:sp>
        <p:nvSpPr>
          <p:cNvPr id="538" name="Google Shape;538;p17"/>
          <p:cNvSpPr/>
          <p:nvPr/>
        </p:nvSpPr>
        <p:spPr>
          <a:xfrm>
            <a:off x="723900" y="3324225"/>
            <a:ext cx="209550" cy="209550"/>
          </a:xfrm>
          <a:prstGeom prst="roundRect">
            <a:avLst>
              <a:gd fmla="val 50000" name="adj"/>
            </a:avLst>
          </a:prstGeom>
          <a:solidFill>
            <a:srgbClr val="008C9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539" name="Google Shape;539;p17"/>
          <p:cNvSpPr/>
          <p:nvPr/>
        </p:nvSpPr>
        <p:spPr>
          <a:xfrm>
            <a:off x="1066800" y="3276600"/>
            <a:ext cx="409575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275"/>
              <a:buFont typeface="Helvetica Neue"/>
              <a:buNone/>
            </a:pPr>
            <a:r>
              <a:rPr b="0" lang="en-US" sz="1275">
                <a:solidFill>
                  <a:srgbClr val="193044"/>
                </a:solidFill>
                <a:latin typeface="Helvetica Neue"/>
                <a:ea typeface="Helvetica Neue"/>
                <a:cs typeface="Helvetica Neue"/>
                <a:sym typeface="Helvetica Neue"/>
              </a:rPr>
              <a:t>Role and preferred coding language</a:t>
            </a:r>
            <a:endParaRPr/>
          </a:p>
        </p:txBody>
      </p:sp>
      <p:sp>
        <p:nvSpPr>
          <p:cNvPr id="540" name="Google Shape;540;p17"/>
          <p:cNvSpPr/>
          <p:nvPr/>
        </p:nvSpPr>
        <p:spPr>
          <a:xfrm>
            <a:off x="723900" y="3829050"/>
            <a:ext cx="209550" cy="209550"/>
          </a:xfrm>
          <a:prstGeom prst="roundRect">
            <a:avLst>
              <a:gd fmla="val 50000" name="adj"/>
            </a:avLst>
          </a:prstGeom>
          <a:solidFill>
            <a:srgbClr val="008C9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541" name="Google Shape;541;p17"/>
          <p:cNvSpPr/>
          <p:nvPr/>
        </p:nvSpPr>
        <p:spPr>
          <a:xfrm>
            <a:off x="1066800" y="3781425"/>
            <a:ext cx="409575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275"/>
              <a:buFont typeface="Helvetica Neue"/>
              <a:buNone/>
            </a:pPr>
            <a:r>
              <a:rPr b="0" lang="en-US" sz="1275">
                <a:solidFill>
                  <a:srgbClr val="193044"/>
                </a:solidFill>
                <a:latin typeface="Helvetica Neue"/>
                <a:ea typeface="Helvetica Neue"/>
                <a:cs typeface="Helvetica Neue"/>
                <a:sym typeface="Helvetica Neue"/>
              </a:rPr>
              <a:t>Access, device and connectivity limits</a:t>
            </a:r>
            <a:endParaRPr/>
          </a:p>
        </p:txBody>
      </p:sp>
      <p:sp>
        <p:nvSpPr>
          <p:cNvPr id="542" name="Google Shape;542;p17"/>
          <p:cNvSpPr/>
          <p:nvPr/>
        </p:nvSpPr>
        <p:spPr>
          <a:xfrm>
            <a:off x="723900" y="4333875"/>
            <a:ext cx="209550" cy="209550"/>
          </a:xfrm>
          <a:prstGeom prst="roundRect">
            <a:avLst>
              <a:gd fmla="val 50000" name="adj"/>
            </a:avLst>
          </a:prstGeom>
          <a:solidFill>
            <a:srgbClr val="008C9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543" name="Google Shape;543;p17"/>
          <p:cNvSpPr/>
          <p:nvPr/>
        </p:nvSpPr>
        <p:spPr>
          <a:xfrm>
            <a:off x="1066800" y="4286250"/>
            <a:ext cx="409575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275"/>
              <a:buFont typeface="Helvetica Neue"/>
              <a:buNone/>
            </a:pPr>
            <a:r>
              <a:rPr b="0" lang="en-US" sz="1275">
                <a:solidFill>
                  <a:srgbClr val="193044"/>
                </a:solidFill>
                <a:latin typeface="Helvetica Neue"/>
                <a:ea typeface="Helvetica Neue"/>
                <a:cs typeface="Helvetica Neue"/>
                <a:sym typeface="Helvetica Neue"/>
              </a:rPr>
              <a:t>Immunization system context</a:t>
            </a:r>
            <a:endParaRPr/>
          </a:p>
        </p:txBody>
      </p:sp>
      <p:sp>
        <p:nvSpPr>
          <p:cNvPr id="544" name="Google Shape;544;p17"/>
          <p:cNvSpPr/>
          <p:nvPr/>
        </p:nvSpPr>
        <p:spPr>
          <a:xfrm>
            <a:off x="723900" y="4838700"/>
            <a:ext cx="209550" cy="209550"/>
          </a:xfrm>
          <a:prstGeom prst="roundRect">
            <a:avLst>
              <a:gd fmla="val 50000" name="adj"/>
            </a:avLst>
          </a:prstGeom>
          <a:solidFill>
            <a:srgbClr val="008C9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545" name="Google Shape;545;p17"/>
          <p:cNvSpPr/>
          <p:nvPr/>
        </p:nvSpPr>
        <p:spPr>
          <a:xfrm>
            <a:off x="1066800" y="4791075"/>
            <a:ext cx="409575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275"/>
              <a:buFont typeface="Helvetica Neue"/>
              <a:buNone/>
            </a:pPr>
            <a:r>
              <a:rPr b="0" lang="en-US" sz="1275">
                <a:solidFill>
                  <a:srgbClr val="193044"/>
                </a:solidFill>
                <a:latin typeface="Helvetica Neue"/>
                <a:ea typeface="Helvetica Neue"/>
                <a:cs typeface="Helvetica Neue"/>
                <a:sym typeface="Helvetica Neue"/>
              </a:rPr>
              <a:t>Preferred lab and support needs</a:t>
            </a:r>
            <a:endParaRPr/>
          </a:p>
        </p:txBody>
      </p:sp>
      <p:cxnSp>
        <p:nvCxnSpPr>
          <p:cNvPr id="546" name="Google Shape;546;p17"/>
          <p:cNvCxnSpPr/>
          <p:nvPr/>
        </p:nvCxnSpPr>
        <p:spPr>
          <a:xfrm>
            <a:off x="5905500" y="1504950"/>
            <a:ext cx="0" cy="4305300"/>
          </a:xfrm>
          <a:prstGeom prst="straightConnector1">
            <a:avLst/>
          </a:prstGeom>
          <a:noFill/>
          <a:ln cap="flat" cmpd="sng" w="19050">
            <a:solidFill>
              <a:srgbClr val="C7D2D9"/>
            </a:solidFill>
            <a:prstDash val="solid"/>
            <a:round/>
            <a:headEnd len="sm" w="sm" type="none"/>
            <a:tailEnd len="sm" w="sm" type="none"/>
          </a:ln>
        </p:spPr>
      </p:cxnSp>
      <p:sp>
        <p:nvSpPr>
          <p:cNvPr id="547" name="Google Shape;547;p17"/>
          <p:cNvSpPr/>
          <p:nvPr/>
        </p:nvSpPr>
        <p:spPr>
          <a:xfrm>
            <a:off x="6438900" y="1543050"/>
            <a:ext cx="314325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B78A6"/>
              </a:buClr>
              <a:buSzPts val="1200"/>
              <a:buFont typeface="Helvetica Neue"/>
              <a:buNone/>
            </a:pPr>
            <a:r>
              <a:rPr b="1" lang="en-US" sz="1200">
                <a:solidFill>
                  <a:srgbClr val="4B78A6"/>
                </a:solidFill>
                <a:latin typeface="Helvetica Neue"/>
                <a:ea typeface="Helvetica Neue"/>
                <a:cs typeface="Helvetica Neue"/>
                <a:sym typeface="Helvetica Neue"/>
              </a:rPr>
              <a:t>LAB CHOICES</a:t>
            </a:r>
            <a:endParaRPr/>
          </a:p>
        </p:txBody>
      </p:sp>
      <p:sp>
        <p:nvSpPr>
          <p:cNvPr id="548" name="Google Shape;548;p17"/>
          <p:cNvSpPr/>
          <p:nvPr/>
        </p:nvSpPr>
        <p:spPr>
          <a:xfrm>
            <a:off x="6438900" y="1943100"/>
            <a:ext cx="4667250"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575"/>
              <a:buFont typeface="Helvetica Neue"/>
              <a:buNone/>
            </a:pPr>
            <a:r>
              <a:rPr b="1" lang="en-US" sz="1575">
                <a:solidFill>
                  <a:srgbClr val="12304A"/>
                </a:solidFill>
                <a:latin typeface="Helvetica Neue"/>
                <a:ea typeface="Helvetica Neue"/>
                <a:cs typeface="Helvetica Neue"/>
                <a:sym typeface="Helvetica Neue"/>
              </a:rPr>
              <a:t>Keep one cohort. Regroup at common checkpoints after each lab block.</a:t>
            </a:r>
            <a:endParaRPr/>
          </a:p>
        </p:txBody>
      </p:sp>
      <p:sp>
        <p:nvSpPr>
          <p:cNvPr id="549" name="Google Shape;549;p17"/>
          <p:cNvSpPr/>
          <p:nvPr/>
        </p:nvSpPr>
        <p:spPr>
          <a:xfrm>
            <a:off x="6477000" y="2819400"/>
            <a:ext cx="209550" cy="209550"/>
          </a:xfrm>
          <a:prstGeom prst="roundRect">
            <a:avLst>
              <a:gd fmla="val 50000" name="adj"/>
            </a:avLst>
          </a:prstGeom>
          <a:solidFill>
            <a:srgbClr val="4B78A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550" name="Google Shape;550;p17"/>
          <p:cNvSpPr/>
          <p:nvPr/>
        </p:nvSpPr>
        <p:spPr>
          <a:xfrm>
            <a:off x="6819900" y="2771775"/>
            <a:ext cx="409575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275"/>
              <a:buFont typeface="Helvetica Neue"/>
              <a:buNone/>
            </a:pPr>
            <a:r>
              <a:rPr b="0" lang="en-US" sz="1275">
                <a:solidFill>
                  <a:srgbClr val="193044"/>
                </a:solidFill>
                <a:latin typeface="Helvetica Neue"/>
                <a:ea typeface="Helvetica Neue"/>
                <a:cs typeface="Helvetica Neue"/>
                <a:sym typeface="Helvetica Neue"/>
              </a:rPr>
              <a:t>Guided resource correction and validation</a:t>
            </a:r>
            <a:endParaRPr/>
          </a:p>
        </p:txBody>
      </p:sp>
      <p:sp>
        <p:nvSpPr>
          <p:cNvPr id="551" name="Google Shape;551;p17"/>
          <p:cNvSpPr/>
          <p:nvPr/>
        </p:nvSpPr>
        <p:spPr>
          <a:xfrm>
            <a:off x="6477000" y="3324225"/>
            <a:ext cx="209550" cy="209550"/>
          </a:xfrm>
          <a:prstGeom prst="roundRect">
            <a:avLst>
              <a:gd fmla="val 50000" name="adj"/>
            </a:avLst>
          </a:prstGeom>
          <a:solidFill>
            <a:srgbClr val="4B78A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552" name="Google Shape;552;p17"/>
          <p:cNvSpPr/>
          <p:nvPr/>
        </p:nvSpPr>
        <p:spPr>
          <a:xfrm>
            <a:off x="6819900" y="3276600"/>
            <a:ext cx="409575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275"/>
              <a:buFont typeface="Helvetica Neue"/>
              <a:buNone/>
            </a:pPr>
            <a:r>
              <a:rPr b="0" lang="en-US" sz="1275">
                <a:solidFill>
                  <a:srgbClr val="193044"/>
                </a:solidFill>
                <a:latin typeface="Helvetica Neue"/>
                <a:ea typeface="Helvetica Neue"/>
                <a:cs typeface="Helvetica Neue"/>
                <a:sym typeface="Helvetica Neue"/>
              </a:rPr>
              <a:t>Legacy data mapping and transformation</a:t>
            </a:r>
            <a:endParaRPr/>
          </a:p>
        </p:txBody>
      </p:sp>
      <p:sp>
        <p:nvSpPr>
          <p:cNvPr id="553" name="Google Shape;553;p17"/>
          <p:cNvSpPr/>
          <p:nvPr/>
        </p:nvSpPr>
        <p:spPr>
          <a:xfrm>
            <a:off x="6477000" y="3829050"/>
            <a:ext cx="209550" cy="209550"/>
          </a:xfrm>
          <a:prstGeom prst="roundRect">
            <a:avLst>
              <a:gd fmla="val 50000" name="adj"/>
            </a:avLst>
          </a:prstGeom>
          <a:solidFill>
            <a:srgbClr val="4B78A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554" name="Google Shape;554;p17"/>
          <p:cNvSpPr/>
          <p:nvPr/>
        </p:nvSpPr>
        <p:spPr>
          <a:xfrm>
            <a:off x="6819900" y="3781425"/>
            <a:ext cx="409575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275"/>
              <a:buFont typeface="Helvetica Neue"/>
              <a:buNone/>
            </a:pPr>
            <a:r>
              <a:rPr b="0" lang="en-US" sz="1275">
                <a:solidFill>
                  <a:srgbClr val="193044"/>
                </a:solidFill>
                <a:latin typeface="Helvetica Neue"/>
                <a:ea typeface="Helvetica Neue"/>
                <a:cs typeface="Helvetica Neue"/>
                <a:sym typeface="Helvetica Neue"/>
              </a:rPr>
              <a:t>Terminology or profile testing</a:t>
            </a:r>
            <a:endParaRPr/>
          </a:p>
        </p:txBody>
      </p:sp>
      <p:sp>
        <p:nvSpPr>
          <p:cNvPr id="555" name="Google Shape;555;p17"/>
          <p:cNvSpPr/>
          <p:nvPr/>
        </p:nvSpPr>
        <p:spPr>
          <a:xfrm>
            <a:off x="6477000" y="4333875"/>
            <a:ext cx="209550" cy="209550"/>
          </a:xfrm>
          <a:prstGeom prst="roundRect">
            <a:avLst>
              <a:gd fmla="val 50000" name="adj"/>
            </a:avLst>
          </a:prstGeom>
          <a:solidFill>
            <a:srgbClr val="4B78A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556" name="Google Shape;556;p17"/>
          <p:cNvSpPr/>
          <p:nvPr/>
        </p:nvSpPr>
        <p:spPr>
          <a:xfrm>
            <a:off x="6819900" y="4286250"/>
            <a:ext cx="409575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275"/>
              <a:buFont typeface="Helvetica Neue"/>
              <a:buNone/>
            </a:pPr>
            <a:r>
              <a:rPr b="0" lang="en-US" sz="1275">
                <a:solidFill>
                  <a:srgbClr val="193044"/>
                </a:solidFill>
                <a:latin typeface="Helvetica Neue"/>
                <a:ea typeface="Helvetica Neue"/>
                <a:cs typeface="Helvetica Neue"/>
                <a:sym typeface="Helvetica Neue"/>
              </a:rPr>
              <a:t>OHS FHIR Engine demo or component configuration</a:t>
            </a:r>
            <a:endParaRPr/>
          </a:p>
        </p:txBody>
      </p:sp>
      <p:sp>
        <p:nvSpPr>
          <p:cNvPr id="557" name="Google Shape;557;p17"/>
          <p:cNvSpPr/>
          <p:nvPr/>
        </p:nvSpPr>
        <p:spPr>
          <a:xfrm>
            <a:off x="6477000" y="4838700"/>
            <a:ext cx="209550" cy="209550"/>
          </a:xfrm>
          <a:prstGeom prst="roundRect">
            <a:avLst>
              <a:gd fmla="val 50000" name="adj"/>
            </a:avLst>
          </a:prstGeom>
          <a:solidFill>
            <a:srgbClr val="4B78A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558" name="Google Shape;558;p17"/>
          <p:cNvSpPr/>
          <p:nvPr/>
        </p:nvSpPr>
        <p:spPr>
          <a:xfrm>
            <a:off x="6819900" y="4791075"/>
            <a:ext cx="409575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275"/>
              <a:buFont typeface="Helvetica Neue"/>
              <a:buNone/>
            </a:pPr>
            <a:r>
              <a:rPr b="0" lang="en-US" sz="1275">
                <a:solidFill>
                  <a:srgbClr val="193044"/>
                </a:solidFill>
                <a:latin typeface="Helvetica Neue"/>
                <a:ea typeface="Helvetica Neue"/>
                <a:cs typeface="Helvetica Neue"/>
                <a:sym typeface="Helvetica Neue"/>
              </a:rPr>
              <a:t>Test failure analysis and peer support</a:t>
            </a:r>
            <a:endParaRPr/>
          </a:p>
        </p:txBody>
      </p:sp>
      <p:sp>
        <p:nvSpPr>
          <p:cNvPr id="559" name="Google Shape;559;p17"/>
          <p:cNvSpPr/>
          <p:nvPr/>
        </p:nvSpPr>
        <p:spPr>
          <a:xfrm>
            <a:off x="685800" y="5638800"/>
            <a:ext cx="10420350" cy="495300"/>
          </a:xfrm>
          <a:prstGeom prst="roundRect">
            <a:avLst>
              <a:gd fmla="val 19231" name="adj"/>
            </a:avLst>
          </a:prstGeom>
          <a:solidFill>
            <a:srgbClr val="EAF5F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560" name="Google Shape;560;p17"/>
          <p:cNvSpPr/>
          <p:nvPr/>
        </p:nvSpPr>
        <p:spPr>
          <a:xfrm>
            <a:off x="895350" y="5762625"/>
            <a:ext cx="10001250"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275"/>
              <a:buFont typeface="Helvetica Neue"/>
              <a:buNone/>
            </a:pPr>
            <a:r>
              <a:rPr b="1" lang="en-US" sz="1275">
                <a:solidFill>
                  <a:srgbClr val="12304A"/>
                </a:solidFill>
                <a:latin typeface="Helvetica Neue"/>
                <a:ea typeface="Helvetica Neue"/>
                <a:cs typeface="Helvetica Neue"/>
                <a:sym typeface="Helvetica Neue"/>
              </a:rPr>
              <a:t>Every lab produces an artifact for the Day 2 practicum.</a:t>
            </a:r>
            <a:endParaRPr/>
          </a:p>
        </p:txBody>
      </p:sp>
      <p:cxnSp>
        <p:nvCxnSpPr>
          <p:cNvPr id="561" name="Google Shape;561;p17"/>
          <p:cNvCxnSpPr/>
          <p:nvPr/>
        </p:nvCxnSpPr>
        <p:spPr>
          <a:xfrm>
            <a:off x="609600" y="6477000"/>
            <a:ext cx="10972800" cy="0"/>
          </a:xfrm>
          <a:prstGeom prst="straightConnector1">
            <a:avLst/>
          </a:prstGeom>
          <a:noFill/>
          <a:ln cap="flat" cmpd="sng" w="9525">
            <a:solidFill>
              <a:srgbClr val="C7D2D9"/>
            </a:solidFill>
            <a:prstDash val="solid"/>
            <a:round/>
            <a:headEnd len="sm" w="sm" type="none"/>
            <a:tailEnd len="sm" w="sm" type="none"/>
          </a:ln>
        </p:spPr>
      </p:cxnSp>
      <p:sp>
        <p:nvSpPr>
          <p:cNvPr id="562" name="Google Shape;562;p17"/>
          <p:cNvSpPr/>
          <p:nvPr/>
        </p:nvSpPr>
        <p:spPr>
          <a:xfrm>
            <a:off x="609600" y="6553200"/>
            <a:ext cx="8572500" cy="190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6D7A"/>
              </a:buClr>
              <a:buSzPts val="900"/>
              <a:buFont typeface="Helvetica Neue"/>
              <a:buNone/>
            </a:pPr>
            <a:r>
              <a:rPr b="0" lang="en-US" sz="900">
                <a:solidFill>
                  <a:srgbClr val="5A6D7A"/>
                </a:solidFill>
                <a:latin typeface="Helvetica Neue"/>
                <a:ea typeface="Helvetica Neue"/>
                <a:cs typeface="Helvetica Neue"/>
                <a:sym typeface="Helvetica Neue"/>
              </a:rPr>
              <a:t>Thailand technologist workstream, partner preparation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1E8"/>
        </a:solidFill>
      </p:bgPr>
    </p:bg>
    <p:spTree>
      <p:nvGrpSpPr>
        <p:cNvPr id="567" name="Shape 567"/>
        <p:cNvGrpSpPr/>
        <p:nvPr/>
      </p:nvGrpSpPr>
      <p:grpSpPr>
        <a:xfrm>
          <a:off x="0" y="0"/>
          <a:ext cx="0" cy="0"/>
          <a:chOff x="0" y="0"/>
          <a:chExt cx="0" cy="0"/>
        </a:xfrm>
      </p:grpSpPr>
      <p:sp>
        <p:nvSpPr>
          <p:cNvPr id="568" name="Google Shape;568;p18"/>
          <p:cNvSpPr/>
          <p:nvPr/>
        </p:nvSpPr>
        <p:spPr>
          <a:xfrm>
            <a:off x="609600" y="361950"/>
            <a:ext cx="10382250" cy="495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2550"/>
              <a:buFont typeface="Helvetica Neue"/>
              <a:buNone/>
            </a:pPr>
            <a:r>
              <a:rPr b="1" lang="en-US" sz="2550">
                <a:solidFill>
                  <a:srgbClr val="12304A"/>
                </a:solidFill>
                <a:latin typeface="Helvetica Neue"/>
                <a:ea typeface="Helvetica Neue"/>
                <a:cs typeface="Helvetica Neue"/>
                <a:sym typeface="Helvetica Neue"/>
              </a:rPr>
              <a:t>Prepared practicum flow</a:t>
            </a:r>
            <a:endParaRPr/>
          </a:p>
        </p:txBody>
      </p:sp>
      <p:sp>
        <p:nvSpPr>
          <p:cNvPr id="569" name="Google Shape;569;p18"/>
          <p:cNvSpPr/>
          <p:nvPr/>
        </p:nvSpPr>
        <p:spPr>
          <a:xfrm>
            <a:off x="628650" y="885825"/>
            <a:ext cx="1038225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6D7A"/>
              </a:buClr>
              <a:buSzPts val="1350"/>
              <a:buFont typeface="Helvetica Neue"/>
              <a:buNone/>
            </a:pPr>
            <a:r>
              <a:rPr b="0" lang="en-US" sz="1350">
                <a:solidFill>
                  <a:srgbClr val="5A6D7A"/>
                </a:solidFill>
                <a:latin typeface="Helvetica Neue"/>
                <a:ea typeface="Helvetica Neue"/>
                <a:cs typeface="Helvetica Neue"/>
                <a:sym typeface="Helvetica Neue"/>
              </a:rPr>
              <a:t>Pre-built components and test data keep the endpoint achievable</a:t>
            </a:r>
            <a:endParaRPr/>
          </a:p>
        </p:txBody>
      </p:sp>
      <p:sp>
        <p:nvSpPr>
          <p:cNvPr id="570" name="Google Shape;570;p18"/>
          <p:cNvSpPr/>
          <p:nvPr/>
        </p:nvSpPr>
        <p:spPr>
          <a:xfrm>
            <a:off x="609600" y="1257300"/>
            <a:ext cx="876300" cy="47625"/>
          </a:xfrm>
          <a:prstGeom prst="rect">
            <a:avLst/>
          </a:prstGeom>
          <a:solidFill>
            <a:srgbClr val="008C9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571" name="Google Shape;571;p18"/>
          <p:cNvSpPr/>
          <p:nvPr/>
        </p:nvSpPr>
        <p:spPr>
          <a:xfrm>
            <a:off x="11201400" y="457200"/>
            <a:ext cx="4572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8C95"/>
              </a:buClr>
              <a:buSzPts val="1050"/>
              <a:buFont typeface="Helvetica Neue"/>
              <a:buNone/>
            </a:pPr>
            <a:r>
              <a:rPr b="1" lang="en-US" sz="1050">
                <a:solidFill>
                  <a:srgbClr val="008C95"/>
                </a:solidFill>
                <a:latin typeface="Helvetica Neue"/>
                <a:ea typeface="Helvetica Neue"/>
                <a:cs typeface="Helvetica Neue"/>
                <a:sym typeface="Helvetica Neue"/>
              </a:rPr>
              <a:t>12</a:t>
            </a:r>
            <a:endParaRPr/>
          </a:p>
        </p:txBody>
      </p:sp>
      <p:sp>
        <p:nvSpPr>
          <p:cNvPr id="572" name="Google Shape;572;p18"/>
          <p:cNvSpPr/>
          <p:nvPr/>
        </p:nvSpPr>
        <p:spPr>
          <a:xfrm>
            <a:off x="514350" y="1809750"/>
            <a:ext cx="1666875" cy="2876550"/>
          </a:xfrm>
          <a:prstGeom prst="roundRect">
            <a:avLst>
              <a:gd fmla="val 6857" name="adj"/>
            </a:avLst>
          </a:prstGeom>
          <a:solidFill>
            <a:srgbClr val="FFFFFF"/>
          </a:solidFill>
          <a:ln cap="flat" cmpd="sng" w="9525">
            <a:solidFill>
              <a:srgbClr val="C7D2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573" name="Google Shape;573;p18"/>
          <p:cNvSpPr/>
          <p:nvPr/>
        </p:nvSpPr>
        <p:spPr>
          <a:xfrm>
            <a:off x="685800" y="2000250"/>
            <a:ext cx="38100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8C95"/>
              </a:buClr>
              <a:buSzPts val="1800"/>
              <a:buFont typeface="Helvetica Neue"/>
              <a:buNone/>
            </a:pPr>
            <a:r>
              <a:rPr b="1" lang="en-US" sz="1800">
                <a:solidFill>
                  <a:srgbClr val="008C95"/>
                </a:solidFill>
                <a:latin typeface="Helvetica Neue"/>
                <a:ea typeface="Helvetica Neue"/>
                <a:cs typeface="Helvetica Neue"/>
                <a:sym typeface="Helvetica Neue"/>
              </a:rPr>
              <a:t>1</a:t>
            </a:r>
            <a:endParaRPr/>
          </a:p>
        </p:txBody>
      </p:sp>
      <p:sp>
        <p:nvSpPr>
          <p:cNvPr id="574" name="Google Shape;574;p18"/>
          <p:cNvSpPr/>
          <p:nvPr/>
        </p:nvSpPr>
        <p:spPr>
          <a:xfrm>
            <a:off x="685800" y="2552700"/>
            <a:ext cx="135255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350"/>
              <a:buFont typeface="Helvetica Neue"/>
              <a:buNone/>
            </a:pPr>
            <a:r>
              <a:rPr b="1" lang="en-US" sz="1350">
                <a:solidFill>
                  <a:srgbClr val="12304A"/>
                </a:solidFill>
                <a:latin typeface="Helvetica Neue"/>
                <a:ea typeface="Helvetica Neue"/>
                <a:cs typeface="Helvetica Neue"/>
                <a:sym typeface="Helvetica Neue"/>
              </a:rPr>
              <a:t>Inspect</a:t>
            </a:r>
            <a:endParaRPr/>
          </a:p>
        </p:txBody>
      </p:sp>
      <p:sp>
        <p:nvSpPr>
          <p:cNvPr id="575" name="Google Shape;575;p18"/>
          <p:cNvSpPr/>
          <p:nvPr/>
        </p:nvSpPr>
        <p:spPr>
          <a:xfrm>
            <a:off x="685800" y="3067050"/>
            <a:ext cx="1333500" cy="1104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200"/>
              <a:buFont typeface="Helvetica Neue"/>
              <a:buNone/>
            </a:pPr>
            <a:r>
              <a:rPr b="0" lang="en-US" sz="1200">
                <a:solidFill>
                  <a:srgbClr val="193044"/>
                </a:solidFill>
                <a:latin typeface="Helvetica Neue"/>
                <a:ea typeface="Helvetica Neue"/>
                <a:cs typeface="Helvetica Neue"/>
                <a:sym typeface="Helvetica Neue"/>
              </a:rPr>
              <a:t>Patient journey and registry schema</a:t>
            </a:r>
            <a:endParaRPr/>
          </a:p>
        </p:txBody>
      </p:sp>
      <p:cxnSp>
        <p:nvCxnSpPr>
          <p:cNvPr id="576" name="Google Shape;576;p18"/>
          <p:cNvCxnSpPr/>
          <p:nvPr/>
        </p:nvCxnSpPr>
        <p:spPr>
          <a:xfrm>
            <a:off x="2181225" y="3248025"/>
            <a:ext cx="266700" cy="0"/>
          </a:xfrm>
          <a:prstGeom prst="straightConnector1">
            <a:avLst/>
          </a:prstGeom>
          <a:noFill/>
          <a:ln cap="flat" cmpd="sng" w="28575">
            <a:solidFill>
              <a:srgbClr val="C7D2D9"/>
            </a:solidFill>
            <a:prstDash val="solid"/>
            <a:round/>
            <a:headEnd len="sm" w="sm" type="none"/>
            <a:tailEnd len="sm" w="sm" type="none"/>
          </a:ln>
        </p:spPr>
      </p:cxnSp>
      <p:sp>
        <p:nvSpPr>
          <p:cNvPr id="577" name="Google Shape;577;p18"/>
          <p:cNvSpPr/>
          <p:nvPr/>
        </p:nvSpPr>
        <p:spPr>
          <a:xfrm>
            <a:off x="2447925" y="1809750"/>
            <a:ext cx="1666875" cy="2876550"/>
          </a:xfrm>
          <a:prstGeom prst="roundRect">
            <a:avLst>
              <a:gd fmla="val 6857" name="adj"/>
            </a:avLst>
          </a:prstGeom>
          <a:solidFill>
            <a:srgbClr val="FFFFFF"/>
          </a:solidFill>
          <a:ln cap="flat" cmpd="sng" w="9525">
            <a:solidFill>
              <a:srgbClr val="C7D2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578" name="Google Shape;578;p18"/>
          <p:cNvSpPr/>
          <p:nvPr/>
        </p:nvSpPr>
        <p:spPr>
          <a:xfrm>
            <a:off x="2619375" y="2000250"/>
            <a:ext cx="38100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8C95"/>
              </a:buClr>
              <a:buSzPts val="1800"/>
              <a:buFont typeface="Helvetica Neue"/>
              <a:buNone/>
            </a:pPr>
            <a:r>
              <a:rPr b="1" lang="en-US" sz="1800">
                <a:solidFill>
                  <a:srgbClr val="008C95"/>
                </a:solidFill>
                <a:latin typeface="Helvetica Neue"/>
                <a:ea typeface="Helvetica Neue"/>
                <a:cs typeface="Helvetica Neue"/>
                <a:sym typeface="Helvetica Neue"/>
              </a:rPr>
              <a:t>2</a:t>
            </a:r>
            <a:endParaRPr/>
          </a:p>
        </p:txBody>
      </p:sp>
      <p:sp>
        <p:nvSpPr>
          <p:cNvPr id="579" name="Google Shape;579;p18"/>
          <p:cNvSpPr/>
          <p:nvPr/>
        </p:nvSpPr>
        <p:spPr>
          <a:xfrm>
            <a:off x="2619375" y="2552700"/>
            <a:ext cx="135255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350"/>
              <a:buFont typeface="Helvetica Neue"/>
              <a:buNone/>
            </a:pPr>
            <a:r>
              <a:rPr b="1" lang="en-US" sz="1350">
                <a:solidFill>
                  <a:srgbClr val="12304A"/>
                </a:solidFill>
                <a:latin typeface="Helvetica Neue"/>
                <a:ea typeface="Helvetica Neue"/>
                <a:cs typeface="Helvetica Neue"/>
                <a:sym typeface="Helvetica Neue"/>
              </a:rPr>
              <a:t>Map</a:t>
            </a:r>
            <a:endParaRPr/>
          </a:p>
        </p:txBody>
      </p:sp>
      <p:sp>
        <p:nvSpPr>
          <p:cNvPr id="580" name="Google Shape;580;p18"/>
          <p:cNvSpPr/>
          <p:nvPr/>
        </p:nvSpPr>
        <p:spPr>
          <a:xfrm>
            <a:off x="2619375" y="3067050"/>
            <a:ext cx="1333500" cy="1104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200"/>
              <a:buFont typeface="Helvetica Neue"/>
              <a:buNone/>
            </a:pPr>
            <a:r>
              <a:rPr b="0" lang="en-US" sz="1200">
                <a:solidFill>
                  <a:srgbClr val="193044"/>
                </a:solidFill>
                <a:latin typeface="Helvetica Neue"/>
                <a:ea typeface="Helvetica Neue"/>
                <a:cs typeface="Helvetica Neue"/>
                <a:sym typeface="Helvetica Neue"/>
              </a:rPr>
              <a:t>Source fields to FHIR</a:t>
            </a:r>
            <a:endParaRPr/>
          </a:p>
        </p:txBody>
      </p:sp>
      <p:cxnSp>
        <p:nvCxnSpPr>
          <p:cNvPr id="581" name="Google Shape;581;p18"/>
          <p:cNvCxnSpPr/>
          <p:nvPr/>
        </p:nvCxnSpPr>
        <p:spPr>
          <a:xfrm>
            <a:off x="4114800" y="3248025"/>
            <a:ext cx="266700" cy="0"/>
          </a:xfrm>
          <a:prstGeom prst="straightConnector1">
            <a:avLst/>
          </a:prstGeom>
          <a:noFill/>
          <a:ln cap="flat" cmpd="sng" w="28575">
            <a:solidFill>
              <a:srgbClr val="C7D2D9"/>
            </a:solidFill>
            <a:prstDash val="solid"/>
            <a:round/>
            <a:headEnd len="sm" w="sm" type="none"/>
            <a:tailEnd len="sm" w="sm" type="none"/>
          </a:ln>
        </p:spPr>
      </p:cxnSp>
      <p:sp>
        <p:nvSpPr>
          <p:cNvPr id="582" name="Google Shape;582;p18"/>
          <p:cNvSpPr/>
          <p:nvPr/>
        </p:nvSpPr>
        <p:spPr>
          <a:xfrm>
            <a:off x="4381500" y="1809750"/>
            <a:ext cx="1666875" cy="2876550"/>
          </a:xfrm>
          <a:prstGeom prst="roundRect">
            <a:avLst>
              <a:gd fmla="val 6857" name="adj"/>
            </a:avLst>
          </a:prstGeom>
          <a:solidFill>
            <a:srgbClr val="FFFFFF"/>
          </a:solidFill>
          <a:ln cap="flat" cmpd="sng" w="9525">
            <a:solidFill>
              <a:srgbClr val="C7D2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583" name="Google Shape;583;p18"/>
          <p:cNvSpPr/>
          <p:nvPr/>
        </p:nvSpPr>
        <p:spPr>
          <a:xfrm>
            <a:off x="4552950" y="2000250"/>
            <a:ext cx="38100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B78A6"/>
              </a:buClr>
              <a:buSzPts val="1800"/>
              <a:buFont typeface="Helvetica Neue"/>
              <a:buNone/>
            </a:pPr>
            <a:r>
              <a:rPr b="1" lang="en-US" sz="1800">
                <a:solidFill>
                  <a:srgbClr val="4B78A6"/>
                </a:solidFill>
                <a:latin typeface="Helvetica Neue"/>
                <a:ea typeface="Helvetica Neue"/>
                <a:cs typeface="Helvetica Neue"/>
                <a:sym typeface="Helvetica Neue"/>
              </a:rPr>
              <a:t>3</a:t>
            </a:r>
            <a:endParaRPr/>
          </a:p>
        </p:txBody>
      </p:sp>
      <p:sp>
        <p:nvSpPr>
          <p:cNvPr id="584" name="Google Shape;584;p18"/>
          <p:cNvSpPr/>
          <p:nvPr/>
        </p:nvSpPr>
        <p:spPr>
          <a:xfrm>
            <a:off x="4552950" y="2552700"/>
            <a:ext cx="135255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350"/>
              <a:buFont typeface="Helvetica Neue"/>
              <a:buNone/>
            </a:pPr>
            <a:r>
              <a:rPr b="1" lang="en-US" sz="1350">
                <a:solidFill>
                  <a:srgbClr val="12304A"/>
                </a:solidFill>
                <a:latin typeface="Helvetica Neue"/>
                <a:ea typeface="Helvetica Neue"/>
                <a:cs typeface="Helvetica Neue"/>
                <a:sym typeface="Helvetica Neue"/>
              </a:rPr>
              <a:t>Validate</a:t>
            </a:r>
            <a:endParaRPr/>
          </a:p>
        </p:txBody>
      </p:sp>
      <p:sp>
        <p:nvSpPr>
          <p:cNvPr id="585" name="Google Shape;585;p18"/>
          <p:cNvSpPr/>
          <p:nvPr/>
        </p:nvSpPr>
        <p:spPr>
          <a:xfrm>
            <a:off x="4552950" y="3067050"/>
            <a:ext cx="1333500" cy="1104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200"/>
              <a:buFont typeface="Helvetica Neue"/>
              <a:buNone/>
            </a:pPr>
            <a:r>
              <a:rPr b="0" lang="en-US" sz="1200">
                <a:solidFill>
                  <a:srgbClr val="193044"/>
                </a:solidFill>
                <a:latin typeface="Helvetica Neue"/>
                <a:ea typeface="Helvetica Neue"/>
                <a:cs typeface="Helvetica Neue"/>
                <a:sym typeface="Helvetica Neue"/>
              </a:rPr>
              <a:t>Profiles and terminology</a:t>
            </a:r>
            <a:endParaRPr/>
          </a:p>
        </p:txBody>
      </p:sp>
      <p:cxnSp>
        <p:nvCxnSpPr>
          <p:cNvPr id="586" name="Google Shape;586;p18"/>
          <p:cNvCxnSpPr/>
          <p:nvPr/>
        </p:nvCxnSpPr>
        <p:spPr>
          <a:xfrm>
            <a:off x="6048375" y="3248025"/>
            <a:ext cx="266700" cy="0"/>
          </a:xfrm>
          <a:prstGeom prst="straightConnector1">
            <a:avLst/>
          </a:prstGeom>
          <a:noFill/>
          <a:ln cap="flat" cmpd="sng" w="28575">
            <a:solidFill>
              <a:srgbClr val="C7D2D9"/>
            </a:solidFill>
            <a:prstDash val="solid"/>
            <a:round/>
            <a:headEnd len="sm" w="sm" type="none"/>
            <a:tailEnd len="sm" w="sm" type="none"/>
          </a:ln>
        </p:spPr>
      </p:cxnSp>
      <p:sp>
        <p:nvSpPr>
          <p:cNvPr id="587" name="Google Shape;587;p18"/>
          <p:cNvSpPr/>
          <p:nvPr/>
        </p:nvSpPr>
        <p:spPr>
          <a:xfrm>
            <a:off x="6315075" y="1809750"/>
            <a:ext cx="1666875" cy="2876550"/>
          </a:xfrm>
          <a:prstGeom prst="roundRect">
            <a:avLst>
              <a:gd fmla="val 6857" name="adj"/>
            </a:avLst>
          </a:prstGeom>
          <a:solidFill>
            <a:srgbClr val="FFFFFF"/>
          </a:solidFill>
          <a:ln cap="flat" cmpd="sng" w="9525">
            <a:solidFill>
              <a:srgbClr val="C7D2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588" name="Google Shape;588;p18"/>
          <p:cNvSpPr/>
          <p:nvPr/>
        </p:nvSpPr>
        <p:spPr>
          <a:xfrm>
            <a:off x="6486525" y="2000250"/>
            <a:ext cx="38100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B78A6"/>
              </a:buClr>
              <a:buSzPts val="1800"/>
              <a:buFont typeface="Helvetica Neue"/>
              <a:buNone/>
            </a:pPr>
            <a:r>
              <a:rPr b="1" lang="en-US" sz="1800">
                <a:solidFill>
                  <a:srgbClr val="4B78A6"/>
                </a:solidFill>
                <a:latin typeface="Helvetica Neue"/>
                <a:ea typeface="Helvetica Neue"/>
                <a:cs typeface="Helvetica Neue"/>
                <a:sym typeface="Helvetica Neue"/>
              </a:rPr>
              <a:t>4</a:t>
            </a:r>
            <a:endParaRPr/>
          </a:p>
        </p:txBody>
      </p:sp>
      <p:sp>
        <p:nvSpPr>
          <p:cNvPr id="589" name="Google Shape;589;p18"/>
          <p:cNvSpPr/>
          <p:nvPr/>
        </p:nvSpPr>
        <p:spPr>
          <a:xfrm>
            <a:off x="6486525" y="2552700"/>
            <a:ext cx="135255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350"/>
              <a:buFont typeface="Helvetica Neue"/>
              <a:buNone/>
            </a:pPr>
            <a:r>
              <a:rPr b="1" lang="en-US" sz="1350">
                <a:solidFill>
                  <a:srgbClr val="12304A"/>
                </a:solidFill>
                <a:latin typeface="Helvetica Neue"/>
                <a:ea typeface="Helvetica Neue"/>
                <a:cs typeface="Helvetica Neue"/>
                <a:sym typeface="Helvetica Neue"/>
              </a:rPr>
              <a:t>Use</a:t>
            </a:r>
            <a:endParaRPr/>
          </a:p>
        </p:txBody>
      </p:sp>
      <p:sp>
        <p:nvSpPr>
          <p:cNvPr id="590" name="Google Shape;590;p18"/>
          <p:cNvSpPr/>
          <p:nvPr/>
        </p:nvSpPr>
        <p:spPr>
          <a:xfrm>
            <a:off x="6486525" y="3067050"/>
            <a:ext cx="1333500" cy="1104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200"/>
              <a:buFont typeface="Helvetica Neue"/>
              <a:buNone/>
            </a:pPr>
            <a:r>
              <a:rPr b="0" lang="en-US" sz="1200">
                <a:solidFill>
                  <a:srgbClr val="193044"/>
                </a:solidFill>
                <a:latin typeface="Helvetica Neue"/>
                <a:ea typeface="Helvetica Neue"/>
                <a:cs typeface="Helvetica Neue"/>
                <a:sym typeface="Helvetica Neue"/>
              </a:rPr>
              <a:t>Open reference component</a:t>
            </a:r>
            <a:endParaRPr/>
          </a:p>
        </p:txBody>
      </p:sp>
      <p:cxnSp>
        <p:nvCxnSpPr>
          <p:cNvPr id="591" name="Google Shape;591;p18"/>
          <p:cNvCxnSpPr/>
          <p:nvPr/>
        </p:nvCxnSpPr>
        <p:spPr>
          <a:xfrm>
            <a:off x="7981950" y="3248025"/>
            <a:ext cx="266700" cy="0"/>
          </a:xfrm>
          <a:prstGeom prst="straightConnector1">
            <a:avLst/>
          </a:prstGeom>
          <a:noFill/>
          <a:ln cap="flat" cmpd="sng" w="28575">
            <a:solidFill>
              <a:srgbClr val="C7D2D9"/>
            </a:solidFill>
            <a:prstDash val="solid"/>
            <a:round/>
            <a:headEnd len="sm" w="sm" type="none"/>
            <a:tailEnd len="sm" w="sm" type="none"/>
          </a:ln>
        </p:spPr>
      </p:cxnSp>
      <p:sp>
        <p:nvSpPr>
          <p:cNvPr id="592" name="Google Shape;592;p18"/>
          <p:cNvSpPr/>
          <p:nvPr/>
        </p:nvSpPr>
        <p:spPr>
          <a:xfrm>
            <a:off x="8248650" y="1809750"/>
            <a:ext cx="1666875" cy="2876550"/>
          </a:xfrm>
          <a:prstGeom prst="roundRect">
            <a:avLst>
              <a:gd fmla="val 6857" name="adj"/>
            </a:avLst>
          </a:prstGeom>
          <a:solidFill>
            <a:srgbClr val="FFFFFF"/>
          </a:solidFill>
          <a:ln cap="flat" cmpd="sng" w="9525">
            <a:solidFill>
              <a:srgbClr val="C7D2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593" name="Google Shape;593;p18"/>
          <p:cNvSpPr/>
          <p:nvPr/>
        </p:nvSpPr>
        <p:spPr>
          <a:xfrm>
            <a:off x="8420100" y="2000250"/>
            <a:ext cx="38100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78A42"/>
              </a:buClr>
              <a:buSzPts val="1800"/>
              <a:buFont typeface="Helvetica Neue"/>
              <a:buNone/>
            </a:pPr>
            <a:r>
              <a:rPr b="1" lang="en-US" sz="1800">
                <a:solidFill>
                  <a:srgbClr val="E78A42"/>
                </a:solidFill>
                <a:latin typeface="Helvetica Neue"/>
                <a:ea typeface="Helvetica Neue"/>
                <a:cs typeface="Helvetica Neue"/>
                <a:sym typeface="Helvetica Neue"/>
              </a:rPr>
              <a:t>5</a:t>
            </a:r>
            <a:endParaRPr/>
          </a:p>
        </p:txBody>
      </p:sp>
      <p:sp>
        <p:nvSpPr>
          <p:cNvPr id="594" name="Google Shape;594;p18"/>
          <p:cNvSpPr/>
          <p:nvPr/>
        </p:nvSpPr>
        <p:spPr>
          <a:xfrm>
            <a:off x="8420100" y="2552700"/>
            <a:ext cx="135255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350"/>
              <a:buFont typeface="Helvetica Neue"/>
              <a:buNone/>
            </a:pPr>
            <a:r>
              <a:rPr b="1" lang="en-US" sz="1350">
                <a:solidFill>
                  <a:srgbClr val="12304A"/>
                </a:solidFill>
                <a:latin typeface="Helvetica Neue"/>
                <a:ea typeface="Helvetica Neue"/>
                <a:cs typeface="Helvetica Neue"/>
                <a:sym typeface="Helvetica Neue"/>
              </a:rPr>
              <a:t>Test</a:t>
            </a:r>
            <a:endParaRPr/>
          </a:p>
        </p:txBody>
      </p:sp>
      <p:sp>
        <p:nvSpPr>
          <p:cNvPr id="595" name="Google Shape;595;p18"/>
          <p:cNvSpPr/>
          <p:nvPr/>
        </p:nvSpPr>
        <p:spPr>
          <a:xfrm>
            <a:off x="8420100" y="3067050"/>
            <a:ext cx="1333500" cy="1104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200"/>
              <a:buFont typeface="Helvetica Neue"/>
              <a:buNone/>
            </a:pPr>
            <a:r>
              <a:rPr b="0" lang="en-US" sz="1200">
                <a:solidFill>
                  <a:srgbClr val="193044"/>
                </a:solidFill>
                <a:latin typeface="Helvetica Neue"/>
                <a:ea typeface="Helvetica Neue"/>
                <a:cs typeface="Helvetica Neue"/>
                <a:sym typeface="Helvetica Neue"/>
              </a:rPr>
              <a:t>FHIR checks; ICVP ITB if ready</a:t>
            </a:r>
            <a:endParaRPr/>
          </a:p>
        </p:txBody>
      </p:sp>
      <p:cxnSp>
        <p:nvCxnSpPr>
          <p:cNvPr id="596" name="Google Shape;596;p18"/>
          <p:cNvCxnSpPr/>
          <p:nvPr/>
        </p:nvCxnSpPr>
        <p:spPr>
          <a:xfrm>
            <a:off x="9915525" y="3248025"/>
            <a:ext cx="266700" cy="0"/>
          </a:xfrm>
          <a:prstGeom prst="straightConnector1">
            <a:avLst/>
          </a:prstGeom>
          <a:noFill/>
          <a:ln cap="flat" cmpd="sng" w="28575">
            <a:solidFill>
              <a:srgbClr val="C7D2D9"/>
            </a:solidFill>
            <a:prstDash val="solid"/>
            <a:round/>
            <a:headEnd len="sm" w="sm" type="none"/>
            <a:tailEnd len="sm" w="sm" type="none"/>
          </a:ln>
        </p:spPr>
      </p:cxnSp>
      <p:sp>
        <p:nvSpPr>
          <p:cNvPr id="597" name="Google Shape;597;p18"/>
          <p:cNvSpPr/>
          <p:nvPr/>
        </p:nvSpPr>
        <p:spPr>
          <a:xfrm>
            <a:off x="10182225" y="1809750"/>
            <a:ext cx="1666875" cy="2876550"/>
          </a:xfrm>
          <a:prstGeom prst="roundRect">
            <a:avLst>
              <a:gd fmla="val 6857" name="adj"/>
            </a:avLst>
          </a:prstGeom>
          <a:solidFill>
            <a:srgbClr val="FFFFFF"/>
          </a:solidFill>
          <a:ln cap="flat" cmpd="sng" w="9525">
            <a:solidFill>
              <a:srgbClr val="C7D2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598" name="Google Shape;598;p18"/>
          <p:cNvSpPr/>
          <p:nvPr/>
        </p:nvSpPr>
        <p:spPr>
          <a:xfrm>
            <a:off x="10353675" y="2000250"/>
            <a:ext cx="38100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78A42"/>
              </a:buClr>
              <a:buSzPts val="1800"/>
              <a:buFont typeface="Helvetica Neue"/>
              <a:buNone/>
            </a:pPr>
            <a:r>
              <a:rPr b="1" lang="en-US" sz="1800">
                <a:solidFill>
                  <a:srgbClr val="E78A42"/>
                </a:solidFill>
                <a:latin typeface="Helvetica Neue"/>
                <a:ea typeface="Helvetica Neue"/>
                <a:cs typeface="Helvetica Neue"/>
                <a:sym typeface="Helvetica Neue"/>
              </a:rPr>
              <a:t>6</a:t>
            </a:r>
            <a:endParaRPr/>
          </a:p>
        </p:txBody>
      </p:sp>
      <p:sp>
        <p:nvSpPr>
          <p:cNvPr id="599" name="Google Shape;599;p18"/>
          <p:cNvSpPr/>
          <p:nvPr/>
        </p:nvSpPr>
        <p:spPr>
          <a:xfrm>
            <a:off x="10353675" y="2552700"/>
            <a:ext cx="135255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350"/>
              <a:buFont typeface="Helvetica Neue"/>
              <a:buNone/>
            </a:pPr>
            <a:r>
              <a:rPr b="1" lang="en-US" sz="1350">
                <a:solidFill>
                  <a:srgbClr val="12304A"/>
                </a:solidFill>
                <a:latin typeface="Helvetica Neue"/>
                <a:ea typeface="Helvetica Neue"/>
                <a:cs typeface="Helvetica Neue"/>
                <a:sym typeface="Helvetica Neue"/>
              </a:rPr>
              <a:t>Demonstrate</a:t>
            </a:r>
            <a:endParaRPr/>
          </a:p>
        </p:txBody>
      </p:sp>
      <p:sp>
        <p:nvSpPr>
          <p:cNvPr id="600" name="Google Shape;600;p18"/>
          <p:cNvSpPr/>
          <p:nvPr/>
        </p:nvSpPr>
        <p:spPr>
          <a:xfrm>
            <a:off x="10353675" y="3067050"/>
            <a:ext cx="1333500" cy="1104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200"/>
              <a:buFont typeface="Helvetica Neue"/>
              <a:buNone/>
            </a:pPr>
            <a:r>
              <a:rPr b="0" lang="en-US" sz="1200">
                <a:solidFill>
                  <a:srgbClr val="193044"/>
                </a:solidFill>
                <a:latin typeface="Helvetica Neue"/>
                <a:ea typeface="Helvetica Neue"/>
                <a:cs typeface="Helvetica Neue"/>
                <a:sym typeface="Helvetica Neue"/>
              </a:rPr>
              <a:t>Station handoff in one flow</a:t>
            </a:r>
            <a:endParaRPr/>
          </a:p>
        </p:txBody>
      </p:sp>
      <p:sp>
        <p:nvSpPr>
          <p:cNvPr id="601" name="Google Shape;601;p18"/>
          <p:cNvSpPr/>
          <p:nvPr/>
        </p:nvSpPr>
        <p:spPr>
          <a:xfrm>
            <a:off x="514350" y="4953000"/>
            <a:ext cx="11334750" cy="1047750"/>
          </a:xfrm>
          <a:prstGeom prst="roundRect">
            <a:avLst>
              <a:gd fmla="val 10909" name="adj"/>
            </a:avLst>
          </a:prstGeom>
          <a:solidFill>
            <a:srgbClr val="1230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602" name="Google Shape;602;p18"/>
          <p:cNvSpPr/>
          <p:nvPr/>
        </p:nvSpPr>
        <p:spPr>
          <a:xfrm>
            <a:off x="742950" y="5162550"/>
            <a:ext cx="17145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6C7C5"/>
              </a:buClr>
              <a:buSzPts val="1125"/>
              <a:buFont typeface="Helvetica Neue"/>
              <a:buNone/>
            </a:pPr>
            <a:r>
              <a:rPr b="1" lang="en-US" sz="1125">
                <a:solidFill>
                  <a:srgbClr val="66C7C5"/>
                </a:solidFill>
                <a:latin typeface="Helvetica Neue"/>
                <a:ea typeface="Helvetica Neue"/>
                <a:cs typeface="Helvetica Neue"/>
                <a:sym typeface="Helvetica Neue"/>
              </a:rPr>
              <a:t>Working endpoint</a:t>
            </a:r>
            <a:endParaRPr/>
          </a:p>
        </p:txBody>
      </p:sp>
      <p:sp>
        <p:nvSpPr>
          <p:cNvPr id="603" name="Google Shape;603;p18"/>
          <p:cNvSpPr/>
          <p:nvPr/>
        </p:nvSpPr>
        <p:spPr>
          <a:xfrm>
            <a:off x="2457450" y="5105400"/>
            <a:ext cx="9029700" cy="476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500"/>
              <a:buFont typeface="Helvetica Neue"/>
              <a:buNone/>
            </a:pPr>
            <a:r>
              <a:rPr b="1" lang="en-US" sz="1500">
                <a:solidFill>
                  <a:srgbClr val="FFFFFF"/>
                </a:solidFill>
                <a:latin typeface="Helvetica Neue"/>
                <a:ea typeface="Helvetica Neue"/>
                <a:cs typeface="Helvetica Neue"/>
                <a:sym typeface="Helvetica Neue"/>
              </a:rPr>
              <a:t>A repeatable domestic immunization flow with validation results and an issue log</a:t>
            </a:r>
            <a:endParaRPr/>
          </a:p>
        </p:txBody>
      </p:sp>
      <p:sp>
        <p:nvSpPr>
          <p:cNvPr id="604" name="Google Shape;604;p18"/>
          <p:cNvSpPr/>
          <p:nvPr/>
        </p:nvSpPr>
        <p:spPr>
          <a:xfrm>
            <a:off x="2457450" y="5638800"/>
            <a:ext cx="885825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EE1EA"/>
              </a:buClr>
              <a:buSzPts val="1050"/>
              <a:buFont typeface="Helvetica Neue"/>
              <a:buNone/>
            </a:pPr>
            <a:r>
              <a:rPr b="0" lang="en-US" sz="1050">
                <a:solidFill>
                  <a:srgbClr val="CEE1EA"/>
                </a:solidFill>
                <a:latin typeface="Helvetica Neue"/>
                <a:ea typeface="Helvetica Neue"/>
                <a:cs typeface="Helvetica Neue"/>
                <a:sym typeface="Helvetica Neue"/>
              </a:rPr>
              <a:t>Optional extension: digital yellow card or IPS exchange and verification</a:t>
            </a:r>
            <a:endParaRPr/>
          </a:p>
        </p:txBody>
      </p:sp>
      <p:cxnSp>
        <p:nvCxnSpPr>
          <p:cNvPr id="605" name="Google Shape;605;p18"/>
          <p:cNvCxnSpPr/>
          <p:nvPr/>
        </p:nvCxnSpPr>
        <p:spPr>
          <a:xfrm>
            <a:off x="609600" y="6477000"/>
            <a:ext cx="10972800" cy="0"/>
          </a:xfrm>
          <a:prstGeom prst="straightConnector1">
            <a:avLst/>
          </a:prstGeom>
          <a:noFill/>
          <a:ln cap="flat" cmpd="sng" w="9525">
            <a:solidFill>
              <a:srgbClr val="C7D2D9"/>
            </a:solidFill>
            <a:prstDash val="solid"/>
            <a:round/>
            <a:headEnd len="sm" w="sm" type="none"/>
            <a:tailEnd len="sm" w="sm" type="none"/>
          </a:ln>
        </p:spPr>
      </p:cxnSp>
      <p:sp>
        <p:nvSpPr>
          <p:cNvPr id="606" name="Google Shape;606;p18"/>
          <p:cNvSpPr/>
          <p:nvPr/>
        </p:nvSpPr>
        <p:spPr>
          <a:xfrm>
            <a:off x="609600" y="6553200"/>
            <a:ext cx="8572500" cy="190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6D7A"/>
              </a:buClr>
              <a:buSzPts val="900"/>
              <a:buFont typeface="Helvetica Neue"/>
              <a:buNone/>
            </a:pPr>
            <a:r>
              <a:rPr b="0" lang="en-US" sz="900">
                <a:solidFill>
                  <a:srgbClr val="5A6D7A"/>
                </a:solidFill>
                <a:latin typeface="Helvetica Neue"/>
                <a:ea typeface="Helvetica Neue"/>
                <a:cs typeface="Helvetica Neue"/>
                <a:sym typeface="Helvetica Neue"/>
              </a:rPr>
              <a:t>Thailand technologist workstream, partner preparation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1" name="Shape 611"/>
        <p:cNvGrpSpPr/>
        <p:nvPr/>
      </p:nvGrpSpPr>
      <p:grpSpPr>
        <a:xfrm>
          <a:off x="0" y="0"/>
          <a:ext cx="0" cy="0"/>
          <a:chOff x="0" y="0"/>
          <a:chExt cx="0" cy="0"/>
        </a:xfrm>
      </p:grpSpPr>
      <p:sp>
        <p:nvSpPr>
          <p:cNvPr id="612" name="Google Shape;612;p19"/>
          <p:cNvSpPr/>
          <p:nvPr/>
        </p:nvSpPr>
        <p:spPr>
          <a:xfrm>
            <a:off x="609600" y="361950"/>
            <a:ext cx="10382250" cy="495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2550"/>
              <a:buFont typeface="Helvetica Neue"/>
              <a:buNone/>
            </a:pPr>
            <a:r>
              <a:rPr b="1" lang="en-US" sz="2550">
                <a:solidFill>
                  <a:srgbClr val="12304A"/>
                </a:solidFill>
                <a:latin typeface="Helvetica Neue"/>
                <a:ea typeface="Helvetica Neue"/>
                <a:cs typeface="Helvetica Neue"/>
                <a:sym typeface="Helvetica Neue"/>
              </a:rPr>
              <a:t>Tools and assets</a:t>
            </a:r>
            <a:endParaRPr/>
          </a:p>
        </p:txBody>
      </p:sp>
      <p:sp>
        <p:nvSpPr>
          <p:cNvPr id="613" name="Google Shape;613;p19"/>
          <p:cNvSpPr/>
          <p:nvPr/>
        </p:nvSpPr>
        <p:spPr>
          <a:xfrm>
            <a:off x="628650" y="885825"/>
            <a:ext cx="1038225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6D7A"/>
              </a:buClr>
              <a:buSzPts val="1350"/>
              <a:buFont typeface="Helvetica Neue"/>
              <a:buNone/>
            </a:pPr>
            <a:r>
              <a:rPr b="0" lang="en-US" sz="1350">
                <a:solidFill>
                  <a:srgbClr val="5A6D7A"/>
                </a:solidFill>
                <a:latin typeface="Helvetica Neue"/>
                <a:ea typeface="Helvetica Neue"/>
                <a:cs typeface="Helvetica Neue"/>
                <a:sym typeface="Helvetica Neue"/>
              </a:rPr>
              <a:t>Partners should confirm versions, owners and readiness before content production begins</a:t>
            </a:r>
            <a:endParaRPr/>
          </a:p>
        </p:txBody>
      </p:sp>
      <p:sp>
        <p:nvSpPr>
          <p:cNvPr id="614" name="Google Shape;614;p19"/>
          <p:cNvSpPr/>
          <p:nvPr/>
        </p:nvSpPr>
        <p:spPr>
          <a:xfrm>
            <a:off x="609600" y="1257300"/>
            <a:ext cx="876300" cy="47625"/>
          </a:xfrm>
          <a:prstGeom prst="rect">
            <a:avLst/>
          </a:prstGeom>
          <a:solidFill>
            <a:srgbClr val="008C9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615" name="Google Shape;615;p19"/>
          <p:cNvSpPr/>
          <p:nvPr/>
        </p:nvSpPr>
        <p:spPr>
          <a:xfrm>
            <a:off x="11201400" y="457200"/>
            <a:ext cx="4572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8C95"/>
              </a:buClr>
              <a:buSzPts val="1050"/>
              <a:buFont typeface="Helvetica Neue"/>
              <a:buNone/>
            </a:pPr>
            <a:r>
              <a:rPr b="1" lang="en-US" sz="1050">
                <a:solidFill>
                  <a:srgbClr val="008C95"/>
                </a:solidFill>
                <a:latin typeface="Helvetica Neue"/>
                <a:ea typeface="Helvetica Neue"/>
                <a:cs typeface="Helvetica Neue"/>
                <a:sym typeface="Helvetica Neue"/>
              </a:rPr>
              <a:t>13</a:t>
            </a:r>
            <a:endParaRPr/>
          </a:p>
        </p:txBody>
      </p:sp>
      <p:sp>
        <p:nvSpPr>
          <p:cNvPr id="616" name="Google Shape;616;p19"/>
          <p:cNvSpPr/>
          <p:nvPr/>
        </p:nvSpPr>
        <p:spPr>
          <a:xfrm>
            <a:off x="666750" y="1466850"/>
            <a:ext cx="2381250" cy="533400"/>
          </a:xfrm>
          <a:prstGeom prst="roundRect">
            <a:avLst>
              <a:gd fmla="val 14286" name="adj"/>
            </a:avLst>
          </a:prstGeom>
          <a:solidFill>
            <a:srgbClr val="008C9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617" name="Google Shape;617;p19"/>
          <p:cNvSpPr/>
          <p:nvPr/>
        </p:nvSpPr>
        <p:spPr>
          <a:xfrm>
            <a:off x="838200" y="1600200"/>
            <a:ext cx="203835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350"/>
              <a:buFont typeface="Helvetica Neue"/>
              <a:buNone/>
            </a:pPr>
            <a:r>
              <a:rPr b="1" lang="en-US" sz="1350">
                <a:solidFill>
                  <a:srgbClr val="FFFFFF"/>
                </a:solidFill>
                <a:latin typeface="Helvetica Neue"/>
                <a:ea typeface="Helvetica Neue"/>
                <a:cs typeface="Helvetica Neue"/>
                <a:sym typeface="Helvetica Neue"/>
              </a:rPr>
              <a:t>1. Use case package</a:t>
            </a:r>
            <a:endParaRPr/>
          </a:p>
        </p:txBody>
      </p:sp>
      <p:sp>
        <p:nvSpPr>
          <p:cNvPr id="618" name="Google Shape;618;p19"/>
          <p:cNvSpPr/>
          <p:nvPr/>
        </p:nvSpPr>
        <p:spPr>
          <a:xfrm>
            <a:off x="3333750" y="1562100"/>
            <a:ext cx="78105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350"/>
              <a:buFont typeface="Helvetica Neue"/>
              <a:buNone/>
            </a:pPr>
            <a:r>
              <a:rPr b="1" lang="en-US" sz="1350">
                <a:solidFill>
                  <a:srgbClr val="193044"/>
                </a:solidFill>
                <a:latin typeface="Helvetica Neue"/>
                <a:ea typeface="Helvetica Neue"/>
                <a:cs typeface="Helvetica Neue"/>
                <a:sym typeface="Helvetica Neue"/>
              </a:rPr>
              <a:t>Patient journey, fictional registry schema, minimum data set and test patients</a:t>
            </a:r>
            <a:endParaRPr/>
          </a:p>
        </p:txBody>
      </p:sp>
      <p:cxnSp>
        <p:nvCxnSpPr>
          <p:cNvPr id="619" name="Google Shape;619;p19"/>
          <p:cNvCxnSpPr/>
          <p:nvPr/>
        </p:nvCxnSpPr>
        <p:spPr>
          <a:xfrm>
            <a:off x="1847850" y="2000250"/>
            <a:ext cx="0" cy="180975"/>
          </a:xfrm>
          <a:prstGeom prst="straightConnector1">
            <a:avLst/>
          </a:prstGeom>
          <a:noFill/>
          <a:ln cap="flat" cmpd="sng" w="28575">
            <a:solidFill>
              <a:srgbClr val="C7D2D9"/>
            </a:solidFill>
            <a:prstDash val="solid"/>
            <a:round/>
            <a:headEnd len="sm" w="sm" type="none"/>
            <a:tailEnd len="sm" w="sm" type="none"/>
          </a:ln>
        </p:spPr>
      </p:cxnSp>
      <p:sp>
        <p:nvSpPr>
          <p:cNvPr id="620" name="Google Shape;620;p19"/>
          <p:cNvSpPr/>
          <p:nvPr/>
        </p:nvSpPr>
        <p:spPr>
          <a:xfrm>
            <a:off x="666750" y="2181225"/>
            <a:ext cx="2381250" cy="533400"/>
          </a:xfrm>
          <a:prstGeom prst="roundRect">
            <a:avLst>
              <a:gd fmla="val 14286" name="adj"/>
            </a:avLst>
          </a:prstGeom>
          <a:solidFill>
            <a:srgbClr val="008C9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621" name="Google Shape;621;p19"/>
          <p:cNvSpPr/>
          <p:nvPr/>
        </p:nvSpPr>
        <p:spPr>
          <a:xfrm>
            <a:off x="838200" y="2314575"/>
            <a:ext cx="203835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350"/>
              <a:buFont typeface="Helvetica Neue"/>
              <a:buNone/>
            </a:pPr>
            <a:r>
              <a:rPr b="1" lang="en-US" sz="1350">
                <a:solidFill>
                  <a:srgbClr val="FFFFFF"/>
                </a:solidFill>
                <a:latin typeface="Helvetica Neue"/>
                <a:ea typeface="Helvetica Neue"/>
                <a:cs typeface="Helvetica Neue"/>
                <a:sym typeface="Helvetica Neue"/>
              </a:rPr>
              <a:t>2. FHIR content</a:t>
            </a:r>
            <a:endParaRPr/>
          </a:p>
        </p:txBody>
      </p:sp>
      <p:sp>
        <p:nvSpPr>
          <p:cNvPr id="622" name="Google Shape;622;p19"/>
          <p:cNvSpPr/>
          <p:nvPr/>
        </p:nvSpPr>
        <p:spPr>
          <a:xfrm>
            <a:off x="3333750" y="2276475"/>
            <a:ext cx="78105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350"/>
              <a:buFont typeface="Helvetica Neue"/>
              <a:buNone/>
            </a:pPr>
            <a:r>
              <a:rPr b="0" lang="en-US" sz="1350">
                <a:solidFill>
                  <a:srgbClr val="193044"/>
                </a:solidFill>
                <a:latin typeface="Helvetica Neue"/>
                <a:ea typeface="Helvetica Neue"/>
                <a:cs typeface="Helvetica Neue"/>
                <a:sym typeface="Helvetica Neue"/>
              </a:rPr>
              <a:t>Selected resources, profiles, terminology, IG examples and mapping templates</a:t>
            </a:r>
            <a:endParaRPr/>
          </a:p>
        </p:txBody>
      </p:sp>
      <p:cxnSp>
        <p:nvCxnSpPr>
          <p:cNvPr id="623" name="Google Shape;623;p19"/>
          <p:cNvCxnSpPr/>
          <p:nvPr/>
        </p:nvCxnSpPr>
        <p:spPr>
          <a:xfrm>
            <a:off x="1847850" y="2714625"/>
            <a:ext cx="0" cy="180975"/>
          </a:xfrm>
          <a:prstGeom prst="straightConnector1">
            <a:avLst/>
          </a:prstGeom>
          <a:noFill/>
          <a:ln cap="flat" cmpd="sng" w="28575">
            <a:solidFill>
              <a:srgbClr val="C7D2D9"/>
            </a:solidFill>
            <a:prstDash val="solid"/>
            <a:round/>
            <a:headEnd len="sm" w="sm" type="none"/>
            <a:tailEnd len="sm" w="sm" type="none"/>
          </a:ln>
        </p:spPr>
      </p:cxnSp>
      <p:sp>
        <p:nvSpPr>
          <p:cNvPr id="624" name="Google Shape;624;p19"/>
          <p:cNvSpPr/>
          <p:nvPr/>
        </p:nvSpPr>
        <p:spPr>
          <a:xfrm>
            <a:off x="666750" y="2895600"/>
            <a:ext cx="2381250" cy="533400"/>
          </a:xfrm>
          <a:prstGeom prst="roundRect">
            <a:avLst>
              <a:gd fmla="val 14286" name="adj"/>
            </a:avLst>
          </a:prstGeom>
          <a:solidFill>
            <a:srgbClr val="4B78A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625" name="Google Shape;625;p19"/>
          <p:cNvSpPr/>
          <p:nvPr/>
        </p:nvSpPr>
        <p:spPr>
          <a:xfrm>
            <a:off x="838200" y="3028950"/>
            <a:ext cx="203835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350"/>
              <a:buFont typeface="Helvetica Neue"/>
              <a:buNone/>
            </a:pPr>
            <a:r>
              <a:rPr b="1" lang="en-US" sz="1350">
                <a:solidFill>
                  <a:srgbClr val="FFFFFF"/>
                </a:solidFill>
                <a:latin typeface="Helvetica Neue"/>
                <a:ea typeface="Helvetica Neue"/>
                <a:cs typeface="Helvetica Neue"/>
                <a:sym typeface="Helvetica Neue"/>
              </a:rPr>
              <a:t>3. WHO specifications</a:t>
            </a:r>
            <a:endParaRPr/>
          </a:p>
        </p:txBody>
      </p:sp>
      <p:sp>
        <p:nvSpPr>
          <p:cNvPr id="626" name="Google Shape;626;p19"/>
          <p:cNvSpPr/>
          <p:nvPr/>
        </p:nvSpPr>
        <p:spPr>
          <a:xfrm>
            <a:off x="3333750" y="2990850"/>
            <a:ext cx="78105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350"/>
              <a:buFont typeface="Helvetica Neue"/>
              <a:buNone/>
            </a:pPr>
            <a:r>
              <a:rPr b="0" lang="en-US" sz="1350">
                <a:solidFill>
                  <a:srgbClr val="193044"/>
                </a:solidFill>
                <a:latin typeface="Helvetica Neue"/>
                <a:ea typeface="Helvetica Neue"/>
                <a:cs typeface="Helvetica Neue"/>
                <a:sym typeface="Helvetica Neue"/>
              </a:rPr>
              <a:t>Routine immunization content; SMART ICVP draft for demonstration; IPS if agreed</a:t>
            </a:r>
            <a:endParaRPr/>
          </a:p>
        </p:txBody>
      </p:sp>
      <p:cxnSp>
        <p:nvCxnSpPr>
          <p:cNvPr id="627" name="Google Shape;627;p19"/>
          <p:cNvCxnSpPr/>
          <p:nvPr/>
        </p:nvCxnSpPr>
        <p:spPr>
          <a:xfrm>
            <a:off x="1847850" y="3429000"/>
            <a:ext cx="0" cy="180975"/>
          </a:xfrm>
          <a:prstGeom prst="straightConnector1">
            <a:avLst/>
          </a:prstGeom>
          <a:noFill/>
          <a:ln cap="flat" cmpd="sng" w="28575">
            <a:solidFill>
              <a:srgbClr val="C7D2D9"/>
            </a:solidFill>
            <a:prstDash val="solid"/>
            <a:round/>
            <a:headEnd len="sm" w="sm" type="none"/>
            <a:tailEnd len="sm" w="sm" type="none"/>
          </a:ln>
        </p:spPr>
      </p:cxnSp>
      <p:sp>
        <p:nvSpPr>
          <p:cNvPr id="628" name="Google Shape;628;p19"/>
          <p:cNvSpPr/>
          <p:nvPr/>
        </p:nvSpPr>
        <p:spPr>
          <a:xfrm>
            <a:off x="666750" y="3609975"/>
            <a:ext cx="2381250" cy="533400"/>
          </a:xfrm>
          <a:prstGeom prst="roundRect">
            <a:avLst>
              <a:gd fmla="val 14286" name="adj"/>
            </a:avLst>
          </a:prstGeom>
          <a:solidFill>
            <a:srgbClr val="4B78A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629" name="Google Shape;629;p19"/>
          <p:cNvSpPr/>
          <p:nvPr/>
        </p:nvSpPr>
        <p:spPr>
          <a:xfrm>
            <a:off x="838200" y="3743325"/>
            <a:ext cx="203835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350"/>
              <a:buFont typeface="Helvetica Neue"/>
              <a:buNone/>
            </a:pPr>
            <a:r>
              <a:rPr b="1" lang="en-US" sz="1350">
                <a:solidFill>
                  <a:srgbClr val="FFFFFF"/>
                </a:solidFill>
                <a:latin typeface="Helvetica Neue"/>
                <a:ea typeface="Helvetica Neue"/>
                <a:cs typeface="Helvetica Neue"/>
                <a:sym typeface="Helvetica Neue"/>
              </a:rPr>
              <a:t>4. Test infrastructure</a:t>
            </a:r>
            <a:endParaRPr/>
          </a:p>
        </p:txBody>
      </p:sp>
      <p:sp>
        <p:nvSpPr>
          <p:cNvPr id="630" name="Google Shape;630;p19"/>
          <p:cNvSpPr/>
          <p:nvPr/>
        </p:nvSpPr>
        <p:spPr>
          <a:xfrm>
            <a:off x="3333750" y="3705225"/>
            <a:ext cx="78105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350"/>
              <a:buFont typeface="Helvetica Neue"/>
              <a:buNone/>
            </a:pPr>
            <a:r>
              <a:rPr b="0" lang="en-US" sz="1350">
                <a:solidFill>
                  <a:srgbClr val="193044"/>
                </a:solidFill>
                <a:latin typeface="Helvetica Neue"/>
                <a:ea typeface="Helvetica Neue"/>
                <a:cs typeface="Helvetica Neue"/>
                <a:sym typeface="Helvetica Neue"/>
              </a:rPr>
              <a:t>Domestic FHIR validator and agreed tests; WHO-ITB ICVP suite for optional extension</a:t>
            </a:r>
            <a:endParaRPr/>
          </a:p>
        </p:txBody>
      </p:sp>
      <p:cxnSp>
        <p:nvCxnSpPr>
          <p:cNvPr id="631" name="Google Shape;631;p19"/>
          <p:cNvCxnSpPr/>
          <p:nvPr/>
        </p:nvCxnSpPr>
        <p:spPr>
          <a:xfrm>
            <a:off x="1847850" y="4143375"/>
            <a:ext cx="0" cy="180975"/>
          </a:xfrm>
          <a:prstGeom prst="straightConnector1">
            <a:avLst/>
          </a:prstGeom>
          <a:noFill/>
          <a:ln cap="flat" cmpd="sng" w="28575">
            <a:solidFill>
              <a:srgbClr val="C7D2D9"/>
            </a:solidFill>
            <a:prstDash val="solid"/>
            <a:round/>
            <a:headEnd len="sm" w="sm" type="none"/>
            <a:tailEnd len="sm" w="sm" type="none"/>
          </a:ln>
        </p:spPr>
      </p:cxnSp>
      <p:sp>
        <p:nvSpPr>
          <p:cNvPr id="632" name="Google Shape;632;p19"/>
          <p:cNvSpPr/>
          <p:nvPr/>
        </p:nvSpPr>
        <p:spPr>
          <a:xfrm>
            <a:off x="666750" y="4324350"/>
            <a:ext cx="2381250" cy="533400"/>
          </a:xfrm>
          <a:prstGeom prst="roundRect">
            <a:avLst>
              <a:gd fmla="val 14286" name="adj"/>
            </a:avLst>
          </a:prstGeom>
          <a:solidFill>
            <a:srgbClr val="E78A4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633" name="Google Shape;633;p19"/>
          <p:cNvSpPr/>
          <p:nvPr/>
        </p:nvSpPr>
        <p:spPr>
          <a:xfrm>
            <a:off x="838200" y="4457700"/>
            <a:ext cx="203835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350"/>
              <a:buFont typeface="Helvetica Neue"/>
              <a:buNone/>
            </a:pPr>
            <a:r>
              <a:rPr b="1" lang="en-US" sz="1350">
                <a:solidFill>
                  <a:srgbClr val="FFFFFF"/>
                </a:solidFill>
                <a:latin typeface="Helvetica Neue"/>
                <a:ea typeface="Helvetica Neue"/>
                <a:cs typeface="Helvetica Neue"/>
                <a:sym typeface="Helvetica Neue"/>
              </a:rPr>
              <a:t>5. Reference tooling</a:t>
            </a:r>
            <a:endParaRPr/>
          </a:p>
        </p:txBody>
      </p:sp>
      <p:sp>
        <p:nvSpPr>
          <p:cNvPr id="634" name="Google Shape;634;p19"/>
          <p:cNvSpPr/>
          <p:nvPr/>
        </p:nvSpPr>
        <p:spPr>
          <a:xfrm>
            <a:off x="3333750" y="4419600"/>
            <a:ext cx="78105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350"/>
              <a:buFont typeface="Helvetica Neue"/>
              <a:buNone/>
            </a:pPr>
            <a:r>
              <a:rPr b="0" lang="en-US" sz="1350">
                <a:solidFill>
                  <a:srgbClr val="193044"/>
                </a:solidFill>
                <a:latin typeface="Helvetica Neue"/>
                <a:ea typeface="Helvetica Neue"/>
                <a:cs typeface="Helvetica Neue"/>
                <a:sym typeface="Helvetica Neue"/>
              </a:rPr>
              <a:t>Stable OHS FHIR Engine or Player demo, codelabs, mapping tools and fallback</a:t>
            </a:r>
            <a:endParaRPr/>
          </a:p>
        </p:txBody>
      </p:sp>
      <p:cxnSp>
        <p:nvCxnSpPr>
          <p:cNvPr id="635" name="Google Shape;635;p19"/>
          <p:cNvCxnSpPr/>
          <p:nvPr/>
        </p:nvCxnSpPr>
        <p:spPr>
          <a:xfrm>
            <a:off x="1847850" y="4857750"/>
            <a:ext cx="0" cy="180975"/>
          </a:xfrm>
          <a:prstGeom prst="straightConnector1">
            <a:avLst/>
          </a:prstGeom>
          <a:noFill/>
          <a:ln cap="flat" cmpd="sng" w="28575">
            <a:solidFill>
              <a:srgbClr val="C7D2D9"/>
            </a:solidFill>
            <a:prstDash val="solid"/>
            <a:round/>
            <a:headEnd len="sm" w="sm" type="none"/>
            <a:tailEnd len="sm" w="sm" type="none"/>
          </a:ln>
        </p:spPr>
      </p:cxnSp>
      <p:sp>
        <p:nvSpPr>
          <p:cNvPr id="636" name="Google Shape;636;p19"/>
          <p:cNvSpPr/>
          <p:nvPr/>
        </p:nvSpPr>
        <p:spPr>
          <a:xfrm>
            <a:off x="666750" y="5038725"/>
            <a:ext cx="2381250" cy="533400"/>
          </a:xfrm>
          <a:prstGeom prst="roundRect">
            <a:avLst>
              <a:gd fmla="val 14286" name="adj"/>
            </a:avLst>
          </a:prstGeom>
          <a:solidFill>
            <a:srgbClr val="E78A4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637" name="Google Shape;637;p19"/>
          <p:cNvSpPr/>
          <p:nvPr/>
        </p:nvSpPr>
        <p:spPr>
          <a:xfrm>
            <a:off x="838200" y="5172075"/>
            <a:ext cx="203835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350"/>
              <a:buFont typeface="Helvetica Neue"/>
              <a:buNone/>
            </a:pPr>
            <a:r>
              <a:rPr b="1" lang="en-US" sz="1350">
                <a:solidFill>
                  <a:srgbClr val="FFFFFF"/>
                </a:solidFill>
                <a:latin typeface="Helvetica Neue"/>
                <a:ea typeface="Helvetica Neue"/>
                <a:cs typeface="Helvetica Neue"/>
                <a:sym typeface="Helvetica Neue"/>
              </a:rPr>
              <a:t>6. Architecture</a:t>
            </a:r>
            <a:endParaRPr/>
          </a:p>
        </p:txBody>
      </p:sp>
      <p:sp>
        <p:nvSpPr>
          <p:cNvPr id="638" name="Google Shape;638;p19"/>
          <p:cNvSpPr/>
          <p:nvPr/>
        </p:nvSpPr>
        <p:spPr>
          <a:xfrm>
            <a:off x="3333750" y="5133975"/>
            <a:ext cx="7810500" cy="41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350"/>
              <a:buFont typeface="Helvetica Neue"/>
              <a:buNone/>
            </a:pPr>
            <a:r>
              <a:rPr b="0" lang="en-US" sz="1350">
                <a:solidFill>
                  <a:srgbClr val="193044"/>
                </a:solidFill>
                <a:latin typeface="Helvetica Neue"/>
                <a:ea typeface="Helvetica Neue"/>
                <a:cs typeface="Helvetica Neue"/>
                <a:sym typeface="Helvetica Neue"/>
              </a:rPr>
              <a:t>GDHCN guidance, DPI-H reference architecture, trust and registry touchpoints</a:t>
            </a:r>
            <a:endParaRPr/>
          </a:p>
        </p:txBody>
      </p:sp>
      <p:sp>
        <p:nvSpPr>
          <p:cNvPr id="639" name="Google Shape;639;p19"/>
          <p:cNvSpPr/>
          <p:nvPr/>
        </p:nvSpPr>
        <p:spPr>
          <a:xfrm>
            <a:off x="666750" y="5943600"/>
            <a:ext cx="10477500" cy="361950"/>
          </a:xfrm>
          <a:prstGeom prst="roundRect">
            <a:avLst>
              <a:gd fmla="val 21053" name="adj"/>
            </a:avLst>
          </a:prstGeom>
          <a:solidFill>
            <a:srgbClr val="EAF5F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640" name="Google Shape;640;p19"/>
          <p:cNvSpPr/>
          <p:nvPr/>
        </p:nvSpPr>
        <p:spPr>
          <a:xfrm>
            <a:off x="876300" y="6019800"/>
            <a:ext cx="1005840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200"/>
              <a:buFont typeface="Helvetica Neue"/>
              <a:buNone/>
            </a:pPr>
            <a:r>
              <a:rPr b="1" lang="en-US" sz="1200">
                <a:solidFill>
                  <a:srgbClr val="12304A"/>
                </a:solidFill>
                <a:latin typeface="Helvetica Neue"/>
                <a:ea typeface="Helvetica Neue"/>
                <a:cs typeface="Helvetica Neue"/>
                <a:sym typeface="Helvetica Neue"/>
              </a:rPr>
              <a:t>CQL-dependent functionality stays out of scope unless partners confirm a stable, supported implementation.</a:t>
            </a:r>
            <a:endParaRPr/>
          </a:p>
        </p:txBody>
      </p:sp>
      <p:cxnSp>
        <p:nvCxnSpPr>
          <p:cNvPr id="641" name="Google Shape;641;p19"/>
          <p:cNvCxnSpPr/>
          <p:nvPr/>
        </p:nvCxnSpPr>
        <p:spPr>
          <a:xfrm>
            <a:off x="609600" y="6477000"/>
            <a:ext cx="10972800" cy="0"/>
          </a:xfrm>
          <a:prstGeom prst="straightConnector1">
            <a:avLst/>
          </a:prstGeom>
          <a:noFill/>
          <a:ln cap="flat" cmpd="sng" w="9525">
            <a:solidFill>
              <a:srgbClr val="C7D2D9"/>
            </a:solidFill>
            <a:prstDash val="solid"/>
            <a:round/>
            <a:headEnd len="sm" w="sm" type="none"/>
            <a:tailEnd len="sm" w="sm" type="none"/>
          </a:ln>
        </p:spPr>
      </p:cxnSp>
      <p:sp>
        <p:nvSpPr>
          <p:cNvPr id="642" name="Google Shape;642;p19"/>
          <p:cNvSpPr/>
          <p:nvPr/>
        </p:nvSpPr>
        <p:spPr>
          <a:xfrm>
            <a:off x="609600" y="6553200"/>
            <a:ext cx="8572500" cy="190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6D7A"/>
              </a:buClr>
              <a:buSzPts val="900"/>
              <a:buFont typeface="Helvetica Neue"/>
              <a:buNone/>
            </a:pPr>
            <a:r>
              <a:rPr b="0" lang="en-US" sz="900">
                <a:solidFill>
                  <a:srgbClr val="5A6D7A"/>
                </a:solidFill>
                <a:latin typeface="Helvetica Neue"/>
                <a:ea typeface="Helvetica Neue"/>
                <a:cs typeface="Helvetica Neue"/>
                <a:sym typeface="Helvetica Neue"/>
              </a:rPr>
              <a:t>Thailand technologist workstream, partner preparation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1E8"/>
        </a:solidFill>
      </p:bgPr>
    </p:bg>
    <p:spTree>
      <p:nvGrpSpPr>
        <p:cNvPr id="647" name="Shape 647"/>
        <p:cNvGrpSpPr/>
        <p:nvPr/>
      </p:nvGrpSpPr>
      <p:grpSpPr>
        <a:xfrm>
          <a:off x="0" y="0"/>
          <a:ext cx="0" cy="0"/>
          <a:chOff x="0" y="0"/>
          <a:chExt cx="0" cy="0"/>
        </a:xfrm>
      </p:grpSpPr>
      <p:sp>
        <p:nvSpPr>
          <p:cNvPr id="648" name="Google Shape;648;p20"/>
          <p:cNvSpPr/>
          <p:nvPr/>
        </p:nvSpPr>
        <p:spPr>
          <a:xfrm>
            <a:off x="609600" y="361950"/>
            <a:ext cx="10382250" cy="495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2550"/>
              <a:buFont typeface="Helvetica Neue"/>
              <a:buNone/>
            </a:pPr>
            <a:r>
              <a:rPr b="1" lang="en-US" sz="2550">
                <a:solidFill>
                  <a:srgbClr val="12304A"/>
                </a:solidFill>
                <a:latin typeface="Helvetica Neue"/>
                <a:ea typeface="Helvetica Neue"/>
                <a:cs typeface="Helvetica Neue"/>
                <a:sym typeface="Helvetica Neue"/>
              </a:rPr>
              <a:t>Partner contributions</a:t>
            </a:r>
            <a:endParaRPr/>
          </a:p>
        </p:txBody>
      </p:sp>
      <p:sp>
        <p:nvSpPr>
          <p:cNvPr id="649" name="Google Shape;649;p20"/>
          <p:cNvSpPr/>
          <p:nvPr/>
        </p:nvSpPr>
        <p:spPr>
          <a:xfrm>
            <a:off x="628650" y="885825"/>
            <a:ext cx="1038225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6D7A"/>
              </a:buClr>
              <a:buSzPts val="1350"/>
              <a:buFont typeface="Helvetica Neue"/>
              <a:buNone/>
            </a:pPr>
            <a:r>
              <a:rPr b="0" lang="en-US" sz="1350">
                <a:solidFill>
                  <a:srgbClr val="5A6D7A"/>
                </a:solidFill>
                <a:latin typeface="Helvetica Neue"/>
                <a:ea typeface="Helvetica Neue"/>
                <a:cs typeface="Helvetica Neue"/>
                <a:sym typeface="Helvetica Neue"/>
              </a:rPr>
              <a:t>The preparation team needs clear technical ownership and one integration lead</a:t>
            </a:r>
            <a:endParaRPr/>
          </a:p>
        </p:txBody>
      </p:sp>
      <p:sp>
        <p:nvSpPr>
          <p:cNvPr id="650" name="Google Shape;650;p20"/>
          <p:cNvSpPr/>
          <p:nvPr/>
        </p:nvSpPr>
        <p:spPr>
          <a:xfrm>
            <a:off x="609600" y="1257300"/>
            <a:ext cx="876300" cy="47625"/>
          </a:xfrm>
          <a:prstGeom prst="rect">
            <a:avLst/>
          </a:prstGeom>
          <a:solidFill>
            <a:srgbClr val="008C9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651" name="Google Shape;651;p20"/>
          <p:cNvSpPr/>
          <p:nvPr/>
        </p:nvSpPr>
        <p:spPr>
          <a:xfrm>
            <a:off x="11201400" y="457200"/>
            <a:ext cx="4572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8C95"/>
              </a:buClr>
              <a:buSzPts val="1050"/>
              <a:buFont typeface="Helvetica Neue"/>
              <a:buNone/>
            </a:pPr>
            <a:r>
              <a:rPr b="1" lang="en-US" sz="1050">
                <a:solidFill>
                  <a:srgbClr val="008C95"/>
                </a:solidFill>
                <a:latin typeface="Helvetica Neue"/>
                <a:ea typeface="Helvetica Neue"/>
                <a:cs typeface="Helvetica Neue"/>
                <a:sym typeface="Helvetica Neue"/>
              </a:rPr>
              <a:t>14</a:t>
            </a:r>
            <a:endParaRPr/>
          </a:p>
        </p:txBody>
      </p:sp>
      <p:sp>
        <p:nvSpPr>
          <p:cNvPr id="652" name="Google Shape;652;p20"/>
          <p:cNvSpPr/>
          <p:nvPr/>
        </p:nvSpPr>
        <p:spPr>
          <a:xfrm>
            <a:off x="628650" y="1524000"/>
            <a:ext cx="3314700" cy="1524000"/>
          </a:xfrm>
          <a:prstGeom prst="roundRect">
            <a:avLst>
              <a:gd fmla="val 7500" name="adj"/>
            </a:avLst>
          </a:prstGeom>
          <a:solidFill>
            <a:srgbClr val="FFFFFF"/>
          </a:solidFill>
          <a:ln cap="flat" cmpd="sng" w="9525">
            <a:solidFill>
              <a:srgbClr val="C7D2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653" name="Google Shape;653;p20"/>
          <p:cNvSpPr/>
          <p:nvPr/>
        </p:nvSpPr>
        <p:spPr>
          <a:xfrm>
            <a:off x="628650" y="1524000"/>
            <a:ext cx="66675" cy="1524000"/>
          </a:xfrm>
          <a:prstGeom prst="roundRect">
            <a:avLst>
              <a:gd fmla="val 50000" name="adj"/>
            </a:avLst>
          </a:prstGeom>
          <a:solidFill>
            <a:srgbClr val="008C9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654" name="Google Shape;654;p20"/>
          <p:cNvSpPr/>
          <p:nvPr/>
        </p:nvSpPr>
        <p:spPr>
          <a:xfrm>
            <a:off x="857250" y="1695450"/>
            <a:ext cx="291465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575"/>
              <a:buFont typeface="Helvetica Neue"/>
              <a:buNone/>
            </a:pPr>
            <a:r>
              <a:rPr b="1" lang="en-US" sz="1575">
                <a:solidFill>
                  <a:srgbClr val="12304A"/>
                </a:solidFill>
                <a:latin typeface="Helvetica Neue"/>
                <a:ea typeface="Helvetica Neue"/>
                <a:cs typeface="Helvetica Neue"/>
                <a:sym typeface="Helvetica Neue"/>
              </a:rPr>
              <a:t>WHO</a:t>
            </a:r>
            <a:endParaRPr/>
          </a:p>
        </p:txBody>
      </p:sp>
      <p:sp>
        <p:nvSpPr>
          <p:cNvPr id="655" name="Google Shape;655;p20"/>
          <p:cNvSpPr/>
          <p:nvPr/>
        </p:nvSpPr>
        <p:spPr>
          <a:xfrm>
            <a:off x="857250" y="2133600"/>
            <a:ext cx="2914650" cy="781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275"/>
              <a:buFont typeface="Helvetica Neue"/>
              <a:buNone/>
            </a:pPr>
            <a:r>
              <a:rPr b="0" lang="en-US" sz="1275">
                <a:solidFill>
                  <a:srgbClr val="193044"/>
                </a:solidFill>
                <a:latin typeface="Helvetica Neue"/>
                <a:ea typeface="Helvetica Neue"/>
                <a:cs typeface="Helvetica Neue"/>
                <a:sym typeface="Helvetica Neue"/>
              </a:rPr>
              <a:t>Confirm specifications, profiles, test suites and facilitators. Prepare digital yellow card, GDHCN, GITB and IPS inputs.</a:t>
            </a:r>
            <a:endParaRPr/>
          </a:p>
        </p:txBody>
      </p:sp>
      <p:sp>
        <p:nvSpPr>
          <p:cNvPr id="656" name="Google Shape;656;p20"/>
          <p:cNvSpPr/>
          <p:nvPr/>
        </p:nvSpPr>
        <p:spPr>
          <a:xfrm>
            <a:off x="4438650" y="1524000"/>
            <a:ext cx="3314700" cy="1524000"/>
          </a:xfrm>
          <a:prstGeom prst="roundRect">
            <a:avLst>
              <a:gd fmla="val 7500" name="adj"/>
            </a:avLst>
          </a:prstGeom>
          <a:solidFill>
            <a:srgbClr val="FFFFFF"/>
          </a:solidFill>
          <a:ln cap="flat" cmpd="sng" w="9525">
            <a:solidFill>
              <a:srgbClr val="C7D2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657" name="Google Shape;657;p20"/>
          <p:cNvSpPr/>
          <p:nvPr/>
        </p:nvSpPr>
        <p:spPr>
          <a:xfrm>
            <a:off x="4438650" y="1524000"/>
            <a:ext cx="66675" cy="1524000"/>
          </a:xfrm>
          <a:prstGeom prst="roundRect">
            <a:avLst>
              <a:gd fmla="val 50000" name="adj"/>
            </a:avLst>
          </a:prstGeom>
          <a:solidFill>
            <a:srgbClr val="4B78A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658" name="Google Shape;658;p20"/>
          <p:cNvSpPr/>
          <p:nvPr/>
        </p:nvSpPr>
        <p:spPr>
          <a:xfrm>
            <a:off x="4667250" y="1695450"/>
            <a:ext cx="291465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575"/>
              <a:buFont typeface="Helvetica Neue"/>
              <a:buNone/>
            </a:pPr>
            <a:r>
              <a:rPr b="1" lang="en-US" sz="1575">
                <a:solidFill>
                  <a:srgbClr val="12304A"/>
                </a:solidFill>
                <a:latin typeface="Helvetica Neue"/>
                <a:ea typeface="Helvetica Neue"/>
                <a:cs typeface="Helvetica Neue"/>
                <a:sym typeface="Helvetica Neue"/>
              </a:rPr>
              <a:t>Google and OHS partners</a:t>
            </a:r>
            <a:endParaRPr/>
          </a:p>
        </p:txBody>
      </p:sp>
      <p:sp>
        <p:nvSpPr>
          <p:cNvPr id="659" name="Google Shape;659;p20"/>
          <p:cNvSpPr/>
          <p:nvPr/>
        </p:nvSpPr>
        <p:spPr>
          <a:xfrm>
            <a:off x="4667250" y="2133600"/>
            <a:ext cx="2914650" cy="781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275"/>
              <a:buFont typeface="Helvetica Neue"/>
              <a:buNone/>
            </a:pPr>
            <a:r>
              <a:rPr b="0" lang="en-US" sz="1275">
                <a:solidFill>
                  <a:srgbClr val="193044"/>
                </a:solidFill>
                <a:latin typeface="Helvetica Neue"/>
                <a:ea typeface="Helvetica Neue"/>
                <a:cs typeface="Helvetica Neue"/>
                <a:sym typeface="Helvetica Neue"/>
              </a:rPr>
              <a:t>Adapt prior Android FHIR SDK and StructureMap exercises. Confirm a stable demo, fallback and facilitators.</a:t>
            </a:r>
            <a:endParaRPr/>
          </a:p>
        </p:txBody>
      </p:sp>
      <p:sp>
        <p:nvSpPr>
          <p:cNvPr id="660" name="Google Shape;660;p20"/>
          <p:cNvSpPr/>
          <p:nvPr/>
        </p:nvSpPr>
        <p:spPr>
          <a:xfrm>
            <a:off x="8248650" y="1524000"/>
            <a:ext cx="3314700" cy="1524000"/>
          </a:xfrm>
          <a:prstGeom prst="roundRect">
            <a:avLst>
              <a:gd fmla="val 7500" name="adj"/>
            </a:avLst>
          </a:prstGeom>
          <a:solidFill>
            <a:srgbClr val="FFFFFF"/>
          </a:solidFill>
          <a:ln cap="flat" cmpd="sng" w="9525">
            <a:solidFill>
              <a:srgbClr val="C7D2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661" name="Google Shape;661;p20"/>
          <p:cNvSpPr/>
          <p:nvPr/>
        </p:nvSpPr>
        <p:spPr>
          <a:xfrm>
            <a:off x="8248650" y="1524000"/>
            <a:ext cx="66675" cy="1524000"/>
          </a:xfrm>
          <a:prstGeom prst="roundRect">
            <a:avLst>
              <a:gd fmla="val 50000" name="adj"/>
            </a:avLst>
          </a:prstGeom>
          <a:solidFill>
            <a:srgbClr val="E78A4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662" name="Google Shape;662;p20"/>
          <p:cNvSpPr/>
          <p:nvPr/>
        </p:nvSpPr>
        <p:spPr>
          <a:xfrm>
            <a:off x="8477250" y="1695450"/>
            <a:ext cx="291465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575"/>
              <a:buFont typeface="Helvetica Neue"/>
              <a:buNone/>
            </a:pPr>
            <a:r>
              <a:rPr b="1" lang="en-US" sz="1575">
                <a:solidFill>
                  <a:srgbClr val="12304A"/>
                </a:solidFill>
                <a:latin typeface="Helvetica Neue"/>
                <a:ea typeface="Helvetica Neue"/>
                <a:cs typeface="Helvetica Neue"/>
                <a:sym typeface="Helvetica Neue"/>
              </a:rPr>
              <a:t>Regional contributors</a:t>
            </a:r>
            <a:endParaRPr/>
          </a:p>
        </p:txBody>
      </p:sp>
      <p:sp>
        <p:nvSpPr>
          <p:cNvPr id="663" name="Google Shape;663;p20"/>
          <p:cNvSpPr/>
          <p:nvPr/>
        </p:nvSpPr>
        <p:spPr>
          <a:xfrm>
            <a:off x="8477250" y="2133600"/>
            <a:ext cx="2914650" cy="781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275"/>
              <a:buFont typeface="Helvetica Neue"/>
              <a:buNone/>
            </a:pPr>
            <a:r>
              <a:rPr b="0" lang="en-US" sz="1275">
                <a:solidFill>
                  <a:srgbClr val="193044"/>
                </a:solidFill>
                <a:latin typeface="Helvetica Neue"/>
                <a:ea typeface="Helvetica Neue"/>
                <a:cs typeface="Helvetica Neue"/>
                <a:sym typeface="Helvetica Neue"/>
              </a:rPr>
              <a:t>AEHIN and COIL coordinate regional facilitation. Thailand's interoperability lab supports local infrastructure and rehearsal.</a:t>
            </a:r>
            <a:endParaRPr/>
          </a:p>
        </p:txBody>
      </p:sp>
      <p:sp>
        <p:nvSpPr>
          <p:cNvPr id="664" name="Google Shape;664;p20"/>
          <p:cNvSpPr/>
          <p:nvPr/>
        </p:nvSpPr>
        <p:spPr>
          <a:xfrm>
            <a:off x="628650" y="3219450"/>
            <a:ext cx="109347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6D7A"/>
              </a:buClr>
              <a:buSzPts val="1200"/>
              <a:buFont typeface="Helvetica Neue"/>
              <a:buNone/>
            </a:pPr>
            <a:r>
              <a:rPr b="0" lang="en-US" sz="1200">
                <a:solidFill>
                  <a:srgbClr val="5A6D7A"/>
                </a:solidFill>
                <a:latin typeface="Helvetica Neue"/>
                <a:ea typeface="Helvetica Neue"/>
                <a:cs typeface="Helvetica Neue"/>
                <a:sym typeface="Helvetica Neue"/>
              </a:rPr>
              <a:t>CSIRO, HL7 and other implementers may contribute where roles are confirmed.</a:t>
            </a:r>
            <a:endParaRPr/>
          </a:p>
        </p:txBody>
      </p:sp>
      <p:sp>
        <p:nvSpPr>
          <p:cNvPr id="665" name="Google Shape;665;p20"/>
          <p:cNvSpPr/>
          <p:nvPr/>
        </p:nvSpPr>
        <p:spPr>
          <a:xfrm>
            <a:off x="628650" y="3790950"/>
            <a:ext cx="10934700" cy="1809750"/>
          </a:xfrm>
          <a:prstGeom prst="roundRect">
            <a:avLst>
              <a:gd fmla="val 7368" name="adj"/>
            </a:avLst>
          </a:prstGeom>
          <a:solidFill>
            <a:srgbClr val="1230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666" name="Google Shape;666;p20"/>
          <p:cNvSpPr/>
          <p:nvPr/>
        </p:nvSpPr>
        <p:spPr>
          <a:xfrm>
            <a:off x="876300" y="4000500"/>
            <a:ext cx="276225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6C7C5"/>
              </a:buClr>
              <a:buSzPts val="1125"/>
              <a:buFont typeface="Helvetica Neue"/>
              <a:buNone/>
            </a:pPr>
            <a:r>
              <a:rPr b="1" lang="en-US" sz="1125">
                <a:solidFill>
                  <a:srgbClr val="66C7C5"/>
                </a:solidFill>
                <a:latin typeface="Helvetica Neue"/>
                <a:ea typeface="Helvetica Neue"/>
                <a:cs typeface="Helvetica Neue"/>
                <a:sym typeface="Helvetica Neue"/>
              </a:rPr>
              <a:t>INTEGRATION AND REHEARSAL</a:t>
            </a:r>
            <a:endParaRPr/>
          </a:p>
        </p:txBody>
      </p:sp>
      <p:sp>
        <p:nvSpPr>
          <p:cNvPr id="667" name="Google Shape;667;p20"/>
          <p:cNvSpPr/>
          <p:nvPr/>
        </p:nvSpPr>
        <p:spPr>
          <a:xfrm>
            <a:off x="876300" y="4362450"/>
            <a:ext cx="4953000" cy="533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875"/>
              <a:buFont typeface="Helvetica Neue"/>
              <a:buNone/>
            </a:pPr>
            <a:r>
              <a:rPr b="1" lang="en-US" sz="1875">
                <a:solidFill>
                  <a:srgbClr val="FFFFFF"/>
                </a:solidFill>
                <a:latin typeface="Helvetica Neue"/>
                <a:ea typeface="Helvetica Neue"/>
                <a:cs typeface="Helvetica Neue"/>
                <a:sym typeface="Helvetica Neue"/>
              </a:rPr>
              <a:t>One accountable technical coordinator</a:t>
            </a:r>
            <a:endParaRPr/>
          </a:p>
        </p:txBody>
      </p:sp>
      <p:sp>
        <p:nvSpPr>
          <p:cNvPr id="668" name="Google Shape;668;p20"/>
          <p:cNvSpPr/>
          <p:nvPr/>
        </p:nvSpPr>
        <p:spPr>
          <a:xfrm>
            <a:off x="6191250" y="4095750"/>
            <a:ext cx="49530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DCE9EF"/>
              </a:buClr>
              <a:buSzPts val="1500"/>
              <a:buFont typeface="Helvetica Neue"/>
              <a:buNone/>
            </a:pPr>
            <a:r>
              <a:rPr b="0" lang="en-US" sz="1500">
                <a:solidFill>
                  <a:srgbClr val="DCE9EF"/>
                </a:solidFill>
                <a:latin typeface="Helvetica Neue"/>
                <a:ea typeface="Helvetica Neue"/>
                <a:cs typeface="Helvetica Neue"/>
                <a:sym typeface="Helvetica Neue"/>
              </a:rPr>
              <a:t>Maintains the environment, dependency list, issue log, station handoffs and dry runs. Keeps every contribution vendor neutral and tied to the shared use case.</a:t>
            </a:r>
            <a:endParaRPr/>
          </a:p>
        </p:txBody>
      </p:sp>
      <p:sp>
        <p:nvSpPr>
          <p:cNvPr id="669" name="Google Shape;669;p20"/>
          <p:cNvSpPr/>
          <p:nvPr/>
        </p:nvSpPr>
        <p:spPr>
          <a:xfrm>
            <a:off x="6191250" y="5219700"/>
            <a:ext cx="1943100" cy="285750"/>
          </a:xfrm>
          <a:prstGeom prst="roundRect">
            <a:avLst>
              <a:gd fmla="val 50000" name="adj"/>
            </a:avLst>
          </a:prstGeom>
          <a:solidFill>
            <a:srgbClr val="E78A4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670" name="Google Shape;670;p20"/>
          <p:cNvSpPr/>
          <p:nvPr/>
        </p:nvSpPr>
        <p:spPr>
          <a:xfrm>
            <a:off x="6305550" y="5267325"/>
            <a:ext cx="1714500" cy="1809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975"/>
              <a:buFont typeface="Helvetica Neue"/>
              <a:buNone/>
            </a:pPr>
            <a:r>
              <a:rPr b="1" lang="en-US" sz="975">
                <a:solidFill>
                  <a:srgbClr val="FFFFFF"/>
                </a:solidFill>
                <a:latin typeface="Helvetica Neue"/>
                <a:ea typeface="Helvetica Neue"/>
                <a:cs typeface="Helvetica Neue"/>
                <a:sym typeface="Helvetica Neue"/>
              </a:rPr>
              <a:t>PRE-WORK MILESTONE</a:t>
            </a:r>
            <a:endParaRPr/>
          </a:p>
        </p:txBody>
      </p:sp>
      <p:sp>
        <p:nvSpPr>
          <p:cNvPr id="671" name="Google Shape;671;p20"/>
          <p:cNvSpPr/>
          <p:nvPr/>
        </p:nvSpPr>
        <p:spPr>
          <a:xfrm>
            <a:off x="8324850" y="5257800"/>
            <a:ext cx="314325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275"/>
              <a:buFont typeface="Helvetica Neue"/>
              <a:buNone/>
            </a:pPr>
            <a:r>
              <a:rPr b="1" lang="en-US" sz="1275">
                <a:solidFill>
                  <a:srgbClr val="FFFFFF"/>
                </a:solidFill>
                <a:latin typeface="Helvetica Neue"/>
                <a:ea typeface="Helvetica Neue"/>
                <a:cs typeface="Helvetica Neue"/>
                <a:sym typeface="Helvetica Neue"/>
              </a:rPr>
              <a:t>Full technical rehearsal</a:t>
            </a:r>
            <a:endParaRPr/>
          </a:p>
        </p:txBody>
      </p:sp>
      <p:cxnSp>
        <p:nvCxnSpPr>
          <p:cNvPr id="672" name="Google Shape;672;p20"/>
          <p:cNvCxnSpPr/>
          <p:nvPr/>
        </p:nvCxnSpPr>
        <p:spPr>
          <a:xfrm>
            <a:off x="609600" y="6477000"/>
            <a:ext cx="10972800" cy="0"/>
          </a:xfrm>
          <a:prstGeom prst="straightConnector1">
            <a:avLst/>
          </a:prstGeom>
          <a:noFill/>
          <a:ln cap="flat" cmpd="sng" w="9525">
            <a:solidFill>
              <a:srgbClr val="C7D2D9"/>
            </a:solidFill>
            <a:prstDash val="solid"/>
            <a:round/>
            <a:headEnd len="sm" w="sm" type="none"/>
            <a:tailEnd len="sm" w="sm" type="none"/>
          </a:ln>
        </p:spPr>
      </p:cxnSp>
      <p:sp>
        <p:nvSpPr>
          <p:cNvPr id="673" name="Google Shape;673;p20"/>
          <p:cNvSpPr/>
          <p:nvPr/>
        </p:nvSpPr>
        <p:spPr>
          <a:xfrm>
            <a:off x="609600" y="6553200"/>
            <a:ext cx="8572500" cy="190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6D7A"/>
              </a:buClr>
              <a:buSzPts val="900"/>
              <a:buFont typeface="Helvetica Neue"/>
              <a:buNone/>
            </a:pPr>
            <a:r>
              <a:rPr b="0" lang="en-US" sz="900">
                <a:solidFill>
                  <a:srgbClr val="5A6D7A"/>
                </a:solidFill>
                <a:latin typeface="Helvetica Neue"/>
                <a:ea typeface="Helvetica Neue"/>
                <a:cs typeface="Helvetica Neue"/>
                <a:sym typeface="Helvetica Neue"/>
              </a:rPr>
              <a:t>Thailand technologist workstream, partner preparation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8" name="Shape 678"/>
        <p:cNvGrpSpPr/>
        <p:nvPr/>
      </p:nvGrpSpPr>
      <p:grpSpPr>
        <a:xfrm>
          <a:off x="0" y="0"/>
          <a:ext cx="0" cy="0"/>
          <a:chOff x="0" y="0"/>
          <a:chExt cx="0" cy="0"/>
        </a:xfrm>
      </p:grpSpPr>
      <p:sp>
        <p:nvSpPr>
          <p:cNvPr id="679" name="Google Shape;679;p21"/>
          <p:cNvSpPr/>
          <p:nvPr/>
        </p:nvSpPr>
        <p:spPr>
          <a:xfrm>
            <a:off x="609600" y="361950"/>
            <a:ext cx="10382250" cy="495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2550"/>
              <a:buFont typeface="Helvetica Neue"/>
              <a:buNone/>
            </a:pPr>
            <a:r>
              <a:rPr b="1" lang="en-US" sz="2550">
                <a:solidFill>
                  <a:srgbClr val="12304A"/>
                </a:solidFill>
                <a:latin typeface="Helvetica Neue"/>
                <a:ea typeface="Helvetica Neue"/>
                <a:cs typeface="Helvetica Neue"/>
                <a:sym typeface="Helvetica Neue"/>
              </a:rPr>
              <a:t>Preparation package</a:t>
            </a:r>
            <a:endParaRPr/>
          </a:p>
        </p:txBody>
      </p:sp>
      <p:sp>
        <p:nvSpPr>
          <p:cNvPr id="680" name="Google Shape;680;p21"/>
          <p:cNvSpPr/>
          <p:nvPr/>
        </p:nvSpPr>
        <p:spPr>
          <a:xfrm>
            <a:off x="628650" y="885825"/>
            <a:ext cx="1038225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6D7A"/>
              </a:buClr>
              <a:buSzPts val="1350"/>
              <a:buFont typeface="Helvetica Neue"/>
              <a:buNone/>
            </a:pPr>
            <a:r>
              <a:rPr b="0" lang="en-US" sz="1350">
                <a:solidFill>
                  <a:srgbClr val="5A6D7A"/>
                </a:solidFill>
                <a:latin typeface="Helvetica Neue"/>
                <a:ea typeface="Helvetica Neue"/>
                <a:cs typeface="Helvetica Neue"/>
                <a:sym typeface="Helvetica Neue"/>
              </a:rPr>
              <a:t>Partners should arrive with tested assets rather than workshop concepts</a:t>
            </a:r>
            <a:endParaRPr/>
          </a:p>
        </p:txBody>
      </p:sp>
      <p:sp>
        <p:nvSpPr>
          <p:cNvPr id="681" name="Google Shape;681;p21"/>
          <p:cNvSpPr/>
          <p:nvPr/>
        </p:nvSpPr>
        <p:spPr>
          <a:xfrm>
            <a:off x="609600" y="1257300"/>
            <a:ext cx="876300" cy="47625"/>
          </a:xfrm>
          <a:prstGeom prst="rect">
            <a:avLst/>
          </a:prstGeom>
          <a:solidFill>
            <a:srgbClr val="008C9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682" name="Google Shape;682;p21"/>
          <p:cNvSpPr/>
          <p:nvPr/>
        </p:nvSpPr>
        <p:spPr>
          <a:xfrm>
            <a:off x="11201400" y="457200"/>
            <a:ext cx="4572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8C95"/>
              </a:buClr>
              <a:buSzPts val="1050"/>
              <a:buFont typeface="Helvetica Neue"/>
              <a:buNone/>
            </a:pPr>
            <a:r>
              <a:rPr b="1" lang="en-US" sz="1050">
                <a:solidFill>
                  <a:srgbClr val="008C95"/>
                </a:solidFill>
                <a:latin typeface="Helvetica Neue"/>
                <a:ea typeface="Helvetica Neue"/>
                <a:cs typeface="Helvetica Neue"/>
                <a:sym typeface="Helvetica Neue"/>
              </a:rPr>
              <a:t>15</a:t>
            </a:r>
            <a:endParaRPr/>
          </a:p>
        </p:txBody>
      </p:sp>
      <p:sp>
        <p:nvSpPr>
          <p:cNvPr id="683" name="Google Shape;683;p21"/>
          <p:cNvSpPr/>
          <p:nvPr/>
        </p:nvSpPr>
        <p:spPr>
          <a:xfrm>
            <a:off x="685800" y="1504950"/>
            <a:ext cx="47625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8C95"/>
              </a:buClr>
              <a:buSzPts val="1200"/>
              <a:buFont typeface="Helvetica Neue"/>
              <a:buNone/>
            </a:pPr>
            <a:r>
              <a:rPr b="1" lang="en-US" sz="1200">
                <a:solidFill>
                  <a:srgbClr val="008C95"/>
                </a:solidFill>
                <a:latin typeface="Helvetica Neue"/>
                <a:ea typeface="Helvetica Neue"/>
                <a:cs typeface="Helvetica Neue"/>
                <a:sym typeface="Helvetica Neue"/>
              </a:rPr>
              <a:t>PARTNER OUTPUTS</a:t>
            </a:r>
            <a:endParaRPr/>
          </a:p>
        </p:txBody>
      </p:sp>
      <p:sp>
        <p:nvSpPr>
          <p:cNvPr id="684" name="Google Shape;684;p21"/>
          <p:cNvSpPr/>
          <p:nvPr/>
        </p:nvSpPr>
        <p:spPr>
          <a:xfrm>
            <a:off x="742950" y="2028825"/>
            <a:ext cx="32385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8C95"/>
              </a:buClr>
              <a:buSzPts val="1350"/>
              <a:buFont typeface="Helvetica Neue"/>
              <a:buNone/>
            </a:pPr>
            <a:r>
              <a:rPr b="1" lang="en-US" sz="1350">
                <a:solidFill>
                  <a:srgbClr val="008C95"/>
                </a:solidFill>
                <a:latin typeface="Helvetica Neue"/>
                <a:ea typeface="Helvetica Neue"/>
                <a:cs typeface="Helvetica Neue"/>
                <a:sym typeface="Helvetica Neue"/>
              </a:rPr>
              <a:t>1</a:t>
            </a:r>
            <a:endParaRPr/>
          </a:p>
        </p:txBody>
      </p:sp>
      <p:sp>
        <p:nvSpPr>
          <p:cNvPr id="685" name="Google Shape;685;p21"/>
          <p:cNvSpPr/>
          <p:nvPr/>
        </p:nvSpPr>
        <p:spPr>
          <a:xfrm>
            <a:off x="1181100" y="1971675"/>
            <a:ext cx="4476750" cy="495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350"/>
              <a:buFont typeface="Helvetica Neue"/>
              <a:buNone/>
            </a:pPr>
            <a:r>
              <a:rPr b="0" lang="en-US" sz="1350">
                <a:solidFill>
                  <a:srgbClr val="193044"/>
                </a:solidFill>
                <a:latin typeface="Helvetica Neue"/>
                <a:ea typeface="Helvetica Neue"/>
                <a:cs typeface="Helvetica Neue"/>
                <a:sym typeface="Helvetica Neue"/>
              </a:rPr>
              <a:t>Final technical agenda and lab scripts</a:t>
            </a:r>
            <a:endParaRPr/>
          </a:p>
        </p:txBody>
      </p:sp>
      <p:sp>
        <p:nvSpPr>
          <p:cNvPr id="686" name="Google Shape;686;p21"/>
          <p:cNvSpPr/>
          <p:nvPr/>
        </p:nvSpPr>
        <p:spPr>
          <a:xfrm>
            <a:off x="742950" y="2752725"/>
            <a:ext cx="32385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8C95"/>
              </a:buClr>
              <a:buSzPts val="1350"/>
              <a:buFont typeface="Helvetica Neue"/>
              <a:buNone/>
            </a:pPr>
            <a:r>
              <a:rPr b="1" lang="en-US" sz="1350">
                <a:solidFill>
                  <a:srgbClr val="008C95"/>
                </a:solidFill>
                <a:latin typeface="Helvetica Neue"/>
                <a:ea typeface="Helvetica Neue"/>
                <a:cs typeface="Helvetica Neue"/>
                <a:sym typeface="Helvetica Neue"/>
              </a:rPr>
              <a:t>2</a:t>
            </a:r>
            <a:endParaRPr/>
          </a:p>
        </p:txBody>
      </p:sp>
      <p:sp>
        <p:nvSpPr>
          <p:cNvPr id="687" name="Google Shape;687;p21"/>
          <p:cNvSpPr/>
          <p:nvPr/>
        </p:nvSpPr>
        <p:spPr>
          <a:xfrm>
            <a:off x="1181100" y="2695575"/>
            <a:ext cx="4476750" cy="495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350"/>
              <a:buFont typeface="Helvetica Neue"/>
              <a:buNone/>
            </a:pPr>
            <a:r>
              <a:rPr b="0" lang="en-US" sz="1350">
                <a:solidFill>
                  <a:srgbClr val="193044"/>
                </a:solidFill>
                <a:latin typeface="Helvetica Neue"/>
                <a:ea typeface="Helvetica Neue"/>
                <a:cs typeface="Helvetica Neue"/>
                <a:sym typeface="Helvetica Neue"/>
              </a:rPr>
              <a:t>Prepared registry data, FHIR examples and mappings</a:t>
            </a:r>
            <a:endParaRPr/>
          </a:p>
        </p:txBody>
      </p:sp>
      <p:sp>
        <p:nvSpPr>
          <p:cNvPr id="688" name="Google Shape;688;p21"/>
          <p:cNvSpPr/>
          <p:nvPr/>
        </p:nvSpPr>
        <p:spPr>
          <a:xfrm>
            <a:off x="742950" y="3476625"/>
            <a:ext cx="32385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8C95"/>
              </a:buClr>
              <a:buSzPts val="1350"/>
              <a:buFont typeface="Helvetica Neue"/>
              <a:buNone/>
            </a:pPr>
            <a:r>
              <a:rPr b="1" lang="en-US" sz="1350">
                <a:solidFill>
                  <a:srgbClr val="008C95"/>
                </a:solidFill>
                <a:latin typeface="Helvetica Neue"/>
                <a:ea typeface="Helvetica Neue"/>
                <a:cs typeface="Helvetica Neue"/>
                <a:sym typeface="Helvetica Neue"/>
              </a:rPr>
              <a:t>3</a:t>
            </a:r>
            <a:endParaRPr/>
          </a:p>
        </p:txBody>
      </p:sp>
      <p:sp>
        <p:nvSpPr>
          <p:cNvPr id="689" name="Google Shape;689;p21"/>
          <p:cNvSpPr/>
          <p:nvPr/>
        </p:nvSpPr>
        <p:spPr>
          <a:xfrm>
            <a:off x="1181100" y="3419475"/>
            <a:ext cx="4476750" cy="495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350"/>
              <a:buFont typeface="Helvetica Neue"/>
              <a:buNone/>
            </a:pPr>
            <a:r>
              <a:rPr b="0" lang="en-US" sz="1350">
                <a:solidFill>
                  <a:srgbClr val="193044"/>
                </a:solidFill>
                <a:latin typeface="Helvetica Neue"/>
                <a:ea typeface="Helvetica Neue"/>
                <a:cs typeface="Helvetica Neue"/>
                <a:sym typeface="Helvetica Neue"/>
              </a:rPr>
              <a:t>Working endpoints, OHS components and offline fallback</a:t>
            </a:r>
            <a:endParaRPr/>
          </a:p>
        </p:txBody>
      </p:sp>
      <p:sp>
        <p:nvSpPr>
          <p:cNvPr id="690" name="Google Shape;690;p21"/>
          <p:cNvSpPr/>
          <p:nvPr/>
        </p:nvSpPr>
        <p:spPr>
          <a:xfrm>
            <a:off x="742950" y="4200525"/>
            <a:ext cx="32385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8C95"/>
              </a:buClr>
              <a:buSzPts val="1350"/>
              <a:buFont typeface="Helvetica Neue"/>
              <a:buNone/>
            </a:pPr>
            <a:r>
              <a:rPr b="1" lang="en-US" sz="1350">
                <a:solidFill>
                  <a:srgbClr val="008C95"/>
                </a:solidFill>
                <a:latin typeface="Helvetica Neue"/>
                <a:ea typeface="Helvetica Neue"/>
                <a:cs typeface="Helvetica Neue"/>
                <a:sym typeface="Helvetica Neue"/>
              </a:rPr>
              <a:t>4</a:t>
            </a:r>
            <a:endParaRPr/>
          </a:p>
        </p:txBody>
      </p:sp>
      <p:sp>
        <p:nvSpPr>
          <p:cNvPr id="691" name="Google Shape;691;p21"/>
          <p:cNvSpPr/>
          <p:nvPr/>
        </p:nvSpPr>
        <p:spPr>
          <a:xfrm>
            <a:off x="1181100" y="4143375"/>
            <a:ext cx="4476750" cy="495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350"/>
              <a:buFont typeface="Helvetica Neue"/>
              <a:buNone/>
            </a:pPr>
            <a:r>
              <a:rPr b="1" lang="en-US" sz="1350">
                <a:solidFill>
                  <a:srgbClr val="193044"/>
                </a:solidFill>
                <a:latin typeface="Helvetica Neue"/>
                <a:ea typeface="Helvetica Neue"/>
                <a:cs typeface="Helvetica Neue"/>
                <a:sym typeface="Helvetica Neue"/>
              </a:rPr>
              <a:t>Validated examples, test results and troubleshooting guide</a:t>
            </a:r>
            <a:endParaRPr/>
          </a:p>
        </p:txBody>
      </p:sp>
      <p:cxnSp>
        <p:nvCxnSpPr>
          <p:cNvPr id="692" name="Google Shape;692;p21"/>
          <p:cNvCxnSpPr/>
          <p:nvPr/>
        </p:nvCxnSpPr>
        <p:spPr>
          <a:xfrm>
            <a:off x="6019800" y="1504950"/>
            <a:ext cx="0" cy="4305300"/>
          </a:xfrm>
          <a:prstGeom prst="straightConnector1">
            <a:avLst/>
          </a:prstGeom>
          <a:noFill/>
          <a:ln cap="flat" cmpd="sng" w="19050">
            <a:solidFill>
              <a:srgbClr val="C7D2D9"/>
            </a:solidFill>
            <a:prstDash val="solid"/>
            <a:round/>
            <a:headEnd len="sm" w="sm" type="none"/>
            <a:tailEnd len="sm" w="sm" type="none"/>
          </a:ln>
        </p:spPr>
      </p:cxnSp>
      <p:sp>
        <p:nvSpPr>
          <p:cNvPr id="693" name="Google Shape;693;p21"/>
          <p:cNvSpPr/>
          <p:nvPr/>
        </p:nvSpPr>
        <p:spPr>
          <a:xfrm>
            <a:off x="6496050" y="1504950"/>
            <a:ext cx="47625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78A42"/>
              </a:buClr>
              <a:buSzPts val="1200"/>
              <a:buFont typeface="Helvetica Neue"/>
              <a:buNone/>
            </a:pPr>
            <a:r>
              <a:rPr b="1" lang="en-US" sz="1200">
                <a:solidFill>
                  <a:srgbClr val="E78A42"/>
                </a:solidFill>
                <a:latin typeface="Helvetica Neue"/>
                <a:ea typeface="Helvetica Neue"/>
                <a:cs typeface="Helvetica Neue"/>
                <a:sym typeface="Helvetica Neue"/>
              </a:rPr>
              <a:t>PREPARATION REQUIREMENTS</a:t>
            </a:r>
            <a:endParaRPr/>
          </a:p>
        </p:txBody>
      </p:sp>
      <p:sp>
        <p:nvSpPr>
          <p:cNvPr id="694" name="Google Shape;694;p21"/>
          <p:cNvSpPr/>
          <p:nvPr/>
        </p:nvSpPr>
        <p:spPr>
          <a:xfrm>
            <a:off x="6534150" y="2009775"/>
            <a:ext cx="228600" cy="228600"/>
          </a:xfrm>
          <a:prstGeom prst="roundRect">
            <a:avLst>
              <a:gd fmla="val 50000" name="adj"/>
            </a:avLst>
          </a:prstGeom>
          <a:solidFill>
            <a:srgbClr val="E78A4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695" name="Google Shape;695;p21"/>
          <p:cNvSpPr/>
          <p:nvPr/>
        </p:nvSpPr>
        <p:spPr>
          <a:xfrm>
            <a:off x="6896100" y="1943100"/>
            <a:ext cx="4286250" cy="495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275"/>
              <a:buFont typeface="Helvetica Neue"/>
              <a:buNone/>
            </a:pPr>
            <a:r>
              <a:rPr b="0" lang="en-US" sz="1275">
                <a:solidFill>
                  <a:srgbClr val="193044"/>
                </a:solidFill>
                <a:latin typeface="Helvetica Neue"/>
                <a:ea typeface="Helvetica Neue"/>
                <a:cs typeface="Helvetica Neue"/>
                <a:sym typeface="Helvetica Neue"/>
              </a:rPr>
              <a:t>Complete the advance readiness survey</a:t>
            </a:r>
            <a:endParaRPr/>
          </a:p>
        </p:txBody>
      </p:sp>
      <p:sp>
        <p:nvSpPr>
          <p:cNvPr id="696" name="Google Shape;696;p21"/>
          <p:cNvSpPr/>
          <p:nvPr/>
        </p:nvSpPr>
        <p:spPr>
          <a:xfrm>
            <a:off x="6534150" y="2676525"/>
            <a:ext cx="228600" cy="228600"/>
          </a:xfrm>
          <a:prstGeom prst="roundRect">
            <a:avLst>
              <a:gd fmla="val 50000" name="adj"/>
            </a:avLst>
          </a:prstGeom>
          <a:solidFill>
            <a:srgbClr val="E78A4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697" name="Google Shape;697;p21"/>
          <p:cNvSpPr/>
          <p:nvPr/>
        </p:nvSpPr>
        <p:spPr>
          <a:xfrm>
            <a:off x="6896100" y="2609850"/>
            <a:ext cx="4286250" cy="495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275"/>
              <a:buFont typeface="Helvetica Neue"/>
              <a:buNone/>
            </a:pPr>
            <a:r>
              <a:rPr b="0" lang="en-US" sz="1275">
                <a:solidFill>
                  <a:srgbClr val="193044"/>
                </a:solidFill>
                <a:latin typeface="Helvetica Neue"/>
                <a:ea typeface="Helvetica Neue"/>
                <a:cs typeface="Helvetica Neue"/>
                <a:sym typeface="Helvetica Neue"/>
              </a:rPr>
              <a:t>Lock use cases, versions and the non-CQL boundary</a:t>
            </a:r>
            <a:endParaRPr/>
          </a:p>
        </p:txBody>
      </p:sp>
      <p:sp>
        <p:nvSpPr>
          <p:cNvPr id="698" name="Google Shape;698;p21"/>
          <p:cNvSpPr/>
          <p:nvPr/>
        </p:nvSpPr>
        <p:spPr>
          <a:xfrm>
            <a:off x="6534150" y="3343275"/>
            <a:ext cx="228600" cy="228600"/>
          </a:xfrm>
          <a:prstGeom prst="roundRect">
            <a:avLst>
              <a:gd fmla="val 50000" name="adj"/>
            </a:avLst>
          </a:prstGeom>
          <a:solidFill>
            <a:srgbClr val="E78A4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699" name="Google Shape;699;p21"/>
          <p:cNvSpPr/>
          <p:nvPr/>
        </p:nvSpPr>
        <p:spPr>
          <a:xfrm>
            <a:off x="6896100" y="3276600"/>
            <a:ext cx="4286250" cy="495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275"/>
              <a:buFont typeface="Helvetica Neue"/>
              <a:buNone/>
            </a:pPr>
            <a:r>
              <a:rPr b="0" lang="en-US" sz="1275">
                <a:solidFill>
                  <a:srgbClr val="193044"/>
                </a:solidFill>
                <a:latin typeface="Helvetica Neue"/>
                <a:ea typeface="Helvetica Neue"/>
                <a:cs typeface="Helvetica Neue"/>
                <a:sym typeface="Helvetica Neue"/>
              </a:rPr>
              <a:t>Provision accounts, endpoints and participant devices</a:t>
            </a:r>
            <a:endParaRPr/>
          </a:p>
        </p:txBody>
      </p:sp>
      <p:sp>
        <p:nvSpPr>
          <p:cNvPr id="700" name="Google Shape;700;p21"/>
          <p:cNvSpPr/>
          <p:nvPr/>
        </p:nvSpPr>
        <p:spPr>
          <a:xfrm>
            <a:off x="6534150" y="4010025"/>
            <a:ext cx="228600" cy="228600"/>
          </a:xfrm>
          <a:prstGeom prst="roundRect">
            <a:avLst>
              <a:gd fmla="val 50000" name="adj"/>
            </a:avLst>
          </a:prstGeom>
          <a:solidFill>
            <a:srgbClr val="E78A4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701" name="Google Shape;701;p21"/>
          <p:cNvSpPr/>
          <p:nvPr/>
        </p:nvSpPr>
        <p:spPr>
          <a:xfrm>
            <a:off x="6896100" y="3943350"/>
            <a:ext cx="4286250" cy="495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275"/>
              <a:buFont typeface="Helvetica Neue"/>
              <a:buNone/>
            </a:pPr>
            <a:r>
              <a:rPr b="0" lang="en-US" sz="1275">
                <a:solidFill>
                  <a:srgbClr val="193044"/>
                </a:solidFill>
                <a:latin typeface="Helvetica Neue"/>
                <a:ea typeface="Helvetica Neue"/>
                <a:cs typeface="Helvetica Neue"/>
                <a:sym typeface="Helvetica Neue"/>
              </a:rPr>
              <a:t>Assign station leads and support roles</a:t>
            </a:r>
            <a:endParaRPr/>
          </a:p>
        </p:txBody>
      </p:sp>
      <p:sp>
        <p:nvSpPr>
          <p:cNvPr id="702" name="Google Shape;702;p21"/>
          <p:cNvSpPr/>
          <p:nvPr/>
        </p:nvSpPr>
        <p:spPr>
          <a:xfrm>
            <a:off x="6534150" y="4676775"/>
            <a:ext cx="228600" cy="228600"/>
          </a:xfrm>
          <a:prstGeom prst="roundRect">
            <a:avLst>
              <a:gd fmla="val 50000" name="adj"/>
            </a:avLst>
          </a:prstGeom>
          <a:solidFill>
            <a:srgbClr val="E78A4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703" name="Google Shape;703;p21"/>
          <p:cNvSpPr/>
          <p:nvPr/>
        </p:nvSpPr>
        <p:spPr>
          <a:xfrm>
            <a:off x="6896100" y="4610100"/>
            <a:ext cx="4286250" cy="495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93044"/>
              </a:buClr>
              <a:buSzPts val="1275"/>
              <a:buFont typeface="Helvetica Neue"/>
              <a:buNone/>
            </a:pPr>
            <a:r>
              <a:rPr b="0" lang="en-US" sz="1275">
                <a:solidFill>
                  <a:srgbClr val="193044"/>
                </a:solidFill>
                <a:latin typeface="Helvetica Neue"/>
                <a:ea typeface="Helvetica Neue"/>
                <a:cs typeface="Helvetica Neue"/>
                <a:sym typeface="Helvetica Neue"/>
              </a:rPr>
              <a:t>Run a full rehearsal, including failure and recovery</a:t>
            </a:r>
            <a:endParaRPr/>
          </a:p>
        </p:txBody>
      </p:sp>
      <p:sp>
        <p:nvSpPr>
          <p:cNvPr id="704" name="Google Shape;704;p21"/>
          <p:cNvSpPr/>
          <p:nvPr/>
        </p:nvSpPr>
        <p:spPr>
          <a:xfrm>
            <a:off x="685800" y="5695950"/>
            <a:ext cx="10496550" cy="495300"/>
          </a:xfrm>
          <a:prstGeom prst="roundRect">
            <a:avLst>
              <a:gd fmla="val 19231" name="adj"/>
            </a:avLst>
          </a:prstGeom>
          <a:solidFill>
            <a:srgbClr val="FCF0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705" name="Google Shape;705;p21"/>
          <p:cNvSpPr/>
          <p:nvPr/>
        </p:nvSpPr>
        <p:spPr>
          <a:xfrm>
            <a:off x="895350" y="5810250"/>
            <a:ext cx="1007745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2304A"/>
              </a:buClr>
              <a:buSzPts val="1275"/>
              <a:buFont typeface="Helvetica Neue"/>
              <a:buNone/>
            </a:pPr>
            <a:r>
              <a:rPr b="1" lang="en-US" sz="1275">
                <a:solidFill>
                  <a:srgbClr val="12304A"/>
                </a:solidFill>
                <a:latin typeface="Helvetica Neue"/>
                <a:ea typeface="Helvetica Neue"/>
                <a:cs typeface="Helvetica Neue"/>
                <a:sym typeface="Helvetica Neue"/>
              </a:rPr>
              <a:t>No production connections are required. Country system testing remains optional and must be rehearsed.</a:t>
            </a:r>
            <a:endParaRPr/>
          </a:p>
        </p:txBody>
      </p:sp>
      <p:cxnSp>
        <p:nvCxnSpPr>
          <p:cNvPr id="706" name="Google Shape;706;p21"/>
          <p:cNvCxnSpPr/>
          <p:nvPr/>
        </p:nvCxnSpPr>
        <p:spPr>
          <a:xfrm>
            <a:off x="609600" y="6477000"/>
            <a:ext cx="10972800" cy="0"/>
          </a:xfrm>
          <a:prstGeom prst="straightConnector1">
            <a:avLst/>
          </a:prstGeom>
          <a:noFill/>
          <a:ln cap="flat" cmpd="sng" w="9525">
            <a:solidFill>
              <a:srgbClr val="C7D2D9"/>
            </a:solidFill>
            <a:prstDash val="solid"/>
            <a:round/>
            <a:headEnd len="sm" w="sm" type="none"/>
            <a:tailEnd len="sm" w="sm" type="none"/>
          </a:ln>
        </p:spPr>
      </p:cxnSp>
      <p:sp>
        <p:nvSpPr>
          <p:cNvPr id="707" name="Google Shape;707;p21"/>
          <p:cNvSpPr/>
          <p:nvPr/>
        </p:nvSpPr>
        <p:spPr>
          <a:xfrm>
            <a:off x="609600" y="6553200"/>
            <a:ext cx="8572500" cy="190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A6D7A"/>
              </a:buClr>
              <a:buSzPts val="900"/>
              <a:buFont typeface="Helvetica Neue"/>
              <a:buNone/>
            </a:pPr>
            <a:r>
              <a:rPr b="0" lang="en-US" sz="900">
                <a:solidFill>
                  <a:srgbClr val="5A6D7A"/>
                </a:solidFill>
                <a:latin typeface="Helvetica Neue"/>
                <a:ea typeface="Helvetica Neue"/>
                <a:cs typeface="Helvetica Neue"/>
                <a:sym typeface="Helvetica Neue"/>
              </a:rPr>
              <a:t>Thailand technologist workstream, partner preparation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304A"/>
        </a:solidFill>
      </p:bgPr>
    </p:bg>
    <p:spTree>
      <p:nvGrpSpPr>
        <p:cNvPr id="712" name="Shape 712"/>
        <p:cNvGrpSpPr/>
        <p:nvPr/>
      </p:nvGrpSpPr>
      <p:grpSpPr>
        <a:xfrm>
          <a:off x="0" y="0"/>
          <a:ext cx="0" cy="0"/>
          <a:chOff x="0" y="0"/>
          <a:chExt cx="0" cy="0"/>
        </a:xfrm>
      </p:grpSpPr>
      <p:sp>
        <p:nvSpPr>
          <p:cNvPr id="713" name="Google Shape;713;p22"/>
          <p:cNvSpPr/>
          <p:nvPr/>
        </p:nvSpPr>
        <p:spPr>
          <a:xfrm>
            <a:off x="609600" y="438150"/>
            <a:ext cx="8572500" cy="495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2700"/>
              <a:buFont typeface="Helvetica Neue"/>
              <a:buNone/>
            </a:pPr>
            <a:r>
              <a:rPr b="1" lang="en-US" sz="2700">
                <a:solidFill>
                  <a:srgbClr val="FFFFFF"/>
                </a:solidFill>
                <a:latin typeface="Helvetica Neue"/>
                <a:ea typeface="Helvetica Neue"/>
                <a:cs typeface="Helvetica Neue"/>
                <a:sym typeface="Helvetica Neue"/>
              </a:rPr>
              <a:t>Decisions and next steps</a:t>
            </a:r>
            <a:endParaRPr/>
          </a:p>
        </p:txBody>
      </p:sp>
      <p:sp>
        <p:nvSpPr>
          <p:cNvPr id="714" name="Google Shape;714;p22"/>
          <p:cNvSpPr/>
          <p:nvPr/>
        </p:nvSpPr>
        <p:spPr>
          <a:xfrm>
            <a:off x="609600" y="1066800"/>
            <a:ext cx="876300" cy="47625"/>
          </a:xfrm>
          <a:prstGeom prst="rect">
            <a:avLst/>
          </a:prstGeom>
          <a:solidFill>
            <a:srgbClr val="66C7C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715" name="Google Shape;715;p22"/>
          <p:cNvSpPr/>
          <p:nvPr/>
        </p:nvSpPr>
        <p:spPr>
          <a:xfrm>
            <a:off x="609600" y="1276350"/>
            <a:ext cx="857250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EE1EA"/>
              </a:buClr>
              <a:buSzPts val="1425"/>
              <a:buFont typeface="Helvetica Neue"/>
              <a:buNone/>
            </a:pPr>
            <a:r>
              <a:rPr b="0" lang="en-US" sz="1425">
                <a:solidFill>
                  <a:srgbClr val="CEE1EA"/>
                </a:solidFill>
                <a:latin typeface="Helvetica Neue"/>
                <a:ea typeface="Helvetica Neue"/>
                <a:cs typeface="Helvetica Neue"/>
                <a:sym typeface="Helvetica Neue"/>
              </a:rPr>
              <a:t>Close these items before partners begin asset production</a:t>
            </a:r>
            <a:endParaRPr/>
          </a:p>
        </p:txBody>
      </p:sp>
      <p:sp>
        <p:nvSpPr>
          <p:cNvPr id="716" name="Google Shape;716;p22"/>
          <p:cNvSpPr/>
          <p:nvPr/>
        </p:nvSpPr>
        <p:spPr>
          <a:xfrm>
            <a:off x="647700" y="1885950"/>
            <a:ext cx="45720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6C7C5"/>
              </a:buClr>
              <a:buSzPts val="1275"/>
              <a:buFont typeface="Helvetica Neue"/>
              <a:buNone/>
            </a:pPr>
            <a:r>
              <a:rPr b="1" lang="en-US" sz="1275">
                <a:solidFill>
                  <a:srgbClr val="66C7C5"/>
                </a:solidFill>
                <a:latin typeface="Helvetica Neue"/>
                <a:ea typeface="Helvetica Neue"/>
                <a:cs typeface="Helvetica Neue"/>
                <a:sym typeface="Helvetica Neue"/>
              </a:rPr>
              <a:t>01</a:t>
            </a:r>
            <a:endParaRPr/>
          </a:p>
        </p:txBody>
      </p:sp>
      <p:sp>
        <p:nvSpPr>
          <p:cNvPr id="717" name="Google Shape;717;p22"/>
          <p:cNvSpPr/>
          <p:nvPr/>
        </p:nvSpPr>
        <p:spPr>
          <a:xfrm>
            <a:off x="1276350" y="1866900"/>
            <a:ext cx="23812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500"/>
              <a:buFont typeface="Helvetica Neue"/>
              <a:buNone/>
            </a:pPr>
            <a:r>
              <a:rPr b="1" lang="en-US" sz="1500">
                <a:solidFill>
                  <a:srgbClr val="FFFFFF"/>
                </a:solidFill>
                <a:latin typeface="Helvetica Neue"/>
                <a:ea typeface="Helvetica Neue"/>
                <a:cs typeface="Helvetica Neue"/>
                <a:sym typeface="Helvetica Neue"/>
              </a:rPr>
              <a:t>Use cases</a:t>
            </a:r>
            <a:endParaRPr/>
          </a:p>
        </p:txBody>
      </p:sp>
      <p:sp>
        <p:nvSpPr>
          <p:cNvPr id="718" name="Google Shape;718;p22"/>
          <p:cNvSpPr/>
          <p:nvPr/>
        </p:nvSpPr>
        <p:spPr>
          <a:xfrm>
            <a:off x="3790950" y="1866900"/>
            <a:ext cx="7505700" cy="476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DCE9EF"/>
              </a:buClr>
              <a:buSzPts val="1275"/>
              <a:buFont typeface="Helvetica Neue"/>
              <a:buNone/>
            </a:pPr>
            <a:r>
              <a:rPr b="0" lang="en-US" sz="1275">
                <a:solidFill>
                  <a:srgbClr val="DCE9EF"/>
                </a:solidFill>
                <a:latin typeface="Helvetica Neue"/>
                <a:ea typeface="Helvetica Neue"/>
                <a:cs typeface="Helvetica Neue"/>
                <a:sym typeface="Helvetica Neue"/>
              </a:rPr>
              <a:t>Routine immunization is the core. ICVP or digital yellow card is the preferred extension. IPS remains optional.</a:t>
            </a:r>
            <a:endParaRPr/>
          </a:p>
        </p:txBody>
      </p:sp>
      <p:cxnSp>
        <p:nvCxnSpPr>
          <p:cNvPr id="719" name="Google Shape;719;p22"/>
          <p:cNvCxnSpPr/>
          <p:nvPr/>
        </p:nvCxnSpPr>
        <p:spPr>
          <a:xfrm>
            <a:off x="1276350" y="2428875"/>
            <a:ext cx="10039350" cy="0"/>
          </a:xfrm>
          <a:prstGeom prst="straightConnector1">
            <a:avLst/>
          </a:prstGeom>
          <a:noFill/>
          <a:ln cap="flat" cmpd="sng" w="9525">
            <a:solidFill>
              <a:srgbClr val="35516A"/>
            </a:solidFill>
            <a:prstDash val="solid"/>
            <a:round/>
            <a:headEnd len="sm" w="sm" type="none"/>
            <a:tailEnd len="sm" w="sm" type="none"/>
          </a:ln>
        </p:spPr>
      </p:cxnSp>
      <p:sp>
        <p:nvSpPr>
          <p:cNvPr id="720" name="Google Shape;720;p22"/>
          <p:cNvSpPr/>
          <p:nvPr/>
        </p:nvSpPr>
        <p:spPr>
          <a:xfrm>
            <a:off x="647700" y="2686050"/>
            <a:ext cx="45720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6C7C5"/>
              </a:buClr>
              <a:buSzPts val="1275"/>
              <a:buFont typeface="Helvetica Neue"/>
              <a:buNone/>
            </a:pPr>
            <a:r>
              <a:rPr b="1" lang="en-US" sz="1275">
                <a:solidFill>
                  <a:srgbClr val="66C7C5"/>
                </a:solidFill>
                <a:latin typeface="Helvetica Neue"/>
                <a:ea typeface="Helvetica Neue"/>
                <a:cs typeface="Helvetica Neue"/>
                <a:sym typeface="Helvetica Neue"/>
              </a:rPr>
              <a:t>02</a:t>
            </a:r>
            <a:endParaRPr/>
          </a:p>
        </p:txBody>
      </p:sp>
      <p:sp>
        <p:nvSpPr>
          <p:cNvPr id="721" name="Google Shape;721;p22"/>
          <p:cNvSpPr/>
          <p:nvPr/>
        </p:nvSpPr>
        <p:spPr>
          <a:xfrm>
            <a:off x="1276350" y="2667000"/>
            <a:ext cx="23812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500"/>
              <a:buFont typeface="Helvetica Neue"/>
              <a:buNone/>
            </a:pPr>
            <a:r>
              <a:rPr b="1" lang="en-US" sz="1500">
                <a:solidFill>
                  <a:srgbClr val="FFFFFF"/>
                </a:solidFill>
                <a:latin typeface="Helvetica Neue"/>
                <a:ea typeface="Helvetica Neue"/>
                <a:cs typeface="Helvetica Neue"/>
                <a:sym typeface="Helvetica Neue"/>
              </a:rPr>
              <a:t>Technical baseline</a:t>
            </a:r>
            <a:endParaRPr/>
          </a:p>
        </p:txBody>
      </p:sp>
      <p:sp>
        <p:nvSpPr>
          <p:cNvPr id="722" name="Google Shape;722;p22"/>
          <p:cNvSpPr/>
          <p:nvPr/>
        </p:nvSpPr>
        <p:spPr>
          <a:xfrm>
            <a:off x="3790950" y="2667000"/>
            <a:ext cx="7505700" cy="476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DCE9EF"/>
              </a:buClr>
              <a:buSzPts val="1275"/>
              <a:buFont typeface="Helvetica Neue"/>
              <a:buNone/>
            </a:pPr>
            <a:r>
              <a:rPr b="0" lang="en-US" sz="1275">
                <a:solidFill>
                  <a:srgbClr val="DCE9EF"/>
                </a:solidFill>
                <a:latin typeface="Helvetica Neue"/>
                <a:ea typeface="Helvetica Neue"/>
                <a:cs typeface="Helvetica Neue"/>
                <a:sym typeface="Helvetica Neue"/>
              </a:rPr>
              <a:t>FHIR version, profiles, terminology, OHS components, domestic tests, optional WHO-ITB ICVP suite and the exact environment.</a:t>
            </a:r>
            <a:endParaRPr/>
          </a:p>
        </p:txBody>
      </p:sp>
      <p:cxnSp>
        <p:nvCxnSpPr>
          <p:cNvPr id="723" name="Google Shape;723;p22"/>
          <p:cNvCxnSpPr/>
          <p:nvPr/>
        </p:nvCxnSpPr>
        <p:spPr>
          <a:xfrm>
            <a:off x="1276350" y="3228975"/>
            <a:ext cx="10039350" cy="0"/>
          </a:xfrm>
          <a:prstGeom prst="straightConnector1">
            <a:avLst/>
          </a:prstGeom>
          <a:noFill/>
          <a:ln cap="flat" cmpd="sng" w="9525">
            <a:solidFill>
              <a:srgbClr val="35516A"/>
            </a:solidFill>
            <a:prstDash val="solid"/>
            <a:round/>
            <a:headEnd len="sm" w="sm" type="none"/>
            <a:tailEnd len="sm" w="sm" type="none"/>
          </a:ln>
        </p:spPr>
      </p:cxnSp>
      <p:sp>
        <p:nvSpPr>
          <p:cNvPr id="724" name="Google Shape;724;p22"/>
          <p:cNvSpPr/>
          <p:nvPr/>
        </p:nvSpPr>
        <p:spPr>
          <a:xfrm>
            <a:off x="647700" y="3486150"/>
            <a:ext cx="45720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6C7C5"/>
              </a:buClr>
              <a:buSzPts val="1275"/>
              <a:buFont typeface="Helvetica Neue"/>
              <a:buNone/>
            </a:pPr>
            <a:r>
              <a:rPr b="1" lang="en-US" sz="1275">
                <a:solidFill>
                  <a:srgbClr val="66C7C5"/>
                </a:solidFill>
                <a:latin typeface="Helvetica Neue"/>
                <a:ea typeface="Helvetica Neue"/>
                <a:cs typeface="Helvetica Neue"/>
                <a:sym typeface="Helvetica Neue"/>
              </a:rPr>
              <a:t>03</a:t>
            </a:r>
            <a:endParaRPr/>
          </a:p>
        </p:txBody>
      </p:sp>
      <p:sp>
        <p:nvSpPr>
          <p:cNvPr id="725" name="Google Shape;725;p22"/>
          <p:cNvSpPr/>
          <p:nvPr/>
        </p:nvSpPr>
        <p:spPr>
          <a:xfrm>
            <a:off x="1276350" y="3467100"/>
            <a:ext cx="23812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500"/>
              <a:buFont typeface="Helvetica Neue"/>
              <a:buNone/>
            </a:pPr>
            <a:r>
              <a:rPr b="1" lang="en-US" sz="1500">
                <a:solidFill>
                  <a:srgbClr val="FFFFFF"/>
                </a:solidFill>
                <a:latin typeface="Helvetica Neue"/>
                <a:ea typeface="Helvetica Neue"/>
                <a:cs typeface="Helvetica Neue"/>
                <a:sym typeface="Helvetica Neue"/>
              </a:rPr>
              <a:t>Ownership</a:t>
            </a:r>
            <a:endParaRPr/>
          </a:p>
        </p:txBody>
      </p:sp>
      <p:sp>
        <p:nvSpPr>
          <p:cNvPr id="726" name="Google Shape;726;p22"/>
          <p:cNvSpPr/>
          <p:nvPr/>
        </p:nvSpPr>
        <p:spPr>
          <a:xfrm>
            <a:off x="3790950" y="3467100"/>
            <a:ext cx="7505700" cy="476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DCE9EF"/>
              </a:buClr>
              <a:buSzPts val="1275"/>
              <a:buFont typeface="Helvetica Neue"/>
              <a:buNone/>
            </a:pPr>
            <a:r>
              <a:rPr b="0" lang="en-US" sz="1275">
                <a:solidFill>
                  <a:srgbClr val="DCE9EF"/>
                </a:solidFill>
                <a:latin typeface="Helvetica Neue"/>
                <a:ea typeface="Helvetica Neue"/>
                <a:cs typeface="Helvetica Neue"/>
                <a:sym typeface="Helvetica Neue"/>
              </a:rPr>
              <a:t>Technical coordinator, WHO asset owners, Google and OHS leads, regional lead, Thailand lab and facilitators.</a:t>
            </a:r>
            <a:endParaRPr/>
          </a:p>
        </p:txBody>
      </p:sp>
      <p:cxnSp>
        <p:nvCxnSpPr>
          <p:cNvPr id="727" name="Google Shape;727;p22"/>
          <p:cNvCxnSpPr/>
          <p:nvPr/>
        </p:nvCxnSpPr>
        <p:spPr>
          <a:xfrm>
            <a:off x="1276350" y="4029075"/>
            <a:ext cx="10039350" cy="0"/>
          </a:xfrm>
          <a:prstGeom prst="straightConnector1">
            <a:avLst/>
          </a:prstGeom>
          <a:noFill/>
          <a:ln cap="flat" cmpd="sng" w="9525">
            <a:solidFill>
              <a:srgbClr val="35516A"/>
            </a:solidFill>
            <a:prstDash val="solid"/>
            <a:round/>
            <a:headEnd len="sm" w="sm" type="none"/>
            <a:tailEnd len="sm" w="sm" type="none"/>
          </a:ln>
        </p:spPr>
      </p:cxnSp>
      <p:sp>
        <p:nvSpPr>
          <p:cNvPr id="728" name="Google Shape;728;p22"/>
          <p:cNvSpPr/>
          <p:nvPr/>
        </p:nvSpPr>
        <p:spPr>
          <a:xfrm>
            <a:off x="647700" y="4286250"/>
            <a:ext cx="45720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6C7C5"/>
              </a:buClr>
              <a:buSzPts val="1275"/>
              <a:buFont typeface="Helvetica Neue"/>
              <a:buNone/>
            </a:pPr>
            <a:r>
              <a:rPr b="1" lang="en-US" sz="1275">
                <a:solidFill>
                  <a:srgbClr val="66C7C5"/>
                </a:solidFill>
                <a:latin typeface="Helvetica Neue"/>
                <a:ea typeface="Helvetica Neue"/>
                <a:cs typeface="Helvetica Neue"/>
                <a:sym typeface="Helvetica Neue"/>
              </a:rPr>
              <a:t>04</a:t>
            </a:r>
            <a:endParaRPr/>
          </a:p>
        </p:txBody>
      </p:sp>
      <p:sp>
        <p:nvSpPr>
          <p:cNvPr id="729" name="Google Shape;729;p22"/>
          <p:cNvSpPr/>
          <p:nvPr/>
        </p:nvSpPr>
        <p:spPr>
          <a:xfrm>
            <a:off x="1276350" y="4267200"/>
            <a:ext cx="23812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500"/>
              <a:buFont typeface="Helvetica Neue"/>
              <a:buNone/>
            </a:pPr>
            <a:r>
              <a:rPr b="1" lang="en-US" sz="1500">
                <a:solidFill>
                  <a:srgbClr val="FFFFFF"/>
                </a:solidFill>
                <a:latin typeface="Helvetica Neue"/>
                <a:ea typeface="Helvetica Neue"/>
                <a:cs typeface="Helvetica Neue"/>
                <a:sym typeface="Helvetica Neue"/>
              </a:rPr>
              <a:t>Production plan</a:t>
            </a:r>
            <a:endParaRPr/>
          </a:p>
        </p:txBody>
      </p:sp>
      <p:sp>
        <p:nvSpPr>
          <p:cNvPr id="730" name="Google Shape;730;p22"/>
          <p:cNvSpPr/>
          <p:nvPr/>
        </p:nvSpPr>
        <p:spPr>
          <a:xfrm>
            <a:off x="3790950" y="4267200"/>
            <a:ext cx="7505700" cy="476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DCE9EF"/>
              </a:buClr>
              <a:buSzPts val="1275"/>
              <a:buFont typeface="Helvetica Neue"/>
              <a:buNone/>
            </a:pPr>
            <a:r>
              <a:rPr b="0" lang="en-US" sz="1275">
                <a:solidFill>
                  <a:srgbClr val="DCE9EF"/>
                </a:solidFill>
                <a:latin typeface="Helvetica Neue"/>
                <a:ea typeface="Helvetica Neue"/>
                <a:cs typeface="Helvetica Neue"/>
                <a:sym typeface="Helvetica Neue"/>
              </a:rPr>
              <a:t>Participant survey, asset deadlines, integration review, dry run, support channels and contingency.</a:t>
            </a:r>
            <a:endParaRPr/>
          </a:p>
        </p:txBody>
      </p:sp>
      <p:cxnSp>
        <p:nvCxnSpPr>
          <p:cNvPr id="731" name="Google Shape;731;p22"/>
          <p:cNvCxnSpPr/>
          <p:nvPr/>
        </p:nvCxnSpPr>
        <p:spPr>
          <a:xfrm>
            <a:off x="1276350" y="4829175"/>
            <a:ext cx="10039350" cy="0"/>
          </a:xfrm>
          <a:prstGeom prst="straightConnector1">
            <a:avLst/>
          </a:prstGeom>
          <a:noFill/>
          <a:ln cap="flat" cmpd="sng" w="9525">
            <a:solidFill>
              <a:srgbClr val="35516A"/>
            </a:solidFill>
            <a:prstDash val="solid"/>
            <a:round/>
            <a:headEnd len="sm" w="sm" type="none"/>
            <a:tailEnd len="sm" w="sm" type="none"/>
          </a:ln>
        </p:spPr>
      </p:cxnSp>
      <p:sp>
        <p:nvSpPr>
          <p:cNvPr id="732" name="Google Shape;732;p22"/>
          <p:cNvSpPr/>
          <p:nvPr/>
        </p:nvSpPr>
        <p:spPr>
          <a:xfrm>
            <a:off x="647700" y="5086350"/>
            <a:ext cx="45720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6C7C5"/>
              </a:buClr>
              <a:buSzPts val="1275"/>
              <a:buFont typeface="Helvetica Neue"/>
              <a:buNone/>
            </a:pPr>
            <a:r>
              <a:rPr b="1" lang="en-US" sz="1275">
                <a:solidFill>
                  <a:srgbClr val="66C7C5"/>
                </a:solidFill>
                <a:latin typeface="Helvetica Neue"/>
                <a:ea typeface="Helvetica Neue"/>
                <a:cs typeface="Helvetica Neue"/>
                <a:sym typeface="Helvetica Neue"/>
              </a:rPr>
              <a:t>05</a:t>
            </a:r>
            <a:endParaRPr/>
          </a:p>
        </p:txBody>
      </p:sp>
      <p:sp>
        <p:nvSpPr>
          <p:cNvPr id="733" name="Google Shape;733;p22"/>
          <p:cNvSpPr/>
          <p:nvPr/>
        </p:nvSpPr>
        <p:spPr>
          <a:xfrm>
            <a:off x="1276350" y="5067300"/>
            <a:ext cx="23812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500"/>
              <a:buFont typeface="Helvetica Neue"/>
              <a:buNone/>
            </a:pPr>
            <a:r>
              <a:rPr b="1" lang="en-US" sz="1500">
                <a:solidFill>
                  <a:srgbClr val="FFFFFF"/>
                </a:solidFill>
                <a:latin typeface="Helvetica Neue"/>
                <a:ea typeface="Helvetica Neue"/>
                <a:cs typeface="Helvetica Neue"/>
                <a:sym typeface="Helvetica Neue"/>
              </a:rPr>
              <a:t>Regional follow-up</a:t>
            </a:r>
            <a:endParaRPr/>
          </a:p>
        </p:txBody>
      </p:sp>
      <p:sp>
        <p:nvSpPr>
          <p:cNvPr id="734" name="Google Shape;734;p22"/>
          <p:cNvSpPr/>
          <p:nvPr/>
        </p:nvSpPr>
        <p:spPr>
          <a:xfrm>
            <a:off x="3790950" y="5067300"/>
            <a:ext cx="7505700" cy="476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DCE9EF"/>
              </a:buClr>
              <a:buSzPts val="1275"/>
              <a:buFont typeface="Helvetica Neue"/>
              <a:buNone/>
            </a:pPr>
            <a:r>
              <a:rPr b="0" lang="en-US" sz="1275">
                <a:solidFill>
                  <a:srgbClr val="DCE9EF"/>
                </a:solidFill>
                <a:latin typeface="Helvetica Neue"/>
                <a:ea typeface="Helvetica Neue"/>
                <a:cs typeface="Helvetica Neue"/>
                <a:sym typeface="Helvetica Neue"/>
              </a:rPr>
              <a:t>Optional GDHF technical clinics, reusable test assets and a sustained regional interoperability capacity proposal.</a:t>
            </a:r>
            <a:endParaRPr/>
          </a:p>
        </p:txBody>
      </p:sp>
      <p:sp>
        <p:nvSpPr>
          <p:cNvPr id="735" name="Google Shape;735;p22"/>
          <p:cNvSpPr/>
          <p:nvPr/>
        </p:nvSpPr>
        <p:spPr>
          <a:xfrm>
            <a:off x="609600" y="6019800"/>
            <a:ext cx="10706100" cy="514350"/>
          </a:xfrm>
          <a:prstGeom prst="roundRect">
            <a:avLst>
              <a:gd fmla="val 18519" name="adj"/>
            </a:avLst>
          </a:prstGeom>
          <a:solidFill>
            <a:srgbClr val="008C9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
        <p:nvSpPr>
          <p:cNvPr id="736" name="Google Shape;736;p22"/>
          <p:cNvSpPr/>
          <p:nvPr/>
        </p:nvSpPr>
        <p:spPr>
          <a:xfrm>
            <a:off x="838200" y="6143625"/>
            <a:ext cx="102489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350"/>
              <a:buFont typeface="Helvetica Neue"/>
              <a:buNone/>
            </a:pPr>
            <a:r>
              <a:rPr b="1" lang="en-US" sz="1350">
                <a:solidFill>
                  <a:srgbClr val="FFFFFF"/>
                </a:solidFill>
                <a:latin typeface="Helvetica Neue"/>
                <a:ea typeface="Helvetica Neue"/>
                <a:cs typeface="Helvetica Neue"/>
                <a:sym typeface="Helvetica Neue"/>
              </a:rPr>
              <a:t>Desired outcome: one stable, rehearsed end-to-end flow with clear station ownership.</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pic>
        <p:nvPicPr>
          <p:cNvPr id="742" name="Google Shape;742;p23" title="dvc-user-story.png"/>
          <p:cNvPicPr preferRelativeResize="0"/>
          <p:nvPr/>
        </p:nvPicPr>
        <p:blipFill>
          <a:blip r:embed="rId3">
            <a:alphaModFix/>
          </a:blip>
          <a:stretch>
            <a:fillRect/>
          </a:stretch>
        </p:blipFill>
        <p:spPr>
          <a:xfrm>
            <a:off x="152400" y="-5608702"/>
            <a:ext cx="12300427" cy="1231430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